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Montserrat"/>
      <p:regular r:id="rId35"/>
      <p:bold r:id="rId36"/>
      <p:italic r:id="rId37"/>
      <p:boldItalic r:id="rId38"/>
    </p:embeddedFont>
    <p:embeddedFont>
      <p:font typeface="Lato"/>
      <p:regular r:id="rId39"/>
      <p:bold r:id="rId40"/>
      <p:italic r:id="rId41"/>
      <p:boldItalic r:id="rId42"/>
    </p:embeddedFont>
    <p:embeddedFont>
      <p:font typeface="Vidaloka"/>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355999-3DA7-49AD-9D86-4FAB414BE1D7}">
  <a:tblStyle styleId="{FC355999-3DA7-49AD-9D86-4FAB414BE1D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5.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Vidaloka-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Montserrat-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Montserrat-italic.fntdata"/><Relationship Id="rId14" Type="http://schemas.openxmlformats.org/officeDocument/2006/relationships/slide" Target="slides/slide9.xml"/><Relationship Id="rId36" Type="http://schemas.openxmlformats.org/officeDocument/2006/relationships/font" Target="fonts/Montserrat-bold.fntdata"/><Relationship Id="rId17" Type="http://schemas.openxmlformats.org/officeDocument/2006/relationships/slide" Target="slides/slide12.xml"/><Relationship Id="rId39" Type="http://schemas.openxmlformats.org/officeDocument/2006/relationships/font" Target="fonts/Lato-regular.fntdata"/><Relationship Id="rId16" Type="http://schemas.openxmlformats.org/officeDocument/2006/relationships/slide" Target="slides/slide11.xml"/><Relationship Id="rId38" Type="http://schemas.openxmlformats.org/officeDocument/2006/relationships/font" Target="fonts/Montserra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Everyone unmute to introduce themselves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e34c71042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e34c71042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e34c710420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e34c710420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e34c71042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e34c71042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e34786694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e34786694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e34c71042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e34c71042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e34c710420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e34c710420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Maria</a:t>
            </a:r>
            <a:endParaRPr/>
          </a:p>
          <a:p>
            <a:pPr indent="0" lvl="0" marL="0" rtl="0" algn="l">
              <a:spcBef>
                <a:spcPts val="0"/>
              </a:spcBef>
              <a:spcAft>
                <a:spcPts val="0"/>
              </a:spcAft>
              <a:buNone/>
            </a:pPr>
            <a:r>
              <a:rPr lang="en"/>
              <a:t>Before training any models, we focused on preparing the data properly. For cleaning, we first verified that all scans were valid; no missing values and no corrupted images. We standardized the pixel intensities to a 0-1 range, and we converted everything to float32 so it would run smoothly in Pytorch and MONAI. We also double checked our binary labels to make sure there were no mismatches. For augmentation, our biggest challenge was the extremely small number of aneurysm cases. This creates a huge risk of overfitting. To address that, we artificially expanded the dataset using rotations, flips, intensity scaling, and intensity shifting. These make the model </a:t>
            </a:r>
            <a:r>
              <a:rPr lang="en"/>
              <a:t>more</a:t>
            </a:r>
            <a:r>
              <a:rPr lang="en"/>
              <a:t> robust because it learns to recognize aneurysms across different imaging conditions and orientations.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acd468357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acd468357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Ousman 8-11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e34c710420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e34c710420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Ousman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e34c71042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e34c71042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Ousman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e34c71042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e34c71042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Ousman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e34c710420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e34c710420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Maria</a:t>
            </a:r>
            <a:endParaRPr/>
          </a:p>
          <a:p>
            <a:pPr indent="0" lvl="0" marL="0" rtl="0" algn="l">
              <a:spcBef>
                <a:spcPts val="0"/>
              </a:spcBef>
              <a:spcAft>
                <a:spcPts val="0"/>
              </a:spcAft>
              <a:buNone/>
            </a:pPr>
            <a:r>
              <a:rPr lang="en"/>
              <a:t>To reduce bias and improve fairness, we followed several mitigation strategies. First, we focused on transparent evaluation. Instead of reporting just accuracy, we evaluated five different models across all metrics. Second, we prioritized patient safety. That means we emphasize recall because missing an aneurysm CAN be life-threatening. We also documented the limits of our dataset; for example, the low resolution and class imbalance, so users understand the constraints. Most importantly, our model is designed as an </a:t>
            </a:r>
            <a:r>
              <a:rPr lang="en"/>
              <a:t>assistive tool. It supports radiologists, not replaces them. And finally, we used class weights and data augmentation to help balance the underrepresented aneurysm cases.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acd468357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3acd468357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Karen: Once our model was developed our next step was to turn the </a:t>
            </a:r>
            <a:r>
              <a:rPr lang="en">
                <a:solidFill>
                  <a:schemeClr val="dk1"/>
                </a:solidFill>
              </a:rPr>
              <a:t>Google Colab model into a stable, public-facing web application.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cd468357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acd468357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 is a preview of our website. It has 4 main sections. The landing page provides the main introduction and value proposition of the project. The Impact Section explains the clinical and social justification for the tool. Then we have a section which presents our model's 83.72% sensitivity and provides downloadable test samples for transparency and validation. The main tool is the diagnostic interface which is a live demonstration of our fully deployed machine learning model.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e34c71042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e34c71042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Karen: </a:t>
            </a:r>
            <a:r>
              <a:rPr lang="en">
                <a:solidFill>
                  <a:schemeClr val="dk1"/>
                </a:solidFill>
              </a:rPr>
              <a:t>We pushed the finalized code to a dedicated GitHub Repository which includes the model. Feel free to take a look at our code!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e34c710420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e34c710420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Karen: For the architecture of the site, We decided to use Next.js to build a high-quality, professional user interface for uploading files and di</a:t>
            </a:r>
            <a:r>
              <a:rPr lang="en"/>
              <a:t>splaying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Next we chose Gradio to act as an API Wrapper. It allows us to take our Python MONAI model and expose it as a clean, standardized API endpoint.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 also allows us to use HuggingFace, which provides free, scalable cloud infrastructure for our Python backend. The HuggingFace space runs the Gradio application, offering a public URL where our model can listen for requests.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Finally, We chose Vercel because it is the native and most optimized platform for deploying Next.js applications. This gives us fast load times and automatic scaling.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acd468357d_9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acd468357d_9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After the AI model analyzes an MRI scan, we wanted to display the results in a format that medical professionals and users can understand and interact with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NIFTI is the industry-standard file format for storing medical imaging data, containing three-dimensional volumetric data - thousands of individual slices stacked together to create a complete 3D representation of the brain or blood vessels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Traditional image viewers cannot handle this type of volumetric data, so we used Niivue.js: a specialized JavaScript library designed specifically for rendering medical imaging data in web browsers. It leverages WebGL, which is a graphics rendering technology that allows us to display complex 3D visualizations.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Next.js: Our web application framework, which provides the structure for our frontend application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 Receive Data: The backend server processes the uploaded MRI scan through our AI model and then transmits three pieces of information back to the frontend: the original 3D MRI scan, the AI-generated heatmap showing potential abnormalities, and the confidence score. These files are encoded as base64 text strings to facilitate transmission over the internet.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2) Decode and Load: Our frontend application converts these text strings back into binary data format, which the visualization library can process. We then load both the original scan and the AI heatmap into the Niivue viewer as separate but overlapping layers.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3) Multi-View Display: The viewer presents four synchronized perspectives simultaneously. This multi-planar approach is standard in medical imaging because it allows clinicians to examine the anatomy from multiple angles: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wont go into this too much; we will do a demo later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4) Heatmap Overlay: The AI model's predictions are visualized as a color-coded heatmap overlaid on top of the original scan. We use a warm color gradient - yellow indicates low-level concerns, orange indicates moderate suspicion, and red indicates areas where the model has detected strong indicators of potential aneurysms. This visual representation allows users to immediately understand not just whether an aneurysm was detected, but precisely where in the 3D space the model identified abnormalities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visualization component serves several critical functions: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1) transparency - users can see exactly where the AI model detected abnormalities, rather than just receiving a binary yes/no diagnosis.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2) verification - medical professionals can validate the AI's findings by examining the highlighted regions themselves.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3) accessibility - complex medical imaging analysis is presented through an intuitive web interface that requires no specialized software installation. Any authorized user with a web browser can access and examine these detailed 3D visualizations.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acd468357d_9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acd468357d_9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backend is deployed on Hugging Face Spaces, which provides free hosting for machine learning applications. The entire inference pipeline is written in Python and uses Gradio to create an API that our frontend can communicate with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 When a user uploads a NIFTI scan through our web interface, the file is sent to our Gradio API endpoint. Gradio handles all the HTTP communication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2) MONAI - Medical Open Network for AI - is a PyTorch-based framework specifically designed for medical imaging. It handles normalization, ensuring the scan data is in the correct format and scale for our model. Medical images can vary widely in intensity ranges, so normalization is critical for consistent predictions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3) AI Inference: Our V5 model is a 3D convolutional neural network built with PyTorch. Ousman has covered this earlier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4) GradCAM3D Heatmap Generation: GradCAM - Gradient-weighted Class Activation Mapping - is a technique that visualizes which parts of the input the model focused on when making its decision. It works by analyzing the gradients flowing through the final convolutional layers of the network. Areas with high activation get colored red in our heatmap, showing where the model detected suspicious features. This provides transparency and allows medical professionals to validate the AI’s reasoning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Challenge: Making GradCAM3D Work Properly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acd468357d_9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acd468357d_9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a:p>
            <a:pPr indent="-298450" lvl="0" marL="457200" marR="381000" rtl="0" algn="l">
              <a:lnSpc>
                <a:spcPct val="115000"/>
              </a:lnSpc>
              <a:spcBef>
                <a:spcPts val="1200"/>
              </a:spcBef>
              <a:spcAft>
                <a:spcPts val="0"/>
              </a:spcAft>
              <a:buClr>
                <a:schemeClr val="dk1"/>
              </a:buClr>
              <a:buSzPts val="1100"/>
              <a:buChar char="-"/>
            </a:pPr>
            <a:r>
              <a:rPr lang="en">
                <a:solidFill>
                  <a:schemeClr val="dk1"/>
                </a:solidFill>
              </a:rPr>
              <a:t>One of the key technical challenges in implementing GradCAM was identifying which layer in ResNet-18 would give the most meaningful visualizations of the model's decision-making process.</a:t>
            </a:r>
            <a:endParaRPr>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b="1" lang="en" sz="1300">
                <a:solidFill>
                  <a:schemeClr val="dk1"/>
                </a:solidFill>
              </a:rPr>
              <a:t>Architecture Overview (20-25 seconds)</a:t>
            </a:r>
            <a:endParaRPr b="1" sz="1300">
              <a:solidFill>
                <a:schemeClr val="dk1"/>
              </a:solidFill>
            </a:endParaRPr>
          </a:p>
          <a:p>
            <a:pPr indent="-298450" lvl="1" marL="914400" marR="381000" rtl="0" algn="l">
              <a:lnSpc>
                <a:spcPct val="115000"/>
              </a:lnSpc>
              <a:spcBef>
                <a:spcPts val="0"/>
              </a:spcBef>
              <a:spcAft>
                <a:spcPts val="0"/>
              </a:spcAft>
              <a:buClr>
                <a:schemeClr val="dk1"/>
              </a:buClr>
              <a:buSzPts val="1100"/>
              <a:buChar char="-"/>
            </a:pPr>
            <a:r>
              <a:rPr lang="en">
                <a:solidFill>
                  <a:schemeClr val="dk1"/>
                </a:solidFill>
              </a:rPr>
              <a:t>ResNet-18 has this hierarchical structure with four main layer groups. Each group contains two residual blocks, and each block has two convolutional layers—so that's four conv layers per group, giving us 16 convolutional layers total across these four groups, plus an initial conv layer.</a:t>
            </a:r>
            <a:endParaRPr>
              <a:solidFill>
                <a:schemeClr val="dk1"/>
              </a:solidFill>
            </a:endParaRPr>
          </a:p>
          <a:p>
            <a:pPr indent="-298450" lvl="1" marL="914400" marR="381000" rtl="0" algn="l">
              <a:lnSpc>
                <a:spcPct val="115000"/>
              </a:lnSpc>
              <a:spcBef>
                <a:spcPts val="0"/>
              </a:spcBef>
              <a:spcAft>
                <a:spcPts val="0"/>
              </a:spcAft>
              <a:buClr>
                <a:schemeClr val="dk1"/>
              </a:buClr>
              <a:buSzPts val="1100"/>
              <a:buChar char="-"/>
            </a:pPr>
            <a:r>
              <a:rPr lang="en">
                <a:solidFill>
                  <a:schemeClr val="dk1"/>
                </a:solidFill>
              </a:rPr>
              <a:t>As data flows through, spatial dimensions progressively shrink—from 64-cubed at the input down to 4-by-4-by-4 at Layer 4—while features become increasingly abstract</a:t>
            </a:r>
            <a:endParaRPr>
              <a:solidFill>
                <a:schemeClr val="dk1"/>
              </a:solidFill>
            </a:endParaRPr>
          </a:p>
          <a:p>
            <a:pPr indent="-298450" lvl="1" marL="914400" marR="381000" rtl="0" algn="l">
              <a:lnSpc>
                <a:spcPct val="115000"/>
              </a:lnSpc>
              <a:spcBef>
                <a:spcPts val="0"/>
              </a:spcBef>
              <a:spcAft>
                <a:spcPts val="0"/>
              </a:spcAft>
              <a:buClr>
                <a:schemeClr val="dk1"/>
              </a:buClr>
              <a:buSzPts val="1100"/>
              <a:buChar char="-"/>
            </a:pPr>
            <a:r>
              <a:rPr b="1" lang="en" sz="1300">
                <a:solidFill>
                  <a:schemeClr val="dk1"/>
                </a:solidFill>
              </a:rPr>
              <a:t>The Initial Mistake - Layer 3</a:t>
            </a:r>
            <a:endParaRPr b="1" sz="1300">
              <a:solidFill>
                <a:schemeClr val="dk1"/>
              </a:solidFill>
            </a:endParaRPr>
          </a:p>
          <a:p>
            <a:pPr indent="-298450" lvl="2" marL="1371600" marR="381000" rtl="0" algn="l">
              <a:lnSpc>
                <a:spcPct val="115000"/>
              </a:lnSpc>
              <a:spcBef>
                <a:spcPts val="0"/>
              </a:spcBef>
              <a:spcAft>
                <a:spcPts val="0"/>
              </a:spcAft>
              <a:buClr>
                <a:schemeClr val="dk1"/>
              </a:buClr>
              <a:buSzPts val="1100"/>
              <a:buChar char="-"/>
            </a:pPr>
            <a:r>
              <a:rPr lang="en">
                <a:solidFill>
                  <a:schemeClr val="dk1"/>
                </a:solidFill>
              </a:rPr>
              <a:t>"Initially, I hooked GradCAM into Layer 3, which operates at 8-by-8-by-8 resolution. My reasoning was that Layer 3 captures geometric features—curves, bends, vessel shapes—which seemed perfect for detecting aneurysms, since aneurysms are geometric abnormalities.</a:t>
            </a:r>
            <a:endParaRPr>
              <a:solidFill>
                <a:schemeClr val="dk1"/>
              </a:solidFill>
            </a:endParaRPr>
          </a:p>
          <a:p>
            <a:pPr indent="-298450" lvl="2" marL="1371600" marR="381000" rtl="0" algn="l">
              <a:lnSpc>
                <a:spcPct val="115000"/>
              </a:lnSpc>
              <a:spcBef>
                <a:spcPts val="0"/>
              </a:spcBef>
              <a:spcAft>
                <a:spcPts val="0"/>
              </a:spcAft>
              <a:buClr>
                <a:schemeClr val="dk1"/>
              </a:buClr>
              <a:buSzPts val="1100"/>
              <a:buChar char="-"/>
            </a:pPr>
            <a:r>
              <a:rPr lang="en">
                <a:solidFill>
                  <a:schemeClr val="dk1"/>
                </a:solidFill>
              </a:rPr>
              <a:t>However, the heatmap was still highlighting everything, including healthy vessels. Layer 3 understands shapes, but it doesn't understand which shapes are clinically significant. </a:t>
            </a:r>
            <a:endParaRPr>
              <a:solidFill>
                <a:schemeClr val="dk1"/>
              </a:solidFill>
            </a:endParaRPr>
          </a:p>
          <a:p>
            <a:pPr indent="-298450" lvl="1" marL="914400" marR="381000" rtl="0" algn="l">
              <a:lnSpc>
                <a:spcPct val="115000"/>
              </a:lnSpc>
              <a:spcBef>
                <a:spcPts val="0"/>
              </a:spcBef>
              <a:spcAft>
                <a:spcPts val="0"/>
              </a:spcAft>
              <a:buClr>
                <a:schemeClr val="dk1"/>
              </a:buClr>
              <a:buSzPts val="1100"/>
              <a:buChar char="-"/>
            </a:pPr>
            <a:r>
              <a:rPr lang="en">
                <a:solidFill>
                  <a:schemeClr val="dk1"/>
                </a:solidFill>
              </a:rPr>
              <a:t>I moved to Layer 4—specifically layer4, block -1, conv2. That's the second convolutional layer in the final residual block, which is the 17th and last convolutional layer before classification.</a:t>
            </a:r>
            <a:endParaRPr>
              <a:solidFill>
                <a:schemeClr val="dk1"/>
              </a:solidFill>
            </a:endParaRPr>
          </a:p>
          <a:p>
            <a:pPr indent="-298450" lvl="2" marL="1371600" marR="381000" rtl="0" algn="l">
              <a:lnSpc>
                <a:spcPct val="115000"/>
              </a:lnSpc>
              <a:spcBef>
                <a:spcPts val="0"/>
              </a:spcBef>
              <a:spcAft>
                <a:spcPts val="0"/>
              </a:spcAft>
              <a:buClr>
                <a:schemeClr val="dk1"/>
              </a:buClr>
              <a:buSzPts val="1100"/>
              <a:buChar char="-"/>
            </a:pPr>
            <a:r>
              <a:rPr lang="en">
                <a:solidFill>
                  <a:schemeClr val="dk1"/>
                </a:solidFill>
              </a:rPr>
              <a:t>I realised this is where the network has learned the semantic concept of 'aneurysm', not just any bulge or curve, but the specific morphological patterns that indicate pathology.</a:t>
            </a:r>
            <a:endParaRPr>
              <a:solidFill>
                <a:schemeClr val="dk1"/>
              </a:solidFill>
            </a:endParaRPr>
          </a:p>
          <a:p>
            <a:pPr indent="-298450" lvl="2" marL="1371600" marR="381000" rtl="0" algn="l">
              <a:lnSpc>
                <a:spcPct val="115000"/>
              </a:lnSpc>
              <a:spcBef>
                <a:spcPts val="0"/>
              </a:spcBef>
              <a:spcAft>
                <a:spcPts val="0"/>
              </a:spcAft>
              <a:buClr>
                <a:schemeClr val="dk1"/>
              </a:buClr>
              <a:buSzPts val="1100"/>
              <a:buChar char="-"/>
            </a:pPr>
            <a:r>
              <a:rPr lang="en">
                <a:solidFill>
                  <a:schemeClr val="dk1"/>
                </a:solidFill>
              </a:rPr>
              <a:t>it was still highlighting noise, so I increased the activation threshold from 10% to 15%. Now the heatmap only displays activations above 15% of the maximum value, filtering out weak background noise and showing only the regions where the model has strong, focused attention.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e34c710420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1e34c71042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Maria</a:t>
            </a:r>
            <a:endParaRPr/>
          </a:p>
          <a:p>
            <a:pPr indent="0" lvl="0" marL="0" rtl="0" algn="l">
              <a:spcBef>
                <a:spcPts val="0"/>
              </a:spcBef>
              <a:spcAft>
                <a:spcPts val="0"/>
              </a:spcAft>
              <a:buNone/>
            </a:pPr>
            <a:r>
              <a:rPr lang="en"/>
              <a:t>This slide highlights the real-world implications of our work. First, clinically, radiologists have about 95% sensitivity, but in reality many hospitals deal with severe radiologist shortages. That leads to fatigue, which can increase diagnostic errors, especially in high-volume settings. Next, NeuroScan’s performance shows an 83.72% sensitivity. The key point is that we are not positioning the model as a standalone diagnostician. Instead, it acts as a rapid *first read* safety net that helps flag potential aneurysms quickly. Our first value proposition is high volume triage. The model helps automatically detect obvious abnormalities so radiologists can preserve their focus and mental effort for more complex, subtle cases. Our second value proposition is accessibility. This tool provides diagnostic support in underserved or resource limited regions, including rural hospitals or developing areas. Because the model was validated on lower-resolution MRI scans, it remains useful even on older hardware that is common in those settings.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acd468357d_9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acd468357d_9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acd468357d_9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acd468357d_9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acd468357d_9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acd468357d_9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Chimin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1e34c710420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1e34c710420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Fola</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b1fa4ddd8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b1fa4ddd8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idx="1" type="subTitle"/>
          </p:nvPr>
        </p:nvSpPr>
        <p:spPr>
          <a:xfrm rot="-588">
            <a:off x="4869324" y="3555644"/>
            <a:ext cx="3506100" cy="426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 name="Google Shape;10;p2"/>
          <p:cNvSpPr txBox="1"/>
          <p:nvPr>
            <p:ph type="ctrTitle"/>
          </p:nvPr>
        </p:nvSpPr>
        <p:spPr>
          <a:xfrm>
            <a:off x="4869325" y="1161263"/>
            <a:ext cx="3506100" cy="2469900"/>
          </a:xfrm>
          <a:prstGeom prst="rect">
            <a:avLst/>
          </a:prstGeom>
        </p:spPr>
        <p:txBody>
          <a:bodyPr anchorCtr="0" anchor="ctr" bIns="91425" lIns="91425" spcFirstLastPara="1" rIns="91425" wrap="square" tIns="91425">
            <a:noAutofit/>
          </a:bodyPr>
          <a:lstStyle>
            <a:lvl1pPr lvl="0" rtl="0" algn="r">
              <a:lnSpc>
                <a:spcPct val="80000"/>
              </a:lnSpc>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p:nvPr/>
        </p:nvSpPr>
        <p:spPr>
          <a:xfrm>
            <a:off x="3237325" y="46978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370100" y="23626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6503050" y="4752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592700" y="40705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7864625" y="4725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52800" y="5064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 name="Google Shape;17;p2"/>
          <p:cNvCxnSpPr>
            <a:stCxn id="15" idx="2"/>
            <a:endCxn id="13" idx="6"/>
          </p:cNvCxnSpPr>
          <p:nvPr/>
        </p:nvCxnSpPr>
        <p:spPr>
          <a:xfrm rot="10800000">
            <a:off x="6570125" y="4785750"/>
            <a:ext cx="1294500" cy="0"/>
          </a:xfrm>
          <a:prstGeom prst="straightConnector1">
            <a:avLst/>
          </a:prstGeom>
          <a:noFill/>
          <a:ln cap="flat" cmpd="sng" w="9525">
            <a:solidFill>
              <a:schemeClr val="accent1"/>
            </a:solidFill>
            <a:prstDash val="solid"/>
            <a:round/>
            <a:headEnd len="med" w="med" type="none"/>
            <a:tailEnd len="med" w="med" type="none"/>
          </a:ln>
        </p:spPr>
      </p:cxnSp>
      <p:grpSp>
        <p:nvGrpSpPr>
          <p:cNvPr id="18" name="Google Shape;18;p2"/>
          <p:cNvGrpSpPr/>
          <p:nvPr/>
        </p:nvGrpSpPr>
        <p:grpSpPr>
          <a:xfrm>
            <a:off x="8055650" y="246475"/>
            <a:ext cx="795275" cy="714400"/>
            <a:chOff x="7864625" y="364925"/>
            <a:chExt cx="795275" cy="714400"/>
          </a:xfrm>
        </p:grpSpPr>
        <p:cxnSp>
          <p:nvCxnSpPr>
            <p:cNvPr id="19" name="Google Shape;19;p2"/>
            <p:cNvCxnSpPr>
              <a:stCxn id="20" idx="1"/>
              <a:endCxn id="21"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txBox="1"/>
          <p:nvPr>
            <p:ph type="title"/>
          </p:nvPr>
        </p:nvSpPr>
        <p:spPr>
          <a:xfrm>
            <a:off x="929550" y="2324100"/>
            <a:ext cx="3791100" cy="1778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4" name="Google Shape;24;p3"/>
          <p:cNvSpPr txBox="1"/>
          <p:nvPr>
            <p:ph hasCustomPrompt="1" idx="2" type="title"/>
          </p:nvPr>
        </p:nvSpPr>
        <p:spPr>
          <a:xfrm>
            <a:off x="1183801" y="876075"/>
            <a:ext cx="797400" cy="1223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sz="7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 name="Google Shape;25;p3"/>
          <p:cNvSpPr/>
          <p:nvPr>
            <p:ph idx="3" type="pic"/>
          </p:nvPr>
        </p:nvSpPr>
        <p:spPr>
          <a:xfrm>
            <a:off x="5353050" y="0"/>
            <a:ext cx="3791100" cy="5143500"/>
          </a:xfrm>
          <a:prstGeom prst="rect">
            <a:avLst/>
          </a:prstGeom>
          <a:noFill/>
          <a:ln>
            <a:noFill/>
          </a:ln>
        </p:spPr>
      </p:sp>
      <p:sp>
        <p:nvSpPr>
          <p:cNvPr id="26" name="Google Shape;26;p3"/>
          <p:cNvSpPr/>
          <p:nvPr/>
        </p:nvSpPr>
        <p:spPr>
          <a:xfrm>
            <a:off x="389638" y="48163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3"/>
          <p:cNvGrpSpPr/>
          <p:nvPr/>
        </p:nvGrpSpPr>
        <p:grpSpPr>
          <a:xfrm>
            <a:off x="322350" y="4101900"/>
            <a:ext cx="795275" cy="714400"/>
            <a:chOff x="7864625" y="364925"/>
            <a:chExt cx="795275" cy="714400"/>
          </a:xfrm>
        </p:grpSpPr>
        <p:cxnSp>
          <p:nvCxnSpPr>
            <p:cNvPr id="28" name="Google Shape;28;p3"/>
            <p:cNvCxnSpPr>
              <a:stCxn id="29" idx="1"/>
              <a:endCxn id="30"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29" name="Google Shape;29;p3"/>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4"/>
          <p:cNvSpPr txBox="1"/>
          <p:nvPr>
            <p:ph type="title"/>
          </p:nvPr>
        </p:nvSpPr>
        <p:spPr>
          <a:xfrm>
            <a:off x="720000" y="972600"/>
            <a:ext cx="3780600" cy="1149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33" name="Google Shape;33;p4"/>
          <p:cNvSpPr txBox="1"/>
          <p:nvPr>
            <p:ph idx="1" type="body"/>
          </p:nvPr>
        </p:nvSpPr>
        <p:spPr>
          <a:xfrm>
            <a:off x="720000" y="2121900"/>
            <a:ext cx="3780600" cy="204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accent2"/>
              </a:buClr>
              <a:buSzPts val="1400"/>
              <a:buChar char="●"/>
              <a:defRPr sz="12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sp>
        <p:nvSpPr>
          <p:cNvPr id="34" name="Google Shape;34;p4"/>
          <p:cNvSpPr/>
          <p:nvPr/>
        </p:nvSpPr>
        <p:spPr>
          <a:xfrm>
            <a:off x="8776725" y="39437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8545375" y="2538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rot="1539014">
            <a:off x="6576323" y="623578"/>
            <a:ext cx="67225" cy="67225"/>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1205519">
            <a:off x="5571410" y="311949"/>
            <a:ext cx="121387" cy="121387"/>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1623325" y="2446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675265">
            <a:off x="8749604" y="1662081"/>
            <a:ext cx="121435" cy="121435"/>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4"/>
          <p:cNvCxnSpPr>
            <a:stCxn id="39" idx="3"/>
            <a:endCxn id="35" idx="0"/>
          </p:cNvCxnSpPr>
          <p:nvPr/>
        </p:nvCxnSpPr>
        <p:spPr>
          <a:xfrm flipH="1">
            <a:off x="8578892" y="1773286"/>
            <a:ext cx="197700" cy="765000"/>
          </a:xfrm>
          <a:prstGeom prst="straightConnector1">
            <a:avLst/>
          </a:prstGeom>
          <a:noFill/>
          <a:ln cap="flat" cmpd="sng" w="9525">
            <a:solidFill>
              <a:schemeClr val="accent1"/>
            </a:solidFill>
            <a:prstDash val="solid"/>
            <a:round/>
            <a:headEnd len="med" w="med" type="none"/>
            <a:tailEnd len="med" w="med" type="none"/>
          </a:ln>
        </p:spPr>
      </p:cxnSp>
      <p:cxnSp>
        <p:nvCxnSpPr>
          <p:cNvPr id="41" name="Google Shape;41;p4"/>
          <p:cNvCxnSpPr>
            <a:stCxn id="35" idx="4"/>
            <a:endCxn id="34" idx="0"/>
          </p:cNvCxnSpPr>
          <p:nvPr/>
        </p:nvCxnSpPr>
        <p:spPr>
          <a:xfrm>
            <a:off x="8578975" y="2605350"/>
            <a:ext cx="231300" cy="133830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p:nvPr/>
        </p:nvSpPr>
        <p:spPr>
          <a:xfrm>
            <a:off x="2280550" y="48962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4"/>
          <p:cNvCxnSpPr>
            <a:stCxn id="37" idx="5"/>
            <a:endCxn id="36" idx="2"/>
          </p:cNvCxnSpPr>
          <p:nvPr/>
        </p:nvCxnSpPr>
        <p:spPr>
          <a:xfrm>
            <a:off x="5687152" y="398204"/>
            <a:ext cx="892500" cy="244500"/>
          </a:xfrm>
          <a:prstGeom prst="straightConnector1">
            <a:avLst/>
          </a:prstGeom>
          <a:noFill/>
          <a:ln cap="flat" cmpd="sng" w="9525">
            <a:solidFill>
              <a:schemeClr val="accent1"/>
            </a:solidFill>
            <a:prstDash val="solid"/>
            <a:round/>
            <a:headEnd len="med" w="med" type="none"/>
            <a:tailEnd len="med" w="med" type="none"/>
          </a:ln>
        </p:spPr>
      </p:cxnSp>
      <p:sp>
        <p:nvSpPr>
          <p:cNvPr id="44" name="Google Shape;44;p4"/>
          <p:cNvSpPr/>
          <p:nvPr/>
        </p:nvSpPr>
        <p:spPr>
          <a:xfrm rot="1271060">
            <a:off x="7633692" y="244642"/>
            <a:ext cx="67244" cy="67244"/>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rot="1271060">
            <a:off x="432792" y="2121917"/>
            <a:ext cx="67244" cy="67244"/>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1186654">
            <a:off x="206562" y="2693118"/>
            <a:ext cx="121465" cy="121465"/>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4"/>
          <p:cNvCxnSpPr>
            <a:stCxn id="45" idx="4"/>
            <a:endCxn id="46" idx="0"/>
          </p:cNvCxnSpPr>
          <p:nvPr/>
        </p:nvCxnSpPr>
        <p:spPr>
          <a:xfrm flipH="1">
            <a:off x="287764" y="2186889"/>
            <a:ext cx="166500" cy="5097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5"/>
          <p:cNvSpPr txBox="1"/>
          <p:nvPr>
            <p:ph idx="1" type="subTitle"/>
          </p:nvPr>
        </p:nvSpPr>
        <p:spPr>
          <a:xfrm>
            <a:off x="1152650" y="2599375"/>
            <a:ext cx="3030000" cy="132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0" name="Google Shape;50;p5"/>
          <p:cNvSpPr txBox="1"/>
          <p:nvPr>
            <p:ph idx="2" type="subTitle"/>
          </p:nvPr>
        </p:nvSpPr>
        <p:spPr>
          <a:xfrm>
            <a:off x="4961426" y="2599375"/>
            <a:ext cx="3030000" cy="132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 name="Google Shape;51;p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52" name="Google Shape;52;p5"/>
          <p:cNvSpPr txBox="1"/>
          <p:nvPr>
            <p:ph idx="3" type="title"/>
          </p:nvPr>
        </p:nvSpPr>
        <p:spPr>
          <a:xfrm>
            <a:off x="1150484" y="2161825"/>
            <a:ext cx="3034500" cy="5277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53" name="Google Shape;53;p5"/>
          <p:cNvSpPr txBox="1"/>
          <p:nvPr>
            <p:ph idx="4" type="title"/>
          </p:nvPr>
        </p:nvSpPr>
        <p:spPr>
          <a:xfrm>
            <a:off x="4966318" y="2161825"/>
            <a:ext cx="3020400" cy="5277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4" name="Google Shape;54;p5"/>
          <p:cNvSpPr/>
          <p:nvPr/>
        </p:nvSpPr>
        <p:spPr>
          <a:xfrm>
            <a:off x="458950" y="24271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224175" y="31688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686400" y="36763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7555075" y="47692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5382000" y="4657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 name="Google Shape;59;p5"/>
          <p:cNvCxnSpPr>
            <a:stCxn id="56" idx="1"/>
            <a:endCxn id="55" idx="5"/>
          </p:cNvCxnSpPr>
          <p:nvPr/>
        </p:nvCxnSpPr>
        <p:spPr>
          <a:xfrm rot="10800000">
            <a:off x="281641" y="3226316"/>
            <a:ext cx="414600" cy="459900"/>
          </a:xfrm>
          <a:prstGeom prst="straightConnector1">
            <a:avLst/>
          </a:prstGeom>
          <a:noFill/>
          <a:ln cap="flat" cmpd="sng" w="9525">
            <a:solidFill>
              <a:schemeClr val="accent1"/>
            </a:solidFill>
            <a:prstDash val="solid"/>
            <a:round/>
            <a:headEnd len="med" w="med" type="none"/>
            <a:tailEnd len="med" w="med" type="none"/>
          </a:ln>
        </p:spPr>
      </p:cxnSp>
      <p:sp>
        <p:nvSpPr>
          <p:cNvPr id="60" name="Google Shape;60;p5"/>
          <p:cNvSpPr/>
          <p:nvPr/>
        </p:nvSpPr>
        <p:spPr>
          <a:xfrm>
            <a:off x="1991100" y="47243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7802725" y="3518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5"/>
          <p:cNvCxnSpPr>
            <a:stCxn id="61" idx="5"/>
            <a:endCxn id="63" idx="1"/>
          </p:cNvCxnSpPr>
          <p:nvPr/>
        </p:nvCxnSpPr>
        <p:spPr>
          <a:xfrm>
            <a:off x="7906432" y="455532"/>
            <a:ext cx="919200" cy="522900"/>
          </a:xfrm>
          <a:prstGeom prst="straightConnector1">
            <a:avLst/>
          </a:prstGeom>
          <a:noFill/>
          <a:ln cap="flat" cmpd="sng" w="9525">
            <a:solidFill>
              <a:schemeClr val="accent1"/>
            </a:solidFill>
            <a:prstDash val="solid"/>
            <a:round/>
            <a:headEnd len="med" w="med" type="none"/>
            <a:tailEnd len="med" w="med" type="none"/>
          </a:ln>
        </p:spPr>
      </p:cxnSp>
      <p:sp>
        <p:nvSpPr>
          <p:cNvPr id="63" name="Google Shape;63;p5"/>
          <p:cNvSpPr/>
          <p:nvPr/>
        </p:nvSpPr>
        <p:spPr>
          <a:xfrm>
            <a:off x="8815725" y="9686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66" name="Google Shape;66;p6"/>
          <p:cNvSpPr/>
          <p:nvPr/>
        </p:nvSpPr>
        <p:spPr>
          <a:xfrm>
            <a:off x="8621200" y="20476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7997350" y="2778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8901450" y="12258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 name="Google Shape;69;p6"/>
          <p:cNvCxnSpPr>
            <a:stCxn id="68" idx="1"/>
            <a:endCxn id="67" idx="5"/>
          </p:cNvCxnSpPr>
          <p:nvPr/>
        </p:nvCxnSpPr>
        <p:spPr>
          <a:xfrm rot="10800000">
            <a:off x="8054791" y="335041"/>
            <a:ext cx="856500" cy="900600"/>
          </a:xfrm>
          <a:prstGeom prst="straightConnector1">
            <a:avLst/>
          </a:prstGeom>
          <a:noFill/>
          <a:ln cap="flat" cmpd="sng" w="9525">
            <a:solidFill>
              <a:schemeClr val="accent1"/>
            </a:solidFill>
            <a:prstDash val="solid"/>
            <a:round/>
            <a:headEnd len="med" w="med" type="none"/>
            <a:tailEnd len="med" w="med" type="none"/>
          </a:ln>
        </p:spPr>
      </p:cxnSp>
      <p:cxnSp>
        <p:nvCxnSpPr>
          <p:cNvPr id="70" name="Google Shape;70;p6"/>
          <p:cNvCxnSpPr>
            <a:stCxn id="68" idx="4"/>
            <a:endCxn id="66" idx="0"/>
          </p:cNvCxnSpPr>
          <p:nvPr/>
        </p:nvCxnSpPr>
        <p:spPr>
          <a:xfrm flipH="1">
            <a:off x="8681850" y="1293000"/>
            <a:ext cx="253200" cy="754500"/>
          </a:xfrm>
          <a:prstGeom prst="straightConnector1">
            <a:avLst/>
          </a:prstGeom>
          <a:noFill/>
          <a:ln cap="flat" cmpd="sng" w="9525">
            <a:solidFill>
              <a:schemeClr val="accent1"/>
            </a:solidFill>
            <a:prstDash val="solid"/>
            <a:round/>
            <a:headEnd len="med" w="med" type="none"/>
            <a:tailEnd len="med" w="med" type="none"/>
          </a:ln>
        </p:spPr>
      </p:cxnSp>
      <p:sp>
        <p:nvSpPr>
          <p:cNvPr id="71" name="Google Shape;71;p6"/>
          <p:cNvSpPr/>
          <p:nvPr/>
        </p:nvSpPr>
        <p:spPr>
          <a:xfrm>
            <a:off x="520875" y="4061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386100" y="46035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1262400" y="47405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358950" y="11043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179600" y="16243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8294900" y="47405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p:nvPr/>
        </p:nvSpPr>
        <p:spPr>
          <a:xfrm>
            <a:off x="8774850" y="44239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7"/>
          <p:cNvSpPr txBox="1"/>
          <p:nvPr>
            <p:ph type="title"/>
          </p:nvPr>
        </p:nvSpPr>
        <p:spPr>
          <a:xfrm>
            <a:off x="5869838" y="540000"/>
            <a:ext cx="2247900" cy="10710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80" name="Google Shape;80;p7"/>
          <p:cNvSpPr txBox="1"/>
          <p:nvPr>
            <p:ph idx="1" type="subTitle"/>
          </p:nvPr>
        </p:nvSpPr>
        <p:spPr>
          <a:xfrm rot="-459">
            <a:off x="5869837" y="1515875"/>
            <a:ext cx="2247900" cy="10707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1" name="Google Shape;81;p7"/>
          <p:cNvSpPr/>
          <p:nvPr/>
        </p:nvSpPr>
        <p:spPr>
          <a:xfrm>
            <a:off x="8798625" y="2028388"/>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8265938" y="119553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8825775" y="5400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 name="Google Shape;84;p7"/>
          <p:cNvCxnSpPr>
            <a:stCxn id="81" idx="1"/>
            <a:endCxn id="82" idx="5"/>
          </p:cNvCxnSpPr>
          <p:nvPr/>
        </p:nvCxnSpPr>
        <p:spPr>
          <a:xfrm rot="10800000">
            <a:off x="8323218" y="1252981"/>
            <a:ext cx="493200" cy="793200"/>
          </a:xfrm>
          <a:prstGeom prst="straightConnector1">
            <a:avLst/>
          </a:prstGeom>
          <a:noFill/>
          <a:ln cap="flat" cmpd="sng" w="9525">
            <a:solidFill>
              <a:schemeClr val="accent1"/>
            </a:solidFill>
            <a:prstDash val="solid"/>
            <a:round/>
            <a:headEnd len="med" w="med" type="none"/>
            <a:tailEnd len="med" w="med" type="none"/>
          </a:ln>
        </p:spPr>
      </p:cxnSp>
      <p:cxnSp>
        <p:nvCxnSpPr>
          <p:cNvPr id="85" name="Google Shape;85;p7"/>
          <p:cNvCxnSpPr>
            <a:stCxn id="82" idx="7"/>
            <a:endCxn id="83" idx="3"/>
          </p:cNvCxnSpPr>
          <p:nvPr/>
        </p:nvCxnSpPr>
        <p:spPr>
          <a:xfrm flipH="1" rot="10800000">
            <a:off x="8323296" y="597279"/>
            <a:ext cx="512400" cy="608100"/>
          </a:xfrm>
          <a:prstGeom prst="straightConnector1">
            <a:avLst/>
          </a:prstGeom>
          <a:noFill/>
          <a:ln cap="flat" cmpd="sng" w="9525">
            <a:solidFill>
              <a:schemeClr val="accent1"/>
            </a:solidFill>
            <a:prstDash val="solid"/>
            <a:round/>
            <a:headEnd len="med" w="med" type="none"/>
            <a:tailEnd len="med" w="med" type="none"/>
          </a:ln>
        </p:spPr>
      </p:cxnSp>
      <p:sp>
        <p:nvSpPr>
          <p:cNvPr id="86" name="Google Shape;86;p7"/>
          <p:cNvSpPr/>
          <p:nvPr>
            <p:ph idx="2" type="pic"/>
          </p:nvPr>
        </p:nvSpPr>
        <p:spPr>
          <a:xfrm>
            <a:off x="0" y="0"/>
            <a:ext cx="3558000" cy="5143500"/>
          </a:xfrm>
          <a:prstGeom prst="rect">
            <a:avLst/>
          </a:prstGeom>
          <a:noFill/>
          <a:ln>
            <a:noFill/>
          </a:ln>
        </p:spPr>
      </p:sp>
      <p:sp>
        <p:nvSpPr>
          <p:cNvPr id="87" name="Google Shape;87;p7"/>
          <p:cNvSpPr/>
          <p:nvPr>
            <p:ph idx="3" type="pic"/>
          </p:nvPr>
        </p:nvSpPr>
        <p:spPr>
          <a:xfrm>
            <a:off x="3690375" y="0"/>
            <a:ext cx="1873200" cy="2810700"/>
          </a:xfrm>
          <a:prstGeom prst="rect">
            <a:avLst/>
          </a:prstGeom>
          <a:noFill/>
          <a:ln>
            <a:noFill/>
          </a:ln>
        </p:spPr>
      </p:sp>
      <p:sp>
        <p:nvSpPr>
          <p:cNvPr id="88" name="Google Shape;88;p7"/>
          <p:cNvSpPr/>
          <p:nvPr>
            <p:ph idx="4" type="pic"/>
          </p:nvPr>
        </p:nvSpPr>
        <p:spPr>
          <a:xfrm>
            <a:off x="3690375" y="2972925"/>
            <a:ext cx="5453700" cy="2170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sp>
        <p:nvSpPr>
          <p:cNvPr id="90" name="Google Shape;90;p8"/>
          <p:cNvSpPr txBox="1"/>
          <p:nvPr>
            <p:ph type="title"/>
          </p:nvPr>
        </p:nvSpPr>
        <p:spPr>
          <a:xfrm>
            <a:off x="1789200" y="919200"/>
            <a:ext cx="5565600" cy="1362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9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sp>
        <p:nvSpPr>
          <p:cNvPr id="92" name="Google Shape;92;p9"/>
          <p:cNvSpPr txBox="1"/>
          <p:nvPr>
            <p:ph type="title"/>
          </p:nvPr>
        </p:nvSpPr>
        <p:spPr>
          <a:xfrm>
            <a:off x="1062900" y="1566888"/>
            <a:ext cx="3771900" cy="1018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600"/>
              <a:buNone/>
              <a:defRPr sz="5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3" name="Google Shape;93;p9"/>
          <p:cNvSpPr txBox="1"/>
          <p:nvPr>
            <p:ph idx="1" type="subTitle"/>
          </p:nvPr>
        </p:nvSpPr>
        <p:spPr>
          <a:xfrm>
            <a:off x="1063050" y="2480413"/>
            <a:ext cx="3771900" cy="109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 name="Google Shape;94;p9"/>
          <p:cNvSpPr/>
          <p:nvPr/>
        </p:nvSpPr>
        <p:spPr>
          <a:xfrm>
            <a:off x="491550" y="19827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a:off x="417625" y="8683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a:off x="8363250" y="18636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8484750" y="42428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8" name="Shape 98"/>
        <p:cNvGrpSpPr/>
        <p:nvPr/>
      </p:nvGrpSpPr>
      <p:grpSpPr>
        <a:xfrm>
          <a:off x="0" y="0"/>
          <a:ext cx="0" cy="0"/>
          <a:chOff x="0" y="0"/>
          <a:chExt cx="0" cy="0"/>
        </a:xfrm>
      </p:grpSpPr>
      <p:sp>
        <p:nvSpPr>
          <p:cNvPr id="99" name="Google Shape;99;p10"/>
          <p:cNvSpPr txBox="1"/>
          <p:nvPr>
            <p:ph type="title"/>
          </p:nvPr>
        </p:nvSpPr>
        <p:spPr>
          <a:xfrm>
            <a:off x="720000" y="4000500"/>
            <a:ext cx="7704000" cy="603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11"/>
          <p:cNvSpPr txBox="1"/>
          <p:nvPr>
            <p:ph hasCustomPrompt="1" type="title"/>
          </p:nvPr>
        </p:nvSpPr>
        <p:spPr>
          <a:xfrm rot="350">
            <a:off x="1625221" y="1694478"/>
            <a:ext cx="5893500" cy="15111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 name="Google Shape;102;p11"/>
          <p:cNvSpPr txBox="1"/>
          <p:nvPr>
            <p:ph idx="1" type="subTitle"/>
          </p:nvPr>
        </p:nvSpPr>
        <p:spPr>
          <a:xfrm>
            <a:off x="2458275" y="3176113"/>
            <a:ext cx="4227300" cy="4404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03" name="Shape 10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4" name="Shape 104"/>
        <p:cNvGrpSpPr/>
        <p:nvPr/>
      </p:nvGrpSpPr>
      <p:grpSpPr>
        <a:xfrm>
          <a:off x="0" y="0"/>
          <a:ext cx="0" cy="0"/>
          <a:chOff x="0" y="0"/>
          <a:chExt cx="0" cy="0"/>
        </a:xfrm>
      </p:grpSpPr>
      <p:sp>
        <p:nvSpPr>
          <p:cNvPr id="105" name="Google Shape;105;p13"/>
          <p:cNvSpPr txBox="1"/>
          <p:nvPr>
            <p:ph type="title"/>
          </p:nvPr>
        </p:nvSpPr>
        <p:spPr>
          <a:xfrm>
            <a:off x="1724719" y="1474175"/>
            <a:ext cx="2733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06" name="Google Shape;106;p13"/>
          <p:cNvSpPr txBox="1"/>
          <p:nvPr>
            <p:ph hasCustomPrompt="1" idx="2" type="title"/>
          </p:nvPr>
        </p:nvSpPr>
        <p:spPr>
          <a:xfrm rot="4011">
            <a:off x="4829933" y="2659513"/>
            <a:ext cx="514200" cy="593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07" name="Google Shape;107;p13"/>
          <p:cNvSpPr txBox="1"/>
          <p:nvPr>
            <p:ph hasCustomPrompt="1" idx="3" type="title"/>
          </p:nvPr>
        </p:nvSpPr>
        <p:spPr>
          <a:xfrm>
            <a:off x="4829916" y="3823126"/>
            <a:ext cx="5142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08" name="Google Shape;108;p13"/>
          <p:cNvSpPr txBox="1"/>
          <p:nvPr>
            <p:ph hasCustomPrompt="1" idx="4" type="title"/>
          </p:nvPr>
        </p:nvSpPr>
        <p:spPr>
          <a:xfrm>
            <a:off x="898226" y="2659663"/>
            <a:ext cx="5142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09" name="Google Shape;109;p13"/>
          <p:cNvSpPr txBox="1"/>
          <p:nvPr>
            <p:ph idx="5" type="title"/>
          </p:nvPr>
        </p:nvSpPr>
        <p:spPr>
          <a:xfrm>
            <a:off x="1724719" y="2637764"/>
            <a:ext cx="2733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10" name="Google Shape;110;p13"/>
          <p:cNvSpPr txBox="1"/>
          <p:nvPr>
            <p:ph idx="6" type="title"/>
          </p:nvPr>
        </p:nvSpPr>
        <p:spPr>
          <a:xfrm>
            <a:off x="1724719" y="3808677"/>
            <a:ext cx="2733600" cy="640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11" name="Google Shape;111;p13"/>
          <p:cNvSpPr txBox="1"/>
          <p:nvPr>
            <p:ph idx="7" type="title"/>
          </p:nvPr>
        </p:nvSpPr>
        <p:spPr>
          <a:xfrm>
            <a:off x="5658576" y="3801352"/>
            <a:ext cx="2732100" cy="637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2" name="Google Shape;112;p13"/>
          <p:cNvSpPr txBox="1"/>
          <p:nvPr>
            <p:ph idx="8" type="title"/>
          </p:nvPr>
        </p:nvSpPr>
        <p:spPr>
          <a:xfrm>
            <a:off x="5658576" y="2637764"/>
            <a:ext cx="2732100" cy="637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3" name="Google Shape;113;p13"/>
          <p:cNvSpPr txBox="1"/>
          <p:nvPr>
            <p:ph idx="9" type="title"/>
          </p:nvPr>
        </p:nvSpPr>
        <p:spPr>
          <a:xfrm>
            <a:off x="5658576" y="1474175"/>
            <a:ext cx="2732100" cy="6372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4" name="Google Shape;114;p13"/>
          <p:cNvSpPr txBox="1"/>
          <p:nvPr>
            <p:ph hasCustomPrompt="1" idx="13" type="title"/>
          </p:nvPr>
        </p:nvSpPr>
        <p:spPr>
          <a:xfrm rot="4009">
            <a:off x="4829765" y="1496234"/>
            <a:ext cx="514500" cy="593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5" name="Google Shape;115;p13"/>
          <p:cNvSpPr txBox="1"/>
          <p:nvPr>
            <p:ph hasCustomPrompt="1" idx="14" type="title"/>
          </p:nvPr>
        </p:nvSpPr>
        <p:spPr>
          <a:xfrm rot="2006">
            <a:off x="898222" y="1496075"/>
            <a:ext cx="5142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6" name="Google Shape;116;p13"/>
          <p:cNvSpPr txBox="1"/>
          <p:nvPr>
            <p:ph hasCustomPrompt="1" idx="15" type="title"/>
          </p:nvPr>
        </p:nvSpPr>
        <p:spPr>
          <a:xfrm rot="2005">
            <a:off x="898081" y="3823264"/>
            <a:ext cx="5145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7" name="Google Shape;117;p13"/>
          <p:cNvSpPr txBox="1"/>
          <p:nvPr>
            <p:ph idx="16"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18" name="Google Shape;118;p13"/>
          <p:cNvSpPr/>
          <p:nvPr/>
        </p:nvSpPr>
        <p:spPr>
          <a:xfrm>
            <a:off x="659250" y="48026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277375" y="4279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8498050" y="33564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8263275" y="40981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8725500" y="46056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 name="Google Shape;123;p13"/>
          <p:cNvCxnSpPr>
            <a:stCxn id="122" idx="1"/>
            <a:endCxn id="121" idx="5"/>
          </p:cNvCxnSpPr>
          <p:nvPr/>
        </p:nvCxnSpPr>
        <p:spPr>
          <a:xfrm rot="10800000">
            <a:off x="8320741" y="4155616"/>
            <a:ext cx="414600" cy="459900"/>
          </a:xfrm>
          <a:prstGeom prst="straightConnector1">
            <a:avLst/>
          </a:prstGeom>
          <a:noFill/>
          <a:ln cap="flat" cmpd="sng" w="9525">
            <a:solidFill>
              <a:schemeClr val="accent1"/>
            </a:solidFill>
            <a:prstDash val="solid"/>
            <a:round/>
            <a:headEnd len="med" w="med" type="none"/>
            <a:tailEnd len="med" w="med" type="none"/>
          </a:ln>
        </p:spPr>
      </p:cxnSp>
      <p:sp>
        <p:nvSpPr>
          <p:cNvPr id="124" name="Google Shape;124;p13"/>
          <p:cNvSpPr/>
          <p:nvPr/>
        </p:nvSpPr>
        <p:spPr>
          <a:xfrm flipH="1">
            <a:off x="8171325" y="2993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25" name="Shape 125"/>
        <p:cNvGrpSpPr/>
        <p:nvPr/>
      </p:nvGrpSpPr>
      <p:grpSpPr>
        <a:xfrm>
          <a:off x="0" y="0"/>
          <a:ext cx="0" cy="0"/>
          <a:chOff x="0" y="0"/>
          <a:chExt cx="0" cy="0"/>
        </a:xfrm>
      </p:grpSpPr>
      <p:sp>
        <p:nvSpPr>
          <p:cNvPr id="126" name="Google Shape;126;p1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27" name="Google Shape;127;p14"/>
          <p:cNvSpPr/>
          <p:nvPr/>
        </p:nvSpPr>
        <p:spPr>
          <a:xfrm>
            <a:off x="303950" y="45427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1057275" y="48273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 name="Google Shape;129;p14"/>
          <p:cNvCxnSpPr>
            <a:stCxn id="127" idx="5"/>
            <a:endCxn id="128" idx="2"/>
          </p:cNvCxnSpPr>
          <p:nvPr/>
        </p:nvCxnSpPr>
        <p:spPr>
          <a:xfrm>
            <a:off x="407657" y="4646457"/>
            <a:ext cx="649500" cy="21450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14"/>
          <p:cNvSpPr/>
          <p:nvPr/>
        </p:nvSpPr>
        <p:spPr>
          <a:xfrm>
            <a:off x="6452325" y="267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31" name="Shape 131"/>
        <p:cNvGrpSpPr/>
        <p:nvPr/>
      </p:nvGrpSpPr>
      <p:grpSpPr>
        <a:xfrm>
          <a:off x="0" y="0"/>
          <a:ext cx="0" cy="0"/>
          <a:chOff x="0" y="0"/>
          <a:chExt cx="0" cy="0"/>
        </a:xfrm>
      </p:grpSpPr>
      <p:sp>
        <p:nvSpPr>
          <p:cNvPr id="132" name="Google Shape;132;p1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33" name="Google Shape;133;p15"/>
          <p:cNvSpPr/>
          <p:nvPr/>
        </p:nvSpPr>
        <p:spPr>
          <a:xfrm>
            <a:off x="659250" y="48026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5"/>
          <p:cNvSpPr/>
          <p:nvPr/>
        </p:nvSpPr>
        <p:spPr>
          <a:xfrm>
            <a:off x="277375" y="4279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p:nvPr/>
        </p:nvSpPr>
        <p:spPr>
          <a:xfrm flipH="1">
            <a:off x="8543325" y="1534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5"/>
          <p:cNvSpPr/>
          <p:nvPr/>
        </p:nvSpPr>
        <p:spPr>
          <a:xfrm flipH="1">
            <a:off x="8390400" y="6994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37" name="Shape 137"/>
        <p:cNvGrpSpPr/>
        <p:nvPr/>
      </p:nvGrpSpPr>
      <p:grpSpPr>
        <a:xfrm>
          <a:off x="0" y="0"/>
          <a:ext cx="0" cy="0"/>
          <a:chOff x="0" y="0"/>
          <a:chExt cx="0" cy="0"/>
        </a:xfrm>
      </p:grpSpPr>
      <p:sp>
        <p:nvSpPr>
          <p:cNvPr id="138" name="Google Shape;138;p16"/>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39" name="Google Shape;139;p16"/>
          <p:cNvSpPr/>
          <p:nvPr/>
        </p:nvSpPr>
        <p:spPr>
          <a:xfrm flipH="1" rot="-916654">
            <a:off x="8852969" y="1701380"/>
            <a:ext cx="67174" cy="67174"/>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flipH="1" rot="-916654">
            <a:off x="8841560" y="939009"/>
            <a:ext cx="67174" cy="67174"/>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flipH="1">
            <a:off x="1641675" y="48301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6"/>
          <p:cNvSpPr/>
          <p:nvPr/>
        </p:nvSpPr>
        <p:spPr>
          <a:xfrm flipH="1">
            <a:off x="225800" y="48030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 name="Google Shape;143;p16"/>
          <p:cNvCxnSpPr>
            <a:stCxn id="142" idx="2"/>
            <a:endCxn id="141" idx="6"/>
          </p:cNvCxnSpPr>
          <p:nvPr/>
        </p:nvCxnSpPr>
        <p:spPr>
          <a:xfrm>
            <a:off x="347300" y="4863775"/>
            <a:ext cx="12945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44" name="Shape 144"/>
        <p:cNvGrpSpPr/>
        <p:nvPr/>
      </p:nvGrpSpPr>
      <p:grpSpPr>
        <a:xfrm>
          <a:off x="0" y="0"/>
          <a:ext cx="0" cy="0"/>
          <a:chOff x="0" y="0"/>
          <a:chExt cx="0" cy="0"/>
        </a:xfrm>
      </p:grpSpPr>
      <p:sp>
        <p:nvSpPr>
          <p:cNvPr id="145" name="Google Shape;145;p17"/>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46" name="Google Shape;146;p17"/>
          <p:cNvSpPr/>
          <p:nvPr/>
        </p:nvSpPr>
        <p:spPr>
          <a:xfrm>
            <a:off x="369350" y="3687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396500" y="47819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 name="Google Shape;148;p17"/>
          <p:cNvCxnSpPr>
            <a:stCxn id="147" idx="0"/>
            <a:endCxn id="146" idx="4"/>
          </p:cNvCxnSpPr>
          <p:nvPr/>
        </p:nvCxnSpPr>
        <p:spPr>
          <a:xfrm rot="10800000">
            <a:off x="430100" y="3808475"/>
            <a:ext cx="0" cy="973500"/>
          </a:xfrm>
          <a:prstGeom prst="straightConnector1">
            <a:avLst/>
          </a:prstGeom>
          <a:noFill/>
          <a:ln cap="flat" cmpd="sng" w="9525">
            <a:solidFill>
              <a:schemeClr val="accent1"/>
            </a:solidFill>
            <a:prstDash val="solid"/>
            <a:round/>
            <a:headEnd len="med" w="med" type="none"/>
            <a:tailEnd len="med" w="med" type="none"/>
          </a:ln>
        </p:spPr>
      </p:cxnSp>
      <p:sp>
        <p:nvSpPr>
          <p:cNvPr id="149" name="Google Shape;149;p17"/>
          <p:cNvSpPr/>
          <p:nvPr/>
        </p:nvSpPr>
        <p:spPr>
          <a:xfrm>
            <a:off x="8627525" y="12337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7"/>
          <p:cNvSpPr/>
          <p:nvPr/>
        </p:nvSpPr>
        <p:spPr>
          <a:xfrm>
            <a:off x="8371975" y="21911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51" name="Shape 151"/>
        <p:cNvGrpSpPr/>
        <p:nvPr/>
      </p:nvGrpSpPr>
      <p:grpSpPr>
        <a:xfrm>
          <a:off x="0" y="0"/>
          <a:ext cx="0" cy="0"/>
          <a:chOff x="0" y="0"/>
          <a:chExt cx="0" cy="0"/>
        </a:xfrm>
      </p:grpSpPr>
      <p:sp>
        <p:nvSpPr>
          <p:cNvPr id="152" name="Google Shape;152;p18"/>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53" name="Google Shape;153;p18"/>
          <p:cNvSpPr/>
          <p:nvPr/>
        </p:nvSpPr>
        <p:spPr>
          <a:xfrm>
            <a:off x="8712375" y="18501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8739525" y="9513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 name="Google Shape;155;p18"/>
          <p:cNvGrpSpPr/>
          <p:nvPr/>
        </p:nvGrpSpPr>
        <p:grpSpPr>
          <a:xfrm rot="4570332">
            <a:off x="31030" y="330746"/>
            <a:ext cx="830000" cy="714386"/>
            <a:chOff x="7864625" y="364925"/>
            <a:chExt cx="830016" cy="714400"/>
          </a:xfrm>
        </p:grpSpPr>
        <p:cxnSp>
          <p:nvCxnSpPr>
            <p:cNvPr id="156" name="Google Shape;156;p18"/>
            <p:cNvCxnSpPr>
              <a:stCxn id="157" idx="1"/>
              <a:endCxn id="158" idx="5"/>
            </p:cNvCxnSpPr>
            <p:nvPr/>
          </p:nvCxnSpPr>
          <p:spPr>
            <a:xfrm flipH="1" rot="6229200">
              <a:off x="8092660" y="371374"/>
              <a:ext cx="385562" cy="747985"/>
            </a:xfrm>
            <a:prstGeom prst="straightConnector1">
              <a:avLst/>
            </a:prstGeom>
            <a:noFill/>
            <a:ln cap="flat" cmpd="sng" w="9525">
              <a:solidFill>
                <a:schemeClr val="accent1"/>
              </a:solidFill>
              <a:prstDash val="solid"/>
              <a:round/>
              <a:headEnd len="med" w="med" type="none"/>
              <a:tailEnd len="med" w="med" type="none"/>
            </a:ln>
          </p:spPr>
        </p:cxnSp>
        <p:sp>
          <p:nvSpPr>
            <p:cNvPr id="157" name="Google Shape;157;p18"/>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159" name="Shape 159"/>
        <p:cNvGrpSpPr/>
        <p:nvPr/>
      </p:nvGrpSpPr>
      <p:grpSpPr>
        <a:xfrm>
          <a:off x="0" y="0"/>
          <a:ext cx="0" cy="0"/>
          <a:chOff x="0" y="0"/>
          <a:chExt cx="0" cy="0"/>
        </a:xfrm>
      </p:grpSpPr>
      <p:sp>
        <p:nvSpPr>
          <p:cNvPr id="160" name="Google Shape;160;p19"/>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61" name="Google Shape;161;p19"/>
          <p:cNvSpPr/>
          <p:nvPr/>
        </p:nvSpPr>
        <p:spPr>
          <a:xfrm>
            <a:off x="8549375" y="3869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a:off x="825125" y="322313"/>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p:nvPr/>
        </p:nvSpPr>
        <p:spPr>
          <a:xfrm>
            <a:off x="305125" y="7605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332275" y="44285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825125" y="481403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TITLE_ONLY_7">
    <p:spTree>
      <p:nvGrpSpPr>
        <p:cNvPr id="166" name="Shape 166"/>
        <p:cNvGrpSpPr/>
        <p:nvPr/>
      </p:nvGrpSpPr>
      <p:grpSpPr>
        <a:xfrm>
          <a:off x="0" y="0"/>
          <a:ext cx="0" cy="0"/>
          <a:chOff x="0" y="0"/>
          <a:chExt cx="0" cy="0"/>
        </a:xfrm>
      </p:grpSpPr>
      <p:sp>
        <p:nvSpPr>
          <p:cNvPr id="167" name="Google Shape;167;p20"/>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68" name="Google Shape;168;p20"/>
          <p:cNvSpPr/>
          <p:nvPr/>
        </p:nvSpPr>
        <p:spPr>
          <a:xfrm>
            <a:off x="652800" y="5064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179600" y="16243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p:nvPr/>
        </p:nvSpPr>
        <p:spPr>
          <a:xfrm>
            <a:off x="8745475" y="19482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MAIN_POINT_1">
    <p:spTree>
      <p:nvGrpSpPr>
        <p:cNvPr id="171" name="Shape 171"/>
        <p:cNvGrpSpPr/>
        <p:nvPr/>
      </p:nvGrpSpPr>
      <p:grpSpPr>
        <a:xfrm>
          <a:off x="0" y="0"/>
          <a:ext cx="0" cy="0"/>
          <a:chOff x="0" y="0"/>
          <a:chExt cx="0" cy="0"/>
        </a:xfrm>
      </p:grpSpPr>
      <p:sp>
        <p:nvSpPr>
          <p:cNvPr id="172" name="Google Shape;172;p21"/>
          <p:cNvSpPr txBox="1"/>
          <p:nvPr>
            <p:ph type="title"/>
          </p:nvPr>
        </p:nvSpPr>
        <p:spPr>
          <a:xfrm>
            <a:off x="5057775" y="1106850"/>
            <a:ext cx="3107700" cy="11115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73" name="Google Shape;173;p21"/>
          <p:cNvSpPr txBox="1"/>
          <p:nvPr>
            <p:ph idx="1" type="subTitle"/>
          </p:nvPr>
        </p:nvSpPr>
        <p:spPr>
          <a:xfrm rot="-332">
            <a:off x="5057825" y="2218498"/>
            <a:ext cx="3107700" cy="18180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accent3"/>
              </a:buClr>
              <a:buSzPts val="1400"/>
              <a:buChar char="●"/>
              <a:defRPr sz="1200"/>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74" name="Google Shape;174;p21"/>
          <p:cNvSpPr/>
          <p:nvPr>
            <p:ph idx="2" type="pic"/>
          </p:nvPr>
        </p:nvSpPr>
        <p:spPr>
          <a:xfrm>
            <a:off x="0" y="0"/>
            <a:ext cx="4572000" cy="5143500"/>
          </a:xfrm>
          <a:prstGeom prst="rect">
            <a:avLst/>
          </a:prstGeom>
          <a:noFill/>
          <a:ln>
            <a:noFill/>
          </a:ln>
        </p:spPr>
      </p:sp>
      <p:sp>
        <p:nvSpPr>
          <p:cNvPr id="175" name="Google Shape;175;p21"/>
          <p:cNvSpPr/>
          <p:nvPr/>
        </p:nvSpPr>
        <p:spPr>
          <a:xfrm>
            <a:off x="5492275" y="1994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MAIN_POINT_1_1">
    <p:spTree>
      <p:nvGrpSpPr>
        <p:cNvPr id="176" name="Shape 176"/>
        <p:cNvGrpSpPr/>
        <p:nvPr/>
      </p:nvGrpSpPr>
      <p:grpSpPr>
        <a:xfrm>
          <a:off x="0" y="0"/>
          <a:ext cx="0" cy="0"/>
          <a:chOff x="0" y="0"/>
          <a:chExt cx="0" cy="0"/>
        </a:xfrm>
      </p:grpSpPr>
      <p:sp>
        <p:nvSpPr>
          <p:cNvPr id="177" name="Google Shape;177;p22"/>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1pPr>
            <a:lvl2pPr lvl="1"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2pPr>
            <a:lvl3pPr lvl="2"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3pPr>
            <a:lvl4pPr lvl="3"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4pPr>
            <a:lvl5pPr lvl="4"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5pPr>
            <a:lvl6pPr lvl="5"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6pPr>
            <a:lvl7pPr lvl="6"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7pPr>
            <a:lvl8pPr lvl="7"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8pPr>
            <a:lvl9pPr lvl="8"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9pPr>
          </a:lstStyle>
          <a:p/>
        </p:txBody>
      </p:sp>
      <p:sp>
        <p:nvSpPr>
          <p:cNvPr id="178" name="Google Shape;178;p22"/>
          <p:cNvSpPr txBox="1"/>
          <p:nvPr>
            <p:ph idx="1" type="body"/>
          </p:nvPr>
        </p:nvSpPr>
        <p:spPr>
          <a:xfrm>
            <a:off x="720000" y="1237083"/>
            <a:ext cx="7704000" cy="3366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Raleway"/>
              <a:buChar char="●"/>
              <a:defRPr sz="1200">
                <a:solidFill>
                  <a:schemeClr val="dk1"/>
                </a:solidFill>
                <a:latin typeface="Raleway"/>
                <a:ea typeface="Raleway"/>
                <a:cs typeface="Raleway"/>
                <a:sym typeface="Raleway"/>
              </a:defRPr>
            </a:lvl1pPr>
            <a:lvl2pPr indent="-317500" lvl="1" marL="914400" rtl="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rtl="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rtl="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p:txBody>
      </p:sp>
      <p:sp>
        <p:nvSpPr>
          <p:cNvPr id="179" name="Google Shape;179;p22"/>
          <p:cNvSpPr/>
          <p:nvPr/>
        </p:nvSpPr>
        <p:spPr>
          <a:xfrm flipH="1">
            <a:off x="6870275" y="47857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p:nvPr/>
        </p:nvSpPr>
        <p:spPr>
          <a:xfrm flipH="1">
            <a:off x="3508025" y="4752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2"/>
          <p:cNvSpPr/>
          <p:nvPr/>
        </p:nvSpPr>
        <p:spPr>
          <a:xfrm flipH="1">
            <a:off x="389675" y="45699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2"/>
          <p:cNvSpPr/>
          <p:nvPr/>
        </p:nvSpPr>
        <p:spPr>
          <a:xfrm flipH="1">
            <a:off x="2092150" y="4725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3" name="Google Shape;183;p22"/>
          <p:cNvCxnSpPr>
            <a:stCxn id="182" idx="2"/>
            <a:endCxn id="180" idx="6"/>
          </p:cNvCxnSpPr>
          <p:nvPr/>
        </p:nvCxnSpPr>
        <p:spPr>
          <a:xfrm>
            <a:off x="2213650" y="4785750"/>
            <a:ext cx="1294500" cy="0"/>
          </a:xfrm>
          <a:prstGeom prst="straightConnector1">
            <a:avLst/>
          </a:prstGeom>
          <a:noFill/>
          <a:ln cap="flat" cmpd="sng" w="9525">
            <a:solidFill>
              <a:schemeClr val="accent1"/>
            </a:solidFill>
            <a:prstDash val="solid"/>
            <a:round/>
            <a:headEnd len="med" w="med" type="none"/>
            <a:tailEnd len="med" w="med" type="none"/>
          </a:ln>
        </p:spPr>
      </p:cxnSp>
      <p:grpSp>
        <p:nvGrpSpPr>
          <p:cNvPr id="184" name="Google Shape;184;p22"/>
          <p:cNvGrpSpPr/>
          <p:nvPr/>
        </p:nvGrpSpPr>
        <p:grpSpPr>
          <a:xfrm flipH="1">
            <a:off x="179600" y="246475"/>
            <a:ext cx="795275" cy="714400"/>
            <a:chOff x="7864625" y="364925"/>
            <a:chExt cx="795275" cy="714400"/>
          </a:xfrm>
        </p:grpSpPr>
        <p:cxnSp>
          <p:nvCxnSpPr>
            <p:cNvPr id="185" name="Google Shape;185;p22"/>
            <p:cNvCxnSpPr>
              <a:stCxn id="186" idx="1"/>
              <a:endCxn id="187"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186" name="Google Shape;186;p22"/>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2"/>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88" name="Shape 188"/>
        <p:cNvGrpSpPr/>
        <p:nvPr/>
      </p:nvGrpSpPr>
      <p:grpSpPr>
        <a:xfrm>
          <a:off x="0" y="0"/>
          <a:ext cx="0" cy="0"/>
          <a:chOff x="0" y="0"/>
          <a:chExt cx="0" cy="0"/>
        </a:xfrm>
      </p:grpSpPr>
      <p:sp>
        <p:nvSpPr>
          <p:cNvPr id="189" name="Google Shape;189;p23"/>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190" name="Google Shape;190;p23"/>
          <p:cNvSpPr txBox="1"/>
          <p:nvPr>
            <p:ph idx="2" type="title"/>
          </p:nvPr>
        </p:nvSpPr>
        <p:spPr>
          <a:xfrm>
            <a:off x="720000" y="2020213"/>
            <a:ext cx="23364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1" name="Google Shape;191;p23"/>
          <p:cNvSpPr txBox="1"/>
          <p:nvPr>
            <p:ph idx="1" type="subTitle"/>
          </p:nvPr>
        </p:nvSpPr>
        <p:spPr>
          <a:xfrm>
            <a:off x="720000" y="2473275"/>
            <a:ext cx="2340900" cy="123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2" name="Google Shape;192;p23"/>
          <p:cNvSpPr txBox="1"/>
          <p:nvPr>
            <p:ph idx="3" type="title"/>
          </p:nvPr>
        </p:nvSpPr>
        <p:spPr>
          <a:xfrm>
            <a:off x="3409639" y="2020213"/>
            <a:ext cx="23364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3" name="Google Shape;193;p23"/>
          <p:cNvSpPr txBox="1"/>
          <p:nvPr>
            <p:ph idx="4" type="subTitle"/>
          </p:nvPr>
        </p:nvSpPr>
        <p:spPr>
          <a:xfrm>
            <a:off x="3407389" y="2473275"/>
            <a:ext cx="2340900" cy="123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4" name="Google Shape;194;p23"/>
          <p:cNvSpPr txBox="1"/>
          <p:nvPr>
            <p:ph idx="5" type="title"/>
          </p:nvPr>
        </p:nvSpPr>
        <p:spPr>
          <a:xfrm>
            <a:off x="6087650" y="2020213"/>
            <a:ext cx="23364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5" name="Google Shape;195;p23"/>
          <p:cNvSpPr txBox="1"/>
          <p:nvPr>
            <p:ph idx="6" type="subTitle"/>
          </p:nvPr>
        </p:nvSpPr>
        <p:spPr>
          <a:xfrm>
            <a:off x="6083150" y="2473275"/>
            <a:ext cx="2340900" cy="123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6" name="Google Shape;196;p23"/>
          <p:cNvSpPr/>
          <p:nvPr/>
        </p:nvSpPr>
        <p:spPr>
          <a:xfrm>
            <a:off x="7820025" y="4201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a:off x="8598950" y="15915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a:off x="6910725" y="45699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a:off x="5321475" y="46371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a:off x="369350" y="3687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p:nvPr/>
        </p:nvSpPr>
        <p:spPr>
          <a:xfrm>
            <a:off x="396500" y="47819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2" name="Google Shape;202;p23"/>
          <p:cNvCxnSpPr>
            <a:stCxn id="201" idx="0"/>
            <a:endCxn id="200" idx="4"/>
          </p:cNvCxnSpPr>
          <p:nvPr/>
        </p:nvCxnSpPr>
        <p:spPr>
          <a:xfrm rot="10800000">
            <a:off x="430100" y="3808475"/>
            <a:ext cx="0" cy="9735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03" name="Shape 203"/>
        <p:cNvGrpSpPr/>
        <p:nvPr/>
      </p:nvGrpSpPr>
      <p:grpSpPr>
        <a:xfrm>
          <a:off x="0" y="0"/>
          <a:ext cx="0" cy="0"/>
          <a:chOff x="0" y="0"/>
          <a:chExt cx="0" cy="0"/>
        </a:xfrm>
      </p:grpSpPr>
      <p:sp>
        <p:nvSpPr>
          <p:cNvPr id="204" name="Google Shape;204;p2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05" name="Google Shape;205;p24"/>
          <p:cNvSpPr txBox="1"/>
          <p:nvPr>
            <p:ph idx="2" type="title"/>
          </p:nvPr>
        </p:nvSpPr>
        <p:spPr>
          <a:xfrm>
            <a:off x="1508800" y="1441800"/>
            <a:ext cx="2867100" cy="527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6" name="Google Shape;206;p24"/>
          <p:cNvSpPr txBox="1"/>
          <p:nvPr>
            <p:ph idx="1" type="subTitle"/>
          </p:nvPr>
        </p:nvSpPr>
        <p:spPr>
          <a:xfrm>
            <a:off x="1508813" y="1845675"/>
            <a:ext cx="2867100" cy="93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7" name="Google Shape;207;p24"/>
          <p:cNvSpPr txBox="1"/>
          <p:nvPr>
            <p:ph idx="3" type="title"/>
          </p:nvPr>
        </p:nvSpPr>
        <p:spPr>
          <a:xfrm>
            <a:off x="5294530" y="1441800"/>
            <a:ext cx="2867100" cy="527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8" name="Google Shape;208;p24"/>
          <p:cNvSpPr txBox="1"/>
          <p:nvPr>
            <p:ph idx="4" type="subTitle"/>
          </p:nvPr>
        </p:nvSpPr>
        <p:spPr>
          <a:xfrm>
            <a:off x="5294538" y="1845675"/>
            <a:ext cx="2867100" cy="93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9" name="Google Shape;209;p24"/>
          <p:cNvSpPr txBox="1"/>
          <p:nvPr>
            <p:ph idx="5" type="title"/>
          </p:nvPr>
        </p:nvSpPr>
        <p:spPr>
          <a:xfrm>
            <a:off x="1508788" y="3266925"/>
            <a:ext cx="2867100" cy="527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10" name="Google Shape;210;p24"/>
          <p:cNvSpPr txBox="1"/>
          <p:nvPr>
            <p:ph idx="6" type="subTitle"/>
          </p:nvPr>
        </p:nvSpPr>
        <p:spPr>
          <a:xfrm>
            <a:off x="1508813" y="3670800"/>
            <a:ext cx="2867100" cy="93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1" name="Google Shape;211;p24"/>
          <p:cNvSpPr txBox="1"/>
          <p:nvPr>
            <p:ph idx="7" type="title"/>
          </p:nvPr>
        </p:nvSpPr>
        <p:spPr>
          <a:xfrm>
            <a:off x="5294518" y="3266925"/>
            <a:ext cx="2867100" cy="527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12" name="Google Shape;212;p24"/>
          <p:cNvSpPr txBox="1"/>
          <p:nvPr>
            <p:ph idx="8" type="subTitle"/>
          </p:nvPr>
        </p:nvSpPr>
        <p:spPr>
          <a:xfrm>
            <a:off x="5294538" y="3670800"/>
            <a:ext cx="2867100" cy="93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3" name="Google Shape;213;p24"/>
          <p:cNvSpPr/>
          <p:nvPr/>
        </p:nvSpPr>
        <p:spPr>
          <a:xfrm>
            <a:off x="522988" y="2661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a:off x="255138" y="18926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24"/>
          <p:cNvGrpSpPr/>
          <p:nvPr/>
        </p:nvGrpSpPr>
        <p:grpSpPr>
          <a:xfrm>
            <a:off x="322350" y="4101900"/>
            <a:ext cx="795275" cy="714400"/>
            <a:chOff x="7864625" y="364925"/>
            <a:chExt cx="795275" cy="714400"/>
          </a:xfrm>
        </p:grpSpPr>
        <p:cxnSp>
          <p:nvCxnSpPr>
            <p:cNvPr id="216" name="Google Shape;216;p24"/>
            <p:cNvCxnSpPr>
              <a:stCxn id="217" idx="1"/>
              <a:endCxn id="218"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217" name="Google Shape;217;p24"/>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9" name="Google Shape;219;p24"/>
          <p:cNvSpPr/>
          <p:nvPr/>
        </p:nvSpPr>
        <p:spPr>
          <a:xfrm>
            <a:off x="8765300" y="30727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
          <p:cNvSpPr/>
          <p:nvPr/>
        </p:nvSpPr>
        <p:spPr>
          <a:xfrm>
            <a:off x="8552563" y="37946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21" name="Shape 221"/>
        <p:cNvGrpSpPr/>
        <p:nvPr/>
      </p:nvGrpSpPr>
      <p:grpSpPr>
        <a:xfrm>
          <a:off x="0" y="0"/>
          <a:ext cx="0" cy="0"/>
          <a:chOff x="0" y="0"/>
          <a:chExt cx="0" cy="0"/>
        </a:xfrm>
      </p:grpSpPr>
      <p:sp>
        <p:nvSpPr>
          <p:cNvPr id="222" name="Google Shape;222;p2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p:txBody>
      </p:sp>
      <p:sp>
        <p:nvSpPr>
          <p:cNvPr id="223" name="Google Shape;223;p25"/>
          <p:cNvSpPr txBox="1"/>
          <p:nvPr>
            <p:ph idx="2" type="title"/>
          </p:nvPr>
        </p:nvSpPr>
        <p:spPr>
          <a:xfrm>
            <a:off x="731175" y="1543050"/>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24" name="Google Shape;224;p25"/>
          <p:cNvSpPr txBox="1"/>
          <p:nvPr>
            <p:ph idx="1" type="subTitle"/>
          </p:nvPr>
        </p:nvSpPr>
        <p:spPr>
          <a:xfrm>
            <a:off x="731175" y="1916950"/>
            <a:ext cx="2301900" cy="9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5" name="Google Shape;225;p25"/>
          <p:cNvSpPr txBox="1"/>
          <p:nvPr>
            <p:ph idx="3" type="title"/>
          </p:nvPr>
        </p:nvSpPr>
        <p:spPr>
          <a:xfrm>
            <a:off x="3426647" y="1543050"/>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26" name="Google Shape;226;p25"/>
          <p:cNvSpPr txBox="1"/>
          <p:nvPr>
            <p:ph idx="4" type="subTitle"/>
          </p:nvPr>
        </p:nvSpPr>
        <p:spPr>
          <a:xfrm>
            <a:off x="3426647" y="1916950"/>
            <a:ext cx="2301900" cy="9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7" name="Google Shape;227;p25"/>
          <p:cNvSpPr txBox="1"/>
          <p:nvPr>
            <p:ph idx="5" type="title"/>
          </p:nvPr>
        </p:nvSpPr>
        <p:spPr>
          <a:xfrm>
            <a:off x="731175" y="3100775"/>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28" name="Google Shape;228;p25"/>
          <p:cNvSpPr txBox="1"/>
          <p:nvPr>
            <p:ph idx="6" type="subTitle"/>
          </p:nvPr>
        </p:nvSpPr>
        <p:spPr>
          <a:xfrm>
            <a:off x="731175" y="3473150"/>
            <a:ext cx="2301900" cy="90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9" name="Google Shape;229;p25"/>
          <p:cNvSpPr txBox="1"/>
          <p:nvPr>
            <p:ph idx="7" type="title"/>
          </p:nvPr>
        </p:nvSpPr>
        <p:spPr>
          <a:xfrm>
            <a:off x="3426647" y="3100775"/>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30" name="Google Shape;230;p25"/>
          <p:cNvSpPr txBox="1"/>
          <p:nvPr>
            <p:ph idx="8" type="subTitle"/>
          </p:nvPr>
        </p:nvSpPr>
        <p:spPr>
          <a:xfrm>
            <a:off x="3426647" y="3473150"/>
            <a:ext cx="2301900" cy="90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1" name="Google Shape;231;p25"/>
          <p:cNvSpPr txBox="1"/>
          <p:nvPr>
            <p:ph idx="9" type="title"/>
          </p:nvPr>
        </p:nvSpPr>
        <p:spPr>
          <a:xfrm>
            <a:off x="6122128" y="1543050"/>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32" name="Google Shape;232;p25"/>
          <p:cNvSpPr txBox="1"/>
          <p:nvPr>
            <p:ph idx="13" type="subTitle"/>
          </p:nvPr>
        </p:nvSpPr>
        <p:spPr>
          <a:xfrm>
            <a:off x="6122128" y="1916950"/>
            <a:ext cx="2301900" cy="90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3" name="Google Shape;233;p25"/>
          <p:cNvSpPr txBox="1"/>
          <p:nvPr>
            <p:ph idx="14" type="title"/>
          </p:nvPr>
        </p:nvSpPr>
        <p:spPr>
          <a:xfrm>
            <a:off x="6122128" y="3100775"/>
            <a:ext cx="2301900" cy="458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18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34" name="Google Shape;234;p25"/>
          <p:cNvSpPr txBox="1"/>
          <p:nvPr>
            <p:ph idx="15" type="subTitle"/>
          </p:nvPr>
        </p:nvSpPr>
        <p:spPr>
          <a:xfrm>
            <a:off x="6122128" y="3473150"/>
            <a:ext cx="2301900" cy="90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5" name="Google Shape;235;p25"/>
          <p:cNvSpPr/>
          <p:nvPr/>
        </p:nvSpPr>
        <p:spPr>
          <a:xfrm rot="-5766326">
            <a:off x="7579201" y="288144"/>
            <a:ext cx="121288" cy="121288"/>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5"/>
          <p:cNvSpPr/>
          <p:nvPr/>
        </p:nvSpPr>
        <p:spPr>
          <a:xfrm rot="-5077218">
            <a:off x="8777999" y="1107313"/>
            <a:ext cx="67196" cy="67196"/>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5"/>
          <p:cNvSpPr/>
          <p:nvPr/>
        </p:nvSpPr>
        <p:spPr>
          <a:xfrm>
            <a:off x="8549375" y="3869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 name="Google Shape;238;p25"/>
          <p:cNvCxnSpPr>
            <a:stCxn id="236" idx="7"/>
            <a:endCxn id="235" idx="3"/>
          </p:cNvCxnSpPr>
          <p:nvPr/>
        </p:nvCxnSpPr>
        <p:spPr>
          <a:xfrm rot="10800000">
            <a:off x="7687072" y="386930"/>
            <a:ext cx="1103100" cy="728100"/>
          </a:xfrm>
          <a:prstGeom prst="straightConnector1">
            <a:avLst/>
          </a:prstGeom>
          <a:noFill/>
          <a:ln cap="flat" cmpd="sng" w="9525">
            <a:solidFill>
              <a:schemeClr val="accent1"/>
            </a:solidFill>
            <a:prstDash val="solid"/>
            <a:round/>
            <a:headEnd len="med" w="med" type="none"/>
            <a:tailEnd len="med" w="med" type="none"/>
          </a:ln>
        </p:spPr>
      </p:cxnSp>
      <p:sp>
        <p:nvSpPr>
          <p:cNvPr id="239" name="Google Shape;239;p25"/>
          <p:cNvSpPr/>
          <p:nvPr/>
        </p:nvSpPr>
        <p:spPr>
          <a:xfrm>
            <a:off x="825125" y="322313"/>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305125" y="7605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a:off x="332275" y="44285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a:off x="825125" y="481403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43" name="Shape 243"/>
        <p:cNvGrpSpPr/>
        <p:nvPr/>
      </p:nvGrpSpPr>
      <p:grpSpPr>
        <a:xfrm>
          <a:off x="0" y="0"/>
          <a:ext cx="0" cy="0"/>
          <a:chOff x="0" y="0"/>
          <a:chExt cx="0" cy="0"/>
        </a:xfrm>
      </p:grpSpPr>
      <p:sp>
        <p:nvSpPr>
          <p:cNvPr id="244" name="Google Shape;244;p26"/>
          <p:cNvSpPr txBox="1"/>
          <p:nvPr>
            <p:ph hasCustomPrompt="1" type="title"/>
          </p:nvPr>
        </p:nvSpPr>
        <p:spPr>
          <a:xfrm rot="-294">
            <a:off x="4665274" y="940425"/>
            <a:ext cx="35079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45" name="Google Shape;245;p26"/>
          <p:cNvSpPr txBox="1"/>
          <p:nvPr>
            <p:ph idx="1" type="subTitle"/>
          </p:nvPr>
        </p:nvSpPr>
        <p:spPr>
          <a:xfrm>
            <a:off x="4665275" y="1855575"/>
            <a:ext cx="3507900" cy="35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6" name="Google Shape;246;p26"/>
          <p:cNvSpPr txBox="1"/>
          <p:nvPr>
            <p:ph hasCustomPrompt="1" idx="2" type="title"/>
          </p:nvPr>
        </p:nvSpPr>
        <p:spPr>
          <a:xfrm>
            <a:off x="4663626" y="3131325"/>
            <a:ext cx="35112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47" name="Google Shape;247;p26"/>
          <p:cNvSpPr txBox="1"/>
          <p:nvPr>
            <p:ph idx="3" type="subTitle"/>
          </p:nvPr>
        </p:nvSpPr>
        <p:spPr>
          <a:xfrm>
            <a:off x="4663613" y="4046325"/>
            <a:ext cx="3511200" cy="34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8" name="Google Shape;248;p26"/>
          <p:cNvSpPr txBox="1"/>
          <p:nvPr>
            <p:ph hasCustomPrompt="1" idx="4" type="title"/>
          </p:nvPr>
        </p:nvSpPr>
        <p:spPr>
          <a:xfrm rot="-294">
            <a:off x="972476" y="3131175"/>
            <a:ext cx="35079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solidFill>
                  <a:schemeClr val="accent6"/>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49" name="Google Shape;249;p26"/>
          <p:cNvSpPr txBox="1"/>
          <p:nvPr>
            <p:ph idx="5" type="subTitle"/>
          </p:nvPr>
        </p:nvSpPr>
        <p:spPr>
          <a:xfrm>
            <a:off x="970825" y="4046325"/>
            <a:ext cx="3511200" cy="34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2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0" name="Google Shape;250;p26"/>
          <p:cNvSpPr/>
          <p:nvPr/>
        </p:nvSpPr>
        <p:spPr>
          <a:xfrm>
            <a:off x="903613" y="4727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6"/>
          <p:cNvSpPr/>
          <p:nvPr/>
        </p:nvSpPr>
        <p:spPr>
          <a:xfrm>
            <a:off x="398563" y="2056113"/>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2" name="Google Shape;252;p26"/>
          <p:cNvCxnSpPr/>
          <p:nvPr/>
        </p:nvCxnSpPr>
        <p:spPr>
          <a:xfrm flipH="1">
            <a:off x="3417538" y="4362425"/>
            <a:ext cx="1294500" cy="50940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26"/>
          <p:cNvSpPr/>
          <p:nvPr/>
        </p:nvSpPr>
        <p:spPr>
          <a:xfrm>
            <a:off x="4712050" y="540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6"/>
          <p:cNvSpPr/>
          <p:nvPr/>
        </p:nvSpPr>
        <p:spPr>
          <a:xfrm>
            <a:off x="4663625" y="48718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a:off x="1187775" y="45699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a:off x="8581413" y="1855563"/>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57" name="Shape 257"/>
        <p:cNvGrpSpPr/>
        <p:nvPr/>
      </p:nvGrpSpPr>
      <p:grpSpPr>
        <a:xfrm>
          <a:off x="0" y="0"/>
          <a:ext cx="0" cy="0"/>
          <a:chOff x="0" y="0"/>
          <a:chExt cx="0" cy="0"/>
        </a:xfrm>
      </p:grpSpPr>
      <p:sp>
        <p:nvSpPr>
          <p:cNvPr id="258" name="Google Shape;258;p27"/>
          <p:cNvSpPr txBox="1"/>
          <p:nvPr>
            <p:ph type="ctrTitle"/>
          </p:nvPr>
        </p:nvSpPr>
        <p:spPr>
          <a:xfrm>
            <a:off x="720000" y="598200"/>
            <a:ext cx="3509100" cy="11265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5200"/>
              <a:buNone/>
              <a:defRPr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59" name="Google Shape;259;p27"/>
          <p:cNvSpPr txBox="1"/>
          <p:nvPr>
            <p:ph idx="1" type="subTitle"/>
          </p:nvPr>
        </p:nvSpPr>
        <p:spPr>
          <a:xfrm>
            <a:off x="720000" y="2265901"/>
            <a:ext cx="3509100" cy="108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a:solidFill>
                  <a:schemeClr val="dk1"/>
                </a:solidFill>
              </a:defRPr>
            </a:lvl1pPr>
            <a:lvl2pPr lvl="1" rtl="0" algn="ctr">
              <a:lnSpc>
                <a:spcPct val="100000"/>
              </a:lnSpc>
              <a:spcBef>
                <a:spcPts val="0"/>
              </a:spcBef>
              <a:spcAft>
                <a:spcPts val="0"/>
              </a:spcAft>
              <a:buClr>
                <a:schemeClr val="dk1"/>
              </a:buClr>
              <a:buSzPts val="1800"/>
              <a:buNone/>
              <a:defRPr sz="1800">
                <a:solidFill>
                  <a:schemeClr val="dk1"/>
                </a:solidFill>
              </a:defRPr>
            </a:lvl2pPr>
            <a:lvl3pPr lvl="2" rtl="0" algn="ctr">
              <a:lnSpc>
                <a:spcPct val="100000"/>
              </a:lnSpc>
              <a:spcBef>
                <a:spcPts val="0"/>
              </a:spcBef>
              <a:spcAft>
                <a:spcPts val="0"/>
              </a:spcAft>
              <a:buClr>
                <a:schemeClr val="dk1"/>
              </a:buClr>
              <a:buSzPts val="1800"/>
              <a:buNone/>
              <a:defRPr sz="1800">
                <a:solidFill>
                  <a:schemeClr val="dk1"/>
                </a:solidFill>
              </a:defRPr>
            </a:lvl3pPr>
            <a:lvl4pPr lvl="3" rtl="0" algn="ctr">
              <a:lnSpc>
                <a:spcPct val="100000"/>
              </a:lnSpc>
              <a:spcBef>
                <a:spcPts val="0"/>
              </a:spcBef>
              <a:spcAft>
                <a:spcPts val="0"/>
              </a:spcAft>
              <a:buClr>
                <a:schemeClr val="dk1"/>
              </a:buClr>
              <a:buSzPts val="1800"/>
              <a:buNone/>
              <a:defRPr sz="1800">
                <a:solidFill>
                  <a:schemeClr val="dk1"/>
                </a:solidFill>
              </a:defRPr>
            </a:lvl4pPr>
            <a:lvl5pPr lvl="4" rtl="0" algn="ctr">
              <a:lnSpc>
                <a:spcPct val="100000"/>
              </a:lnSpc>
              <a:spcBef>
                <a:spcPts val="0"/>
              </a:spcBef>
              <a:spcAft>
                <a:spcPts val="0"/>
              </a:spcAft>
              <a:buClr>
                <a:schemeClr val="dk1"/>
              </a:buClr>
              <a:buSzPts val="1800"/>
              <a:buNone/>
              <a:defRPr sz="1800">
                <a:solidFill>
                  <a:schemeClr val="dk1"/>
                </a:solidFill>
              </a:defRPr>
            </a:lvl5pPr>
            <a:lvl6pPr lvl="5" rtl="0" algn="ctr">
              <a:lnSpc>
                <a:spcPct val="100000"/>
              </a:lnSpc>
              <a:spcBef>
                <a:spcPts val="0"/>
              </a:spcBef>
              <a:spcAft>
                <a:spcPts val="0"/>
              </a:spcAft>
              <a:buClr>
                <a:schemeClr val="dk1"/>
              </a:buClr>
              <a:buSzPts val="1800"/>
              <a:buNone/>
              <a:defRPr sz="1800">
                <a:solidFill>
                  <a:schemeClr val="dk1"/>
                </a:solidFill>
              </a:defRPr>
            </a:lvl6pPr>
            <a:lvl7pPr lvl="6" rtl="0" algn="ctr">
              <a:lnSpc>
                <a:spcPct val="100000"/>
              </a:lnSpc>
              <a:spcBef>
                <a:spcPts val="0"/>
              </a:spcBef>
              <a:spcAft>
                <a:spcPts val="0"/>
              </a:spcAft>
              <a:buClr>
                <a:schemeClr val="dk1"/>
              </a:buClr>
              <a:buSzPts val="1800"/>
              <a:buNone/>
              <a:defRPr sz="1800">
                <a:solidFill>
                  <a:schemeClr val="dk1"/>
                </a:solidFill>
              </a:defRPr>
            </a:lvl7pPr>
            <a:lvl8pPr lvl="7" rtl="0" algn="ctr">
              <a:lnSpc>
                <a:spcPct val="100000"/>
              </a:lnSpc>
              <a:spcBef>
                <a:spcPts val="0"/>
              </a:spcBef>
              <a:spcAft>
                <a:spcPts val="0"/>
              </a:spcAft>
              <a:buClr>
                <a:schemeClr val="dk1"/>
              </a:buClr>
              <a:buSzPts val="1800"/>
              <a:buNone/>
              <a:defRPr sz="1800">
                <a:solidFill>
                  <a:schemeClr val="dk1"/>
                </a:solidFill>
              </a:defRPr>
            </a:lvl8pPr>
            <a:lvl9pPr lvl="8" rtl="0" algn="ctr">
              <a:lnSpc>
                <a:spcPct val="100000"/>
              </a:lnSpc>
              <a:spcBef>
                <a:spcPts val="0"/>
              </a:spcBef>
              <a:spcAft>
                <a:spcPts val="0"/>
              </a:spcAft>
              <a:buClr>
                <a:schemeClr val="dk1"/>
              </a:buClr>
              <a:buSzPts val="1800"/>
              <a:buNone/>
              <a:defRPr sz="1800">
                <a:solidFill>
                  <a:schemeClr val="dk1"/>
                </a:solidFill>
              </a:defRPr>
            </a:lvl9pPr>
          </a:lstStyle>
          <a:p/>
        </p:txBody>
      </p:sp>
      <p:sp>
        <p:nvSpPr>
          <p:cNvPr id="260" name="Google Shape;260;p27"/>
          <p:cNvSpPr txBox="1"/>
          <p:nvPr>
            <p:ph idx="2" type="subTitle"/>
          </p:nvPr>
        </p:nvSpPr>
        <p:spPr>
          <a:xfrm rot="-786">
            <a:off x="719999" y="4171796"/>
            <a:ext cx="2623200" cy="373200"/>
          </a:xfrm>
          <a:prstGeom prst="rect">
            <a:avLst/>
          </a:prstGeom>
          <a:noFill/>
          <a:ln>
            <a:noFill/>
          </a:ln>
        </p:spPr>
        <p:txBody>
          <a:bodyPr anchorCtr="0" anchor="t" bIns="91425" lIns="91425" spcFirstLastPara="1" rIns="91425" wrap="square" tIns="91425">
            <a:noAutofit/>
          </a:bodyPr>
          <a:lstStyle>
            <a:lvl1pPr lvl="0" rtl="0">
              <a:lnSpc>
                <a:spcPct val="100000"/>
              </a:lnSpc>
              <a:spcBef>
                <a:spcPts val="300"/>
              </a:spcBef>
              <a:spcAft>
                <a:spcPts val="0"/>
              </a:spcAft>
              <a:buClr>
                <a:schemeClr val="dk1"/>
              </a:buClr>
              <a:buSzPts val="1100"/>
              <a:buNone/>
              <a:defRPr b="1" sz="1000">
                <a:solidFill>
                  <a:schemeClr val="accent6"/>
                </a:solidFill>
              </a:defRPr>
            </a:lvl1pPr>
            <a:lvl2pPr lvl="1" rtl="0" algn="ctr">
              <a:lnSpc>
                <a:spcPct val="100000"/>
              </a:lnSpc>
              <a:spcBef>
                <a:spcPts val="0"/>
              </a:spcBef>
              <a:spcAft>
                <a:spcPts val="0"/>
              </a:spcAft>
              <a:buClr>
                <a:schemeClr val="dk1"/>
              </a:buClr>
              <a:buSzPts val="1100"/>
              <a:buNone/>
              <a:defRPr sz="1100">
                <a:solidFill>
                  <a:schemeClr val="dk1"/>
                </a:solidFill>
              </a:defRPr>
            </a:lvl2pPr>
            <a:lvl3pPr lvl="2" rtl="0" algn="ctr">
              <a:lnSpc>
                <a:spcPct val="100000"/>
              </a:lnSpc>
              <a:spcBef>
                <a:spcPts val="0"/>
              </a:spcBef>
              <a:spcAft>
                <a:spcPts val="0"/>
              </a:spcAft>
              <a:buClr>
                <a:schemeClr val="dk1"/>
              </a:buClr>
              <a:buSzPts val="1100"/>
              <a:buNone/>
              <a:defRPr sz="1100">
                <a:solidFill>
                  <a:schemeClr val="dk1"/>
                </a:solidFill>
              </a:defRPr>
            </a:lvl3pPr>
            <a:lvl4pPr lvl="3" rtl="0" algn="ctr">
              <a:lnSpc>
                <a:spcPct val="100000"/>
              </a:lnSpc>
              <a:spcBef>
                <a:spcPts val="0"/>
              </a:spcBef>
              <a:spcAft>
                <a:spcPts val="0"/>
              </a:spcAft>
              <a:buClr>
                <a:schemeClr val="dk1"/>
              </a:buClr>
              <a:buSzPts val="1100"/>
              <a:buNone/>
              <a:defRPr sz="1100">
                <a:solidFill>
                  <a:schemeClr val="dk1"/>
                </a:solidFill>
              </a:defRPr>
            </a:lvl4pPr>
            <a:lvl5pPr lvl="4" rtl="0" algn="ctr">
              <a:lnSpc>
                <a:spcPct val="100000"/>
              </a:lnSpc>
              <a:spcBef>
                <a:spcPts val="0"/>
              </a:spcBef>
              <a:spcAft>
                <a:spcPts val="0"/>
              </a:spcAft>
              <a:buClr>
                <a:schemeClr val="dk1"/>
              </a:buClr>
              <a:buSzPts val="1100"/>
              <a:buNone/>
              <a:defRPr sz="1100">
                <a:solidFill>
                  <a:schemeClr val="dk1"/>
                </a:solidFill>
              </a:defRPr>
            </a:lvl5pPr>
            <a:lvl6pPr lvl="5" rtl="0" algn="ctr">
              <a:lnSpc>
                <a:spcPct val="100000"/>
              </a:lnSpc>
              <a:spcBef>
                <a:spcPts val="0"/>
              </a:spcBef>
              <a:spcAft>
                <a:spcPts val="0"/>
              </a:spcAft>
              <a:buClr>
                <a:schemeClr val="dk1"/>
              </a:buClr>
              <a:buSzPts val="1100"/>
              <a:buNone/>
              <a:defRPr sz="1100">
                <a:solidFill>
                  <a:schemeClr val="dk1"/>
                </a:solidFill>
              </a:defRPr>
            </a:lvl6pPr>
            <a:lvl7pPr lvl="6" rtl="0" algn="ctr">
              <a:lnSpc>
                <a:spcPct val="100000"/>
              </a:lnSpc>
              <a:spcBef>
                <a:spcPts val="0"/>
              </a:spcBef>
              <a:spcAft>
                <a:spcPts val="0"/>
              </a:spcAft>
              <a:buClr>
                <a:schemeClr val="dk1"/>
              </a:buClr>
              <a:buSzPts val="1100"/>
              <a:buNone/>
              <a:defRPr sz="1100">
                <a:solidFill>
                  <a:schemeClr val="dk1"/>
                </a:solidFill>
              </a:defRPr>
            </a:lvl7pPr>
            <a:lvl8pPr lvl="7" rtl="0" algn="ctr">
              <a:lnSpc>
                <a:spcPct val="100000"/>
              </a:lnSpc>
              <a:spcBef>
                <a:spcPts val="0"/>
              </a:spcBef>
              <a:spcAft>
                <a:spcPts val="0"/>
              </a:spcAft>
              <a:buClr>
                <a:schemeClr val="dk1"/>
              </a:buClr>
              <a:buSzPts val="1100"/>
              <a:buNone/>
              <a:defRPr sz="1100">
                <a:solidFill>
                  <a:schemeClr val="dk1"/>
                </a:solidFill>
              </a:defRPr>
            </a:lvl8pPr>
            <a:lvl9pPr lvl="8" rtl="0" algn="ctr">
              <a:lnSpc>
                <a:spcPct val="100000"/>
              </a:lnSpc>
              <a:spcBef>
                <a:spcPts val="0"/>
              </a:spcBef>
              <a:spcAft>
                <a:spcPts val="0"/>
              </a:spcAft>
              <a:buClr>
                <a:schemeClr val="dk1"/>
              </a:buClr>
              <a:buSzPts val="1100"/>
              <a:buNone/>
              <a:defRPr sz="1100">
                <a:solidFill>
                  <a:schemeClr val="dk1"/>
                </a:solidFill>
              </a:defRPr>
            </a:lvl9pPr>
          </a:lstStyle>
          <a:p/>
        </p:txBody>
      </p:sp>
      <p:sp>
        <p:nvSpPr>
          <p:cNvPr id="261" name="Google Shape;261;p27"/>
          <p:cNvSpPr/>
          <p:nvPr/>
        </p:nvSpPr>
        <p:spPr>
          <a:xfrm rot="1944738">
            <a:off x="519983" y="4814444"/>
            <a:ext cx="67163" cy="67163"/>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rot="-1339466">
            <a:off x="269572" y="4052401"/>
            <a:ext cx="67132" cy="67132"/>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a:off x="1204550" y="41102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5279125" y="1994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5" name="Google Shape;265;p27"/>
          <p:cNvCxnSpPr>
            <a:stCxn id="262" idx="4"/>
            <a:endCxn id="261" idx="1"/>
          </p:cNvCxnSpPr>
          <p:nvPr/>
        </p:nvCxnSpPr>
        <p:spPr>
          <a:xfrm>
            <a:off x="315888" y="4117017"/>
            <a:ext cx="230400" cy="698100"/>
          </a:xfrm>
          <a:prstGeom prst="straightConnector1">
            <a:avLst/>
          </a:prstGeom>
          <a:noFill/>
          <a:ln cap="flat" cmpd="sng" w="9525">
            <a:solidFill>
              <a:schemeClr val="accent1"/>
            </a:solidFill>
            <a:prstDash val="solid"/>
            <a:round/>
            <a:headEnd len="med" w="med" type="none"/>
            <a:tailEnd len="med" w="med" type="none"/>
          </a:ln>
        </p:spPr>
      </p:cxnSp>
      <p:sp>
        <p:nvSpPr>
          <p:cNvPr id="266" name="Google Shape;266;p27"/>
          <p:cNvSpPr/>
          <p:nvPr/>
        </p:nvSpPr>
        <p:spPr>
          <a:xfrm rot="1688844">
            <a:off x="8093778" y="4358465"/>
            <a:ext cx="121465" cy="121465"/>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7" name="Google Shape;267;p27"/>
          <p:cNvCxnSpPr>
            <a:stCxn id="268" idx="7"/>
            <a:endCxn id="266" idx="3"/>
          </p:cNvCxnSpPr>
          <p:nvPr/>
        </p:nvCxnSpPr>
        <p:spPr>
          <a:xfrm flipH="1" rot="10800000">
            <a:off x="7215034" y="4436841"/>
            <a:ext cx="881400" cy="360300"/>
          </a:xfrm>
          <a:prstGeom prst="straightConnector1">
            <a:avLst/>
          </a:prstGeom>
          <a:noFill/>
          <a:ln cap="flat" cmpd="sng" w="9525">
            <a:solidFill>
              <a:schemeClr val="accent1"/>
            </a:solidFill>
            <a:prstDash val="solid"/>
            <a:round/>
            <a:headEnd len="med" w="med" type="none"/>
            <a:tailEnd len="med" w="med" type="none"/>
          </a:ln>
        </p:spPr>
      </p:cxnSp>
      <p:sp>
        <p:nvSpPr>
          <p:cNvPr id="268" name="Google Shape;268;p27"/>
          <p:cNvSpPr/>
          <p:nvPr/>
        </p:nvSpPr>
        <p:spPr>
          <a:xfrm>
            <a:off x="7157675" y="47873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txBox="1"/>
          <p:nvPr/>
        </p:nvSpPr>
        <p:spPr>
          <a:xfrm>
            <a:off x="720000" y="3346800"/>
            <a:ext cx="2623500" cy="8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Raleway"/>
                <a:ea typeface="Raleway"/>
                <a:cs typeface="Raleway"/>
                <a:sym typeface="Raleway"/>
              </a:rPr>
              <a:t>CREDITS:</a:t>
            </a:r>
            <a:r>
              <a:rPr lang="en" sz="1100">
                <a:solidFill>
                  <a:schemeClr val="dk1"/>
                </a:solidFill>
                <a:latin typeface="Raleway"/>
                <a:ea typeface="Raleway"/>
                <a:cs typeface="Raleway"/>
                <a:sym typeface="Raleway"/>
              </a:rPr>
              <a:t> This presentation template was created by </a:t>
            </a:r>
            <a:r>
              <a:rPr b="1" lang="en" sz="1100">
                <a:solidFill>
                  <a:schemeClr val="dk1"/>
                </a:solidFill>
                <a:uFill>
                  <a:noFill/>
                </a:uFill>
                <a:latin typeface="Raleway"/>
                <a:ea typeface="Raleway"/>
                <a:cs typeface="Raleway"/>
                <a:sym typeface="Raleway"/>
                <a:hlinkClick r:id="rId2">
                  <a:extLst>
                    <a:ext uri="{A12FA001-AC4F-418D-AE19-62706E023703}">
                      <ahyp:hlinkClr val="tx"/>
                    </a:ext>
                  </a:extLst>
                </a:hlinkClick>
              </a:rPr>
              <a:t>Slidesgo</a:t>
            </a:r>
            <a:r>
              <a:rPr b="1" lang="en" sz="1100">
                <a:solidFill>
                  <a:schemeClr val="dk1"/>
                </a:solidFill>
                <a:latin typeface="Raleway"/>
                <a:ea typeface="Raleway"/>
                <a:cs typeface="Raleway"/>
                <a:sym typeface="Raleway"/>
              </a:rPr>
              <a:t>,</a:t>
            </a:r>
            <a:r>
              <a:rPr lang="en" sz="1100">
                <a:solidFill>
                  <a:schemeClr val="dk1"/>
                </a:solidFill>
                <a:latin typeface="Raleway"/>
                <a:ea typeface="Raleway"/>
                <a:cs typeface="Raleway"/>
                <a:sym typeface="Raleway"/>
              </a:rPr>
              <a:t> including icons by </a:t>
            </a:r>
            <a:r>
              <a:rPr b="1" lang="en" sz="1100">
                <a:solidFill>
                  <a:schemeClr val="dk1"/>
                </a:solidFill>
                <a:uFill>
                  <a:noFill/>
                </a:uFill>
                <a:latin typeface="Raleway"/>
                <a:ea typeface="Raleway"/>
                <a:cs typeface="Raleway"/>
                <a:sym typeface="Raleway"/>
                <a:hlinkClick r:id="rId3">
                  <a:extLst>
                    <a:ext uri="{A12FA001-AC4F-418D-AE19-62706E023703}">
                      <ahyp:hlinkClr val="tx"/>
                    </a:ext>
                  </a:extLst>
                </a:hlinkClick>
              </a:rPr>
              <a:t>Flaticon</a:t>
            </a:r>
            <a:r>
              <a:rPr b="1" lang="en" sz="1100">
                <a:solidFill>
                  <a:schemeClr val="dk1"/>
                </a:solidFill>
                <a:latin typeface="Raleway"/>
                <a:ea typeface="Raleway"/>
                <a:cs typeface="Raleway"/>
                <a:sym typeface="Raleway"/>
              </a:rPr>
              <a:t>,</a:t>
            </a:r>
            <a:r>
              <a:rPr lang="en" sz="1100">
                <a:solidFill>
                  <a:schemeClr val="dk1"/>
                </a:solidFill>
                <a:latin typeface="Raleway"/>
                <a:ea typeface="Raleway"/>
                <a:cs typeface="Raleway"/>
                <a:sym typeface="Raleway"/>
              </a:rPr>
              <a:t> and infographics &amp; images by </a:t>
            </a:r>
            <a:r>
              <a:rPr b="1" lang="en" sz="1100">
                <a:solidFill>
                  <a:schemeClr val="dk1"/>
                </a:solidFill>
                <a:uFill>
                  <a:noFill/>
                </a:uFill>
                <a:latin typeface="Raleway"/>
                <a:ea typeface="Raleway"/>
                <a:cs typeface="Raleway"/>
                <a:sym typeface="Raleway"/>
                <a:hlinkClick r:id="rId4">
                  <a:extLst>
                    <a:ext uri="{A12FA001-AC4F-418D-AE19-62706E023703}">
                      <ahyp:hlinkClr val="tx"/>
                    </a:ext>
                  </a:extLst>
                </a:hlinkClick>
              </a:rPr>
              <a:t>Freepik</a:t>
            </a:r>
            <a:endParaRPr b="1" sz="1100">
              <a:solidFill>
                <a:schemeClr val="dk1"/>
              </a:solidFill>
              <a:latin typeface="Raleway"/>
              <a:ea typeface="Raleway"/>
              <a:cs typeface="Raleway"/>
              <a:sym typeface="Raleway"/>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70" name="Shape 270"/>
        <p:cNvGrpSpPr/>
        <p:nvPr/>
      </p:nvGrpSpPr>
      <p:grpSpPr>
        <a:xfrm>
          <a:off x="0" y="0"/>
          <a:ext cx="0" cy="0"/>
          <a:chOff x="0" y="0"/>
          <a:chExt cx="0" cy="0"/>
        </a:xfrm>
      </p:grpSpPr>
      <p:sp>
        <p:nvSpPr>
          <p:cNvPr id="271" name="Google Shape;271;p28"/>
          <p:cNvSpPr/>
          <p:nvPr/>
        </p:nvSpPr>
        <p:spPr>
          <a:xfrm>
            <a:off x="7820025" y="4201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8"/>
          <p:cNvSpPr/>
          <p:nvPr/>
        </p:nvSpPr>
        <p:spPr>
          <a:xfrm>
            <a:off x="8598950" y="15915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a:off x="6910725" y="45699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a:off x="5321475" y="46371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a:off x="369350" y="36870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a:off x="396500" y="47819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7" name="Google Shape;277;p28"/>
          <p:cNvCxnSpPr>
            <a:stCxn id="276" idx="0"/>
            <a:endCxn id="275" idx="4"/>
          </p:cNvCxnSpPr>
          <p:nvPr/>
        </p:nvCxnSpPr>
        <p:spPr>
          <a:xfrm rot="10800000">
            <a:off x="430100" y="3808475"/>
            <a:ext cx="0" cy="9735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78" name="Shape 278"/>
        <p:cNvGrpSpPr/>
        <p:nvPr/>
      </p:nvGrpSpPr>
      <p:grpSpPr>
        <a:xfrm>
          <a:off x="0" y="0"/>
          <a:ext cx="0" cy="0"/>
          <a:chOff x="0" y="0"/>
          <a:chExt cx="0" cy="0"/>
        </a:xfrm>
      </p:grpSpPr>
      <p:sp>
        <p:nvSpPr>
          <p:cNvPr id="279" name="Google Shape;279;p29"/>
          <p:cNvSpPr/>
          <p:nvPr/>
        </p:nvSpPr>
        <p:spPr>
          <a:xfrm>
            <a:off x="8776725" y="39437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a:off x="8545375" y="2538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rot="1539014">
            <a:off x="6576323" y="623578"/>
            <a:ext cx="67225" cy="67225"/>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rot="-1205519">
            <a:off x="5571410" y="311949"/>
            <a:ext cx="121387" cy="121387"/>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a:off x="1623325" y="2446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9"/>
          <p:cNvSpPr/>
          <p:nvPr/>
        </p:nvSpPr>
        <p:spPr>
          <a:xfrm rot="-675265">
            <a:off x="8749604" y="1662081"/>
            <a:ext cx="121435" cy="121435"/>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5" name="Google Shape;285;p29"/>
          <p:cNvCxnSpPr>
            <a:stCxn id="284" idx="3"/>
            <a:endCxn id="280" idx="0"/>
          </p:cNvCxnSpPr>
          <p:nvPr/>
        </p:nvCxnSpPr>
        <p:spPr>
          <a:xfrm flipH="1">
            <a:off x="8578892" y="1773286"/>
            <a:ext cx="197700" cy="765000"/>
          </a:xfrm>
          <a:prstGeom prst="straightConnector1">
            <a:avLst/>
          </a:prstGeom>
          <a:noFill/>
          <a:ln cap="flat" cmpd="sng" w="9525">
            <a:solidFill>
              <a:schemeClr val="accent1"/>
            </a:solidFill>
            <a:prstDash val="solid"/>
            <a:round/>
            <a:headEnd len="med" w="med" type="none"/>
            <a:tailEnd len="med" w="med" type="none"/>
          </a:ln>
        </p:spPr>
      </p:cxnSp>
      <p:cxnSp>
        <p:nvCxnSpPr>
          <p:cNvPr id="286" name="Google Shape;286;p29"/>
          <p:cNvCxnSpPr>
            <a:stCxn id="280" idx="4"/>
            <a:endCxn id="279" idx="0"/>
          </p:cNvCxnSpPr>
          <p:nvPr/>
        </p:nvCxnSpPr>
        <p:spPr>
          <a:xfrm>
            <a:off x="8578975" y="2605350"/>
            <a:ext cx="231300" cy="1338300"/>
          </a:xfrm>
          <a:prstGeom prst="straightConnector1">
            <a:avLst/>
          </a:prstGeom>
          <a:noFill/>
          <a:ln cap="flat" cmpd="sng" w="9525">
            <a:solidFill>
              <a:schemeClr val="accent1"/>
            </a:solidFill>
            <a:prstDash val="solid"/>
            <a:round/>
            <a:headEnd len="med" w="med" type="none"/>
            <a:tailEnd len="med" w="med" type="none"/>
          </a:ln>
        </p:spPr>
      </p:cxnSp>
      <p:sp>
        <p:nvSpPr>
          <p:cNvPr id="287" name="Google Shape;287;p29"/>
          <p:cNvSpPr/>
          <p:nvPr/>
        </p:nvSpPr>
        <p:spPr>
          <a:xfrm>
            <a:off x="2280550" y="48962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8" name="Google Shape;288;p29"/>
          <p:cNvCxnSpPr>
            <a:stCxn id="282" idx="5"/>
            <a:endCxn id="281" idx="2"/>
          </p:cNvCxnSpPr>
          <p:nvPr/>
        </p:nvCxnSpPr>
        <p:spPr>
          <a:xfrm>
            <a:off x="5687152" y="398204"/>
            <a:ext cx="892500" cy="244500"/>
          </a:xfrm>
          <a:prstGeom prst="straightConnector1">
            <a:avLst/>
          </a:prstGeom>
          <a:noFill/>
          <a:ln cap="flat" cmpd="sng" w="9525">
            <a:solidFill>
              <a:schemeClr val="accent1"/>
            </a:solidFill>
            <a:prstDash val="solid"/>
            <a:round/>
            <a:headEnd len="med" w="med" type="none"/>
            <a:tailEnd len="med" w="med" type="none"/>
          </a:ln>
        </p:spPr>
      </p:cxnSp>
      <p:sp>
        <p:nvSpPr>
          <p:cNvPr id="289" name="Google Shape;289;p29"/>
          <p:cNvSpPr/>
          <p:nvPr/>
        </p:nvSpPr>
        <p:spPr>
          <a:xfrm rot="1271060">
            <a:off x="7633692" y="244642"/>
            <a:ext cx="67244" cy="67244"/>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
          <p:cNvSpPr/>
          <p:nvPr/>
        </p:nvSpPr>
        <p:spPr>
          <a:xfrm rot="1271060">
            <a:off x="432792" y="2121917"/>
            <a:ext cx="67244" cy="67244"/>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9"/>
          <p:cNvSpPr/>
          <p:nvPr/>
        </p:nvSpPr>
        <p:spPr>
          <a:xfrm rot="1186654">
            <a:off x="206562" y="2693118"/>
            <a:ext cx="121465" cy="121465"/>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2" name="Google Shape;292;p29"/>
          <p:cNvCxnSpPr>
            <a:stCxn id="290" idx="4"/>
            <a:endCxn id="291" idx="0"/>
          </p:cNvCxnSpPr>
          <p:nvPr/>
        </p:nvCxnSpPr>
        <p:spPr>
          <a:xfrm flipH="1">
            <a:off x="287764" y="2186889"/>
            <a:ext cx="166500" cy="5097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rgbClr val="0C0223"/>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643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1pPr>
            <a:lvl2pPr lvl="1"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2pPr>
            <a:lvl3pPr lvl="2"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3pPr>
            <a:lvl4pPr lvl="3"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4pPr>
            <a:lvl5pPr lvl="4"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5pPr>
            <a:lvl6pPr lvl="5"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6pPr>
            <a:lvl7pPr lvl="6"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7pPr>
            <a:lvl8pPr lvl="7"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8pPr>
            <a:lvl9pPr lvl="8" rtl="0">
              <a:spcBef>
                <a:spcPts val="0"/>
              </a:spcBef>
              <a:spcAft>
                <a:spcPts val="0"/>
              </a:spcAft>
              <a:buClr>
                <a:schemeClr val="dk1"/>
              </a:buClr>
              <a:buSzPts val="3100"/>
              <a:buFont typeface="Montserrat"/>
              <a:buNone/>
              <a:defRPr b="1" sz="31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1pPr>
            <a:lvl2pPr indent="-317500" lvl="1" marL="9144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a:lnSpc>
                <a:spcPct val="100000"/>
              </a:lnSpc>
              <a:spcBef>
                <a:spcPts val="160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a:lnSpc>
                <a:spcPct val="100000"/>
              </a:lnSpc>
              <a:spcBef>
                <a:spcPts val="1600"/>
              </a:spcBef>
              <a:spcAft>
                <a:spcPts val="1600"/>
              </a:spcAft>
              <a:buClr>
                <a:schemeClr val="dk1"/>
              </a:buClr>
              <a:buSzPts val="1400"/>
              <a:buFont typeface="Raleway"/>
              <a:buChar char="■"/>
              <a:defRPr>
                <a:solidFill>
                  <a:schemeClr val="dk1"/>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jp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hyperlink" Target="https://github.com/KarenMazaDelgado/Neuroscan-Frontend" TargetMode="External"/><Relationship Id="rId4" Type="http://schemas.openxmlformats.org/officeDocument/2006/relationships/hyperlink" Target="https://github.com/KarenMazaDelgado/Neuroscan-Frontend" TargetMode="External"/><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neuroscan-frontend.vercel.ap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s://huggingface.co/spaces/cooleschimo/neuroscan-backen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rgbClr val="0C0223"/>
            </a:gs>
          </a:gsLst>
          <a:path path="circle">
            <a:fillToRect b="50%" l="50%" r="50%" t="50%"/>
          </a:path>
          <a:tileRect/>
        </a:gradFill>
      </p:bgPr>
    </p:bg>
    <p:spTree>
      <p:nvGrpSpPr>
        <p:cNvPr id="296" name="Shape 296"/>
        <p:cNvGrpSpPr/>
        <p:nvPr/>
      </p:nvGrpSpPr>
      <p:grpSpPr>
        <a:xfrm>
          <a:off x="0" y="0"/>
          <a:ext cx="0" cy="0"/>
          <a:chOff x="0" y="0"/>
          <a:chExt cx="0" cy="0"/>
        </a:xfrm>
      </p:grpSpPr>
      <p:sp>
        <p:nvSpPr>
          <p:cNvPr id="297" name="Google Shape;297;p30"/>
          <p:cNvSpPr txBox="1"/>
          <p:nvPr>
            <p:ph idx="1" type="subTitle"/>
          </p:nvPr>
        </p:nvSpPr>
        <p:spPr>
          <a:xfrm rot="-503">
            <a:off x="6666850" y="3555773"/>
            <a:ext cx="2051700" cy="123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Ousman Bah, </a:t>
            </a:r>
            <a:r>
              <a:rPr lang="en"/>
              <a:t>Folabomi Longe, </a:t>
            </a:r>
            <a:endParaRPr/>
          </a:p>
          <a:p>
            <a:pPr indent="0" lvl="0" marL="0" rtl="0" algn="l">
              <a:spcBef>
                <a:spcPts val="0"/>
              </a:spcBef>
              <a:spcAft>
                <a:spcPts val="0"/>
              </a:spcAft>
              <a:buNone/>
            </a:pPr>
            <a:r>
              <a:rPr lang="en"/>
              <a:t>Karen Maza Delgado, Maria Garcia, </a:t>
            </a:r>
            <a:endParaRPr/>
          </a:p>
          <a:p>
            <a:pPr indent="0" lvl="0" marL="0" rtl="0" algn="l">
              <a:spcBef>
                <a:spcPts val="0"/>
              </a:spcBef>
              <a:spcAft>
                <a:spcPts val="0"/>
              </a:spcAft>
              <a:buNone/>
            </a:pPr>
            <a:r>
              <a:rPr lang="en"/>
              <a:t>Chimin Liu</a:t>
            </a:r>
            <a:endParaRPr/>
          </a:p>
          <a:p>
            <a:pPr indent="0" lvl="0" marL="0" rtl="0" algn="l">
              <a:spcBef>
                <a:spcPts val="0"/>
              </a:spcBef>
              <a:spcAft>
                <a:spcPts val="0"/>
              </a:spcAft>
              <a:buNone/>
            </a:pPr>
            <a:r>
              <a:t/>
            </a:r>
            <a:endParaRPr/>
          </a:p>
        </p:txBody>
      </p:sp>
      <p:sp>
        <p:nvSpPr>
          <p:cNvPr id="298" name="Google Shape;298;p30"/>
          <p:cNvSpPr txBox="1"/>
          <p:nvPr>
            <p:ph type="ctrTitle"/>
          </p:nvPr>
        </p:nvSpPr>
        <p:spPr>
          <a:xfrm>
            <a:off x="1301200" y="785325"/>
            <a:ext cx="7774500" cy="2436300"/>
          </a:xfrm>
          <a:prstGeom prst="rect">
            <a:avLst/>
          </a:prstGeom>
        </p:spPr>
        <p:txBody>
          <a:bodyPr anchorCtr="0" anchor="ctr" bIns="91425" lIns="91425" spcFirstLastPara="1" rIns="91425" wrap="square" tIns="91425">
            <a:noAutofit/>
          </a:bodyPr>
          <a:lstStyle/>
          <a:p>
            <a:pPr indent="0" lvl="0" marL="914400" rtl="0" algn="r">
              <a:spcBef>
                <a:spcPts val="0"/>
              </a:spcBef>
              <a:spcAft>
                <a:spcPts val="0"/>
              </a:spcAft>
              <a:buClr>
                <a:schemeClr val="dk1"/>
              </a:buClr>
              <a:buSzPts val="1100"/>
              <a:buFont typeface="Arial"/>
              <a:buNone/>
            </a:pPr>
            <a:r>
              <a:rPr lang="en" sz="5500"/>
              <a:t>Brain Vessel</a:t>
            </a:r>
            <a:r>
              <a:rPr lang="en" sz="5500">
                <a:solidFill>
                  <a:schemeClr val="accent6"/>
                </a:solidFill>
              </a:rPr>
              <a:t> Abnormality Detection</a:t>
            </a:r>
            <a:endParaRPr sz="5500">
              <a:solidFill>
                <a:schemeClr val="accent6"/>
              </a:solidFill>
            </a:endParaRPr>
          </a:p>
        </p:txBody>
      </p:sp>
      <p:sp>
        <p:nvSpPr>
          <p:cNvPr id="299" name="Google Shape;299;p30"/>
          <p:cNvSpPr/>
          <p:nvPr/>
        </p:nvSpPr>
        <p:spPr>
          <a:xfrm flipH="1">
            <a:off x="564487" y="160675"/>
            <a:ext cx="4090137" cy="5143451"/>
          </a:xfrm>
          <a:custGeom>
            <a:rect b="b" l="l" r="r" t="t"/>
            <a:pathLst>
              <a:path extrusionOk="0" h="54642" w="43452">
                <a:moveTo>
                  <a:pt x="10622" y="6323"/>
                </a:moveTo>
                <a:cubicBezTo>
                  <a:pt x="7539" y="8772"/>
                  <a:pt x="4779" y="13102"/>
                  <a:pt x="4248" y="15567"/>
                </a:cubicBezTo>
                <a:cubicBezTo>
                  <a:pt x="3717" y="18031"/>
                  <a:pt x="3806" y="19792"/>
                  <a:pt x="4160" y="22169"/>
                </a:cubicBezTo>
                <a:cubicBezTo>
                  <a:pt x="4514" y="24546"/>
                  <a:pt x="3983" y="26747"/>
                  <a:pt x="2479" y="28595"/>
                </a:cubicBezTo>
                <a:cubicBezTo>
                  <a:pt x="974" y="30445"/>
                  <a:pt x="0" y="31501"/>
                  <a:pt x="1504" y="32556"/>
                </a:cubicBezTo>
                <a:cubicBezTo>
                  <a:pt x="3008" y="33612"/>
                  <a:pt x="4337" y="33790"/>
                  <a:pt x="3894" y="34670"/>
                </a:cubicBezTo>
                <a:cubicBezTo>
                  <a:pt x="3451" y="35550"/>
                  <a:pt x="3280" y="35926"/>
                  <a:pt x="3592" y="36472"/>
                </a:cubicBezTo>
                <a:cubicBezTo>
                  <a:pt x="3907" y="37019"/>
                  <a:pt x="4141" y="37251"/>
                  <a:pt x="4141" y="37251"/>
                </a:cubicBezTo>
                <a:cubicBezTo>
                  <a:pt x="4141" y="37251"/>
                  <a:pt x="3279" y="38422"/>
                  <a:pt x="3749" y="39045"/>
                </a:cubicBezTo>
                <a:cubicBezTo>
                  <a:pt x="4220" y="39670"/>
                  <a:pt x="5160" y="39045"/>
                  <a:pt x="5317" y="40371"/>
                </a:cubicBezTo>
                <a:cubicBezTo>
                  <a:pt x="5475" y="41697"/>
                  <a:pt x="4769" y="43336"/>
                  <a:pt x="6415" y="44272"/>
                </a:cubicBezTo>
                <a:cubicBezTo>
                  <a:pt x="8063" y="45209"/>
                  <a:pt x="12219" y="44272"/>
                  <a:pt x="13867" y="43881"/>
                </a:cubicBezTo>
                <a:cubicBezTo>
                  <a:pt x="15515" y="43490"/>
                  <a:pt x="17162" y="43490"/>
                  <a:pt x="18653" y="47391"/>
                </a:cubicBezTo>
                <a:cubicBezTo>
                  <a:pt x="19612" y="49903"/>
                  <a:pt x="20603" y="52382"/>
                  <a:pt x="20791" y="54642"/>
                </a:cubicBezTo>
                <a:lnTo>
                  <a:pt x="40379" y="54642"/>
                </a:lnTo>
                <a:cubicBezTo>
                  <a:pt x="38522" y="50254"/>
                  <a:pt x="34803" y="41740"/>
                  <a:pt x="35677" y="38265"/>
                </a:cubicBezTo>
                <a:cubicBezTo>
                  <a:pt x="36618" y="34520"/>
                  <a:pt x="40723" y="32937"/>
                  <a:pt x="42087" y="25964"/>
                </a:cubicBezTo>
                <a:cubicBezTo>
                  <a:pt x="43452" y="18991"/>
                  <a:pt x="42953" y="8606"/>
                  <a:pt x="34010" y="4303"/>
                </a:cubicBezTo>
                <a:cubicBezTo>
                  <a:pt x="25068" y="0"/>
                  <a:pt x="15330" y="2582"/>
                  <a:pt x="10622" y="6323"/>
                </a:cubicBezTo>
                <a:close/>
              </a:path>
            </a:pathLst>
          </a:custGeom>
          <a:solidFill>
            <a:srgbClr val="00DBF6">
              <a:alpha val="18350"/>
            </a:srgbClr>
          </a:solidFill>
          <a:ln>
            <a:noFill/>
          </a:ln>
          <a:effectLst>
            <a:outerShdw blurRad="228600" rotWithShape="0" algn="bl" dir="5400000" dist="19050">
              <a:schemeClr val="accent3">
                <a:alpha val="79000"/>
              </a:scheme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30"/>
          <p:cNvGrpSpPr/>
          <p:nvPr/>
        </p:nvGrpSpPr>
        <p:grpSpPr>
          <a:xfrm>
            <a:off x="806673" y="728978"/>
            <a:ext cx="2991294" cy="2549009"/>
            <a:chOff x="930854" y="1021197"/>
            <a:chExt cx="4016237" cy="3422408"/>
          </a:xfrm>
        </p:grpSpPr>
        <p:sp>
          <p:nvSpPr>
            <p:cNvPr id="301" name="Google Shape;301;p30"/>
            <p:cNvSpPr/>
            <p:nvPr/>
          </p:nvSpPr>
          <p:spPr>
            <a:xfrm flipH="1">
              <a:off x="930854" y="1021197"/>
              <a:ext cx="4016237" cy="3422408"/>
            </a:xfrm>
            <a:custGeom>
              <a:rect b="b" l="l" r="r" t="t"/>
              <a:pathLst>
                <a:path extrusionOk="0" h="63252" w="74227">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p:nvPr/>
          </p:nvSpPr>
          <p:spPr>
            <a:xfrm flipH="1">
              <a:off x="966727" y="1056475"/>
              <a:ext cx="3944978" cy="3351960"/>
            </a:xfrm>
            <a:custGeom>
              <a:rect b="b" l="l" r="r" t="t"/>
              <a:pathLst>
                <a:path extrusionOk="0" h="61950" w="7291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0"/>
            <p:cNvSpPr/>
            <p:nvPr/>
          </p:nvSpPr>
          <p:spPr>
            <a:xfrm flipH="1">
              <a:off x="1007687" y="1076332"/>
              <a:ext cx="3826374" cy="3253484"/>
            </a:xfrm>
            <a:custGeom>
              <a:rect b="b" l="l" r="r" t="t"/>
              <a:pathLst>
                <a:path extrusionOk="0" h="60130" w="70718">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0"/>
            <p:cNvSpPr/>
            <p:nvPr/>
          </p:nvSpPr>
          <p:spPr>
            <a:xfrm flipH="1">
              <a:off x="1756101" y="1210194"/>
              <a:ext cx="2979267" cy="1743398"/>
            </a:xfrm>
            <a:custGeom>
              <a:rect b="b" l="l" r="r" t="t"/>
              <a:pathLst>
                <a:path extrusionOk="0" h="32221" w="55062">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FF003A">
                <a:alpha val="240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0"/>
            <p:cNvSpPr/>
            <p:nvPr/>
          </p:nvSpPr>
          <p:spPr>
            <a:xfrm flipH="1">
              <a:off x="1136947" y="2250684"/>
              <a:ext cx="2754126" cy="1348359"/>
            </a:xfrm>
            <a:custGeom>
              <a:rect b="b" l="l" r="r" t="t"/>
              <a:pathLst>
                <a:path extrusionOk="0" h="24920" w="50901">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0"/>
            <p:cNvSpPr/>
            <p:nvPr/>
          </p:nvSpPr>
          <p:spPr>
            <a:xfrm flipH="1">
              <a:off x="2338027" y="1362616"/>
              <a:ext cx="2240429" cy="1375954"/>
            </a:xfrm>
            <a:custGeom>
              <a:rect b="b" l="l" r="r" t="t"/>
              <a:pathLst>
                <a:path extrusionOk="0" h="25430" w="41407">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0"/>
            <p:cNvSpPr/>
            <p:nvPr/>
          </p:nvSpPr>
          <p:spPr>
            <a:xfrm flipH="1">
              <a:off x="1152367" y="2357492"/>
              <a:ext cx="2446525" cy="1132632"/>
            </a:xfrm>
            <a:custGeom>
              <a:rect b="b" l="l" r="r" t="t"/>
              <a:pathLst>
                <a:path extrusionOk="0" h="20933" w="45216">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p:nvPr/>
          </p:nvSpPr>
          <p:spPr>
            <a:xfrm flipH="1">
              <a:off x="1882655" y="1411421"/>
              <a:ext cx="1334561" cy="792026"/>
            </a:xfrm>
            <a:custGeom>
              <a:rect b="b" l="l" r="r" t="t"/>
              <a:pathLst>
                <a:path extrusionOk="0" h="14638" w="24665">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FF003A">
                <a:alpha val="240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
            <p:cNvSpPr/>
            <p:nvPr/>
          </p:nvSpPr>
          <p:spPr>
            <a:xfrm flipH="1">
              <a:off x="2671597" y="2430051"/>
              <a:ext cx="747820" cy="454990"/>
            </a:xfrm>
            <a:custGeom>
              <a:rect b="b" l="l" r="r" t="t"/>
              <a:pathLst>
                <a:path extrusionOk="0" h="8409" w="13821">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0"/>
            <p:cNvSpPr/>
            <p:nvPr/>
          </p:nvSpPr>
          <p:spPr>
            <a:xfrm flipH="1">
              <a:off x="3371372" y="1508382"/>
              <a:ext cx="1037349" cy="1000069"/>
            </a:xfrm>
            <a:custGeom>
              <a:rect b="b" l="l" r="r" t="t"/>
              <a:pathLst>
                <a:path extrusionOk="0" h="18483" w="19172">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0"/>
            <p:cNvSpPr/>
            <p:nvPr/>
          </p:nvSpPr>
          <p:spPr>
            <a:xfrm flipH="1">
              <a:off x="3841890" y="1704359"/>
              <a:ext cx="465379" cy="672989"/>
            </a:xfrm>
            <a:custGeom>
              <a:rect b="b" l="l" r="r" t="t"/>
              <a:pathLst>
                <a:path extrusionOk="0" h="12438" w="8601">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0"/>
            <p:cNvSpPr/>
            <p:nvPr/>
          </p:nvSpPr>
          <p:spPr>
            <a:xfrm flipH="1">
              <a:off x="1372260" y="2480425"/>
              <a:ext cx="1907127" cy="836718"/>
            </a:xfrm>
            <a:custGeom>
              <a:rect b="b" l="l" r="r" t="t"/>
              <a:pathLst>
                <a:path extrusionOk="0" h="15464" w="35247">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0"/>
            <p:cNvSpPr/>
            <p:nvPr/>
          </p:nvSpPr>
          <p:spPr>
            <a:xfrm flipH="1">
              <a:off x="1543779" y="2544651"/>
              <a:ext cx="963059" cy="556874"/>
            </a:xfrm>
            <a:custGeom>
              <a:rect b="b" l="l" r="r" t="t"/>
              <a:pathLst>
                <a:path extrusionOk="0" h="10292" w="17799">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0"/>
            <p:cNvSpPr/>
            <p:nvPr/>
          </p:nvSpPr>
          <p:spPr>
            <a:xfrm flipH="1">
              <a:off x="2609373" y="1877450"/>
              <a:ext cx="466353" cy="208693"/>
            </a:xfrm>
            <a:custGeom>
              <a:rect b="b" l="l" r="r" t="t"/>
              <a:pathLst>
                <a:path extrusionOk="0" h="3857" w="8619">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FF003A">
                <a:alpha val="4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0"/>
            <p:cNvSpPr/>
            <p:nvPr/>
          </p:nvSpPr>
          <p:spPr>
            <a:xfrm flipH="1">
              <a:off x="1972418" y="1569144"/>
              <a:ext cx="531173" cy="388167"/>
            </a:xfrm>
            <a:custGeom>
              <a:rect b="b" l="l" r="r" t="t"/>
              <a:pathLst>
                <a:path extrusionOk="0" h="7174" w="9817">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FF27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0"/>
            <p:cNvSpPr/>
            <p:nvPr/>
          </p:nvSpPr>
          <p:spPr>
            <a:xfrm flipH="1">
              <a:off x="2456574" y="1424082"/>
              <a:ext cx="807338" cy="255387"/>
            </a:xfrm>
            <a:custGeom>
              <a:rect b="b" l="l" r="r" t="t"/>
              <a:pathLst>
                <a:path extrusionOk="0" h="4720" w="14921">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0"/>
            <p:cNvSpPr/>
            <p:nvPr/>
          </p:nvSpPr>
          <p:spPr>
            <a:xfrm flipH="1">
              <a:off x="1417003" y="1771128"/>
              <a:ext cx="395850" cy="410027"/>
            </a:xfrm>
            <a:custGeom>
              <a:rect b="b" l="l" r="r" t="t"/>
              <a:pathLst>
                <a:path extrusionOk="0" h="7578" w="7316">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0"/>
            <p:cNvSpPr/>
            <p:nvPr/>
          </p:nvSpPr>
          <p:spPr>
            <a:xfrm flipH="1">
              <a:off x="2900147" y="2573869"/>
              <a:ext cx="304896" cy="180124"/>
            </a:xfrm>
            <a:custGeom>
              <a:rect b="b" l="l" r="r" t="t"/>
              <a:pathLst>
                <a:path extrusionOk="0" h="3329" w="5635">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0"/>
            <p:cNvSpPr/>
            <p:nvPr/>
          </p:nvSpPr>
          <p:spPr>
            <a:xfrm flipH="1">
              <a:off x="1682997" y="2632143"/>
              <a:ext cx="577002" cy="359382"/>
            </a:xfrm>
            <a:custGeom>
              <a:rect b="b" l="l" r="r" t="t"/>
              <a:pathLst>
                <a:path extrusionOk="0" h="6642" w="10664">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0"/>
            <p:cNvSpPr/>
            <p:nvPr/>
          </p:nvSpPr>
          <p:spPr>
            <a:xfrm flipH="1">
              <a:off x="3226146" y="2090363"/>
              <a:ext cx="596156" cy="492541"/>
            </a:xfrm>
            <a:custGeom>
              <a:rect b="b" l="l" r="r" t="t"/>
              <a:pathLst>
                <a:path extrusionOk="0" h="9103" w="11018">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0"/>
            <p:cNvSpPr/>
            <p:nvPr/>
          </p:nvSpPr>
          <p:spPr>
            <a:xfrm flipH="1">
              <a:off x="2755085" y="1476458"/>
              <a:ext cx="445088" cy="175687"/>
            </a:xfrm>
            <a:custGeom>
              <a:rect b="b" l="l" r="r" t="t"/>
              <a:pathLst>
                <a:path extrusionOk="0" h="3247" w="8226">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0"/>
            <p:cNvSpPr/>
            <p:nvPr/>
          </p:nvSpPr>
          <p:spPr>
            <a:xfrm flipH="1">
              <a:off x="3476285" y="1534137"/>
              <a:ext cx="344773" cy="248191"/>
            </a:xfrm>
            <a:custGeom>
              <a:rect b="b" l="l" r="r" t="t"/>
              <a:pathLst>
                <a:path extrusionOk="0" h="4587" w="6372">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0"/>
            <p:cNvSpPr/>
            <p:nvPr/>
          </p:nvSpPr>
          <p:spPr>
            <a:xfrm flipH="1">
              <a:off x="1682944" y="3477845"/>
              <a:ext cx="1055746" cy="354242"/>
            </a:xfrm>
            <a:custGeom>
              <a:rect b="b" l="l" r="r" t="t"/>
              <a:pathLst>
                <a:path extrusionOk="0" h="6547" w="19512">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0"/>
            <p:cNvSpPr/>
            <p:nvPr/>
          </p:nvSpPr>
          <p:spPr>
            <a:xfrm flipH="1">
              <a:off x="2267683" y="3818614"/>
              <a:ext cx="409377" cy="460942"/>
            </a:xfrm>
            <a:custGeom>
              <a:rect b="b" l="l" r="r" t="t"/>
              <a:pathLst>
                <a:path extrusionOk="0" h="8519" w="7566">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0"/>
            <p:cNvSpPr/>
            <p:nvPr/>
          </p:nvSpPr>
          <p:spPr>
            <a:xfrm flipH="1">
              <a:off x="1861227" y="3545804"/>
              <a:ext cx="628459" cy="207502"/>
            </a:xfrm>
            <a:custGeom>
              <a:rect b="b" l="l" r="r" t="t"/>
              <a:pathLst>
                <a:path extrusionOk="0" h="3835" w="11615">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0"/>
            <p:cNvSpPr/>
            <p:nvPr/>
          </p:nvSpPr>
          <p:spPr>
            <a:xfrm flipH="1">
              <a:off x="1513585" y="1870686"/>
              <a:ext cx="217025" cy="226602"/>
            </a:xfrm>
            <a:custGeom>
              <a:rect b="b" l="l" r="r" t="t"/>
              <a:pathLst>
                <a:path extrusionOk="0" h="4188" w="4011">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0"/>
            <p:cNvSpPr/>
            <p:nvPr/>
          </p:nvSpPr>
          <p:spPr>
            <a:xfrm flipH="1">
              <a:off x="1567368" y="1951144"/>
              <a:ext cx="97935" cy="54162"/>
            </a:xfrm>
            <a:custGeom>
              <a:rect b="b" l="l" r="r" t="t"/>
              <a:pathLst>
                <a:path extrusionOk="0" h="1001" w="181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 name="Google Shape;328;p30"/>
          <p:cNvSpPr/>
          <p:nvPr/>
        </p:nvSpPr>
        <p:spPr>
          <a:xfrm>
            <a:off x="625650" y="14052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0"/>
          <p:cNvSpPr/>
          <p:nvPr/>
        </p:nvSpPr>
        <p:spPr>
          <a:xfrm>
            <a:off x="437300" y="40434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0"/>
          <p:cNvSpPr/>
          <p:nvPr/>
        </p:nvSpPr>
        <p:spPr>
          <a:xfrm>
            <a:off x="1973800" y="4861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0"/>
          <p:cNvSpPr/>
          <p:nvPr/>
        </p:nvSpPr>
        <p:spPr>
          <a:xfrm>
            <a:off x="3985700" y="6617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30"/>
          <p:cNvGrpSpPr/>
          <p:nvPr/>
        </p:nvGrpSpPr>
        <p:grpSpPr>
          <a:xfrm>
            <a:off x="3628175" y="25500"/>
            <a:ext cx="1961600" cy="1029000"/>
            <a:chOff x="4501725" y="419225"/>
            <a:chExt cx="1961600" cy="1029000"/>
          </a:xfrm>
        </p:grpSpPr>
        <p:sp>
          <p:nvSpPr>
            <p:cNvPr id="333" name="Google Shape;333;p30"/>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p:nvPr/>
          </p:nvSpPr>
          <p:spPr>
            <a:xfrm>
              <a:off x="6396125" y="4192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0"/>
            <p:cNvSpPr/>
            <p:nvPr/>
          </p:nvSpPr>
          <p:spPr>
            <a:xfrm>
              <a:off x="4501725" y="13267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30"/>
            <p:cNvCxnSpPr>
              <a:stCxn id="333" idx="2"/>
              <a:endCxn id="335" idx="6"/>
            </p:cNvCxnSpPr>
            <p:nvPr/>
          </p:nvCxnSpPr>
          <p:spPr>
            <a:xfrm rot="10800000">
              <a:off x="4623175" y="1387325"/>
              <a:ext cx="703800" cy="27300"/>
            </a:xfrm>
            <a:prstGeom prst="straightConnector1">
              <a:avLst/>
            </a:prstGeom>
            <a:noFill/>
            <a:ln cap="flat" cmpd="sng" w="9525">
              <a:solidFill>
                <a:schemeClr val="accent1"/>
              </a:solidFill>
              <a:prstDash val="solid"/>
              <a:round/>
              <a:headEnd len="med" w="med" type="none"/>
              <a:tailEnd len="med" w="med" type="none"/>
            </a:ln>
          </p:spPr>
        </p:cxnSp>
        <p:cxnSp>
          <p:nvCxnSpPr>
            <p:cNvPr id="337" name="Google Shape;337;p30"/>
            <p:cNvCxnSpPr>
              <a:stCxn id="334" idx="3"/>
              <a:endCxn id="333" idx="7"/>
            </p:cNvCxnSpPr>
            <p:nvPr/>
          </p:nvCxnSpPr>
          <p:spPr>
            <a:xfrm flipH="1">
              <a:off x="5384466" y="476584"/>
              <a:ext cx="1021500" cy="914400"/>
            </a:xfrm>
            <a:prstGeom prst="straightConnector1">
              <a:avLst/>
            </a:prstGeom>
            <a:noFill/>
            <a:ln cap="flat" cmpd="sng" w="9525">
              <a:solidFill>
                <a:schemeClr val="accent1"/>
              </a:solidFill>
              <a:prstDash val="solid"/>
              <a:round/>
              <a:headEnd len="med" w="med" type="none"/>
              <a:tailEnd len="med" w="med" type="none"/>
            </a:ln>
          </p:spPr>
        </p:cxnSp>
      </p:grpSp>
      <p:cxnSp>
        <p:nvCxnSpPr>
          <p:cNvPr id="338" name="Google Shape;338;p30"/>
          <p:cNvCxnSpPr>
            <a:stCxn id="329" idx="5"/>
            <a:endCxn id="330" idx="2"/>
          </p:cNvCxnSpPr>
          <p:nvPr/>
        </p:nvCxnSpPr>
        <p:spPr>
          <a:xfrm>
            <a:off x="541007" y="4147132"/>
            <a:ext cx="1432800" cy="7476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1"/>
          <p:cNvSpPr txBox="1"/>
          <p:nvPr>
            <p:ph type="title"/>
          </p:nvPr>
        </p:nvSpPr>
        <p:spPr>
          <a:xfrm>
            <a:off x="1724719" y="1474175"/>
            <a:ext cx="2733600" cy="64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Project Overview</a:t>
            </a:r>
            <a:endParaRPr sz="2500"/>
          </a:p>
        </p:txBody>
      </p:sp>
      <p:sp>
        <p:nvSpPr>
          <p:cNvPr id="344" name="Google Shape;344;p31"/>
          <p:cNvSpPr txBox="1"/>
          <p:nvPr>
            <p:ph idx="5" type="title"/>
          </p:nvPr>
        </p:nvSpPr>
        <p:spPr>
          <a:xfrm>
            <a:off x="1724719" y="2637764"/>
            <a:ext cx="2733600" cy="64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Dataset</a:t>
            </a:r>
            <a:endParaRPr sz="2500"/>
          </a:p>
        </p:txBody>
      </p:sp>
      <p:sp>
        <p:nvSpPr>
          <p:cNvPr id="345" name="Google Shape;345;p31"/>
          <p:cNvSpPr txBox="1"/>
          <p:nvPr>
            <p:ph idx="6" type="title"/>
          </p:nvPr>
        </p:nvSpPr>
        <p:spPr>
          <a:xfrm>
            <a:off x="1724719" y="3808677"/>
            <a:ext cx="2733600" cy="64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Source of Bias</a:t>
            </a:r>
            <a:endParaRPr sz="2500"/>
          </a:p>
        </p:txBody>
      </p:sp>
      <p:sp>
        <p:nvSpPr>
          <p:cNvPr id="346" name="Google Shape;346;p31"/>
          <p:cNvSpPr txBox="1"/>
          <p:nvPr>
            <p:ph idx="7" type="title"/>
          </p:nvPr>
        </p:nvSpPr>
        <p:spPr>
          <a:xfrm>
            <a:off x="5658576" y="3801352"/>
            <a:ext cx="2732100" cy="63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FrontEnd DEV </a:t>
            </a:r>
            <a:endParaRPr sz="2500"/>
          </a:p>
        </p:txBody>
      </p:sp>
      <p:sp>
        <p:nvSpPr>
          <p:cNvPr id="347" name="Google Shape;347;p31"/>
          <p:cNvSpPr txBox="1"/>
          <p:nvPr>
            <p:ph idx="8" type="title"/>
          </p:nvPr>
        </p:nvSpPr>
        <p:spPr>
          <a:xfrm>
            <a:off x="5658576" y="2637764"/>
            <a:ext cx="2732100" cy="63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AI Model</a:t>
            </a:r>
            <a:endParaRPr sz="2500"/>
          </a:p>
        </p:txBody>
      </p:sp>
      <p:sp>
        <p:nvSpPr>
          <p:cNvPr id="348" name="Google Shape;348;p31"/>
          <p:cNvSpPr txBox="1"/>
          <p:nvPr>
            <p:ph idx="9" type="title"/>
          </p:nvPr>
        </p:nvSpPr>
        <p:spPr>
          <a:xfrm>
            <a:off x="5658576" y="1474175"/>
            <a:ext cx="2732100" cy="63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Data Preparation</a:t>
            </a:r>
            <a:endParaRPr sz="2500"/>
          </a:p>
        </p:txBody>
      </p:sp>
      <p:sp>
        <p:nvSpPr>
          <p:cNvPr id="349" name="Google Shape;349;p31"/>
          <p:cNvSpPr txBox="1"/>
          <p:nvPr>
            <p:ph idx="16"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t>Table of </a:t>
            </a:r>
            <a:r>
              <a:rPr lang="en" sz="3500">
                <a:solidFill>
                  <a:schemeClr val="accent6"/>
                </a:solidFill>
              </a:rPr>
              <a:t>contents</a:t>
            </a:r>
            <a:endParaRPr sz="3500">
              <a:solidFill>
                <a:schemeClr val="accent6"/>
              </a:solidFill>
            </a:endParaRPr>
          </a:p>
        </p:txBody>
      </p:sp>
      <p:sp>
        <p:nvSpPr>
          <p:cNvPr id="350" name="Google Shape;350;p31"/>
          <p:cNvSpPr/>
          <p:nvPr/>
        </p:nvSpPr>
        <p:spPr>
          <a:xfrm>
            <a:off x="753163" y="1392275"/>
            <a:ext cx="804300" cy="804000"/>
          </a:xfrm>
          <a:prstGeom prst="ellipse">
            <a:avLst/>
          </a:prstGeom>
          <a:solidFill>
            <a:srgbClr val="00FFFD">
              <a:alpha val="4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1" name="Google Shape;351;p31"/>
          <p:cNvSpPr/>
          <p:nvPr/>
        </p:nvSpPr>
        <p:spPr>
          <a:xfrm>
            <a:off x="753163" y="2554375"/>
            <a:ext cx="804300" cy="804000"/>
          </a:xfrm>
          <a:prstGeom prst="ellipse">
            <a:avLst/>
          </a:prstGeom>
          <a:solidFill>
            <a:srgbClr val="00FFFD">
              <a:alpha val="4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2" name="Google Shape;352;p31"/>
          <p:cNvSpPr/>
          <p:nvPr/>
        </p:nvSpPr>
        <p:spPr>
          <a:xfrm>
            <a:off x="753163" y="3716475"/>
            <a:ext cx="804300" cy="804000"/>
          </a:xfrm>
          <a:prstGeom prst="ellipse">
            <a:avLst/>
          </a:prstGeom>
          <a:solidFill>
            <a:srgbClr val="00FFFD">
              <a:alpha val="4873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3" name="Google Shape;353;p31"/>
          <p:cNvSpPr/>
          <p:nvPr/>
        </p:nvSpPr>
        <p:spPr>
          <a:xfrm>
            <a:off x="4684875" y="1392275"/>
            <a:ext cx="804300" cy="804000"/>
          </a:xfrm>
          <a:prstGeom prst="ellipse">
            <a:avLst/>
          </a:prstGeom>
          <a:solidFill>
            <a:srgbClr val="FF003A">
              <a:alpha val="481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4" name="Google Shape;354;p31"/>
          <p:cNvSpPr/>
          <p:nvPr/>
        </p:nvSpPr>
        <p:spPr>
          <a:xfrm>
            <a:off x="4684875" y="2554375"/>
            <a:ext cx="804300" cy="804000"/>
          </a:xfrm>
          <a:prstGeom prst="ellipse">
            <a:avLst/>
          </a:prstGeom>
          <a:solidFill>
            <a:srgbClr val="FF003A">
              <a:alpha val="481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5" name="Google Shape;355;p31"/>
          <p:cNvSpPr/>
          <p:nvPr/>
        </p:nvSpPr>
        <p:spPr>
          <a:xfrm>
            <a:off x="4684875" y="3716475"/>
            <a:ext cx="804300" cy="804000"/>
          </a:xfrm>
          <a:prstGeom prst="ellipse">
            <a:avLst/>
          </a:prstGeom>
          <a:solidFill>
            <a:srgbClr val="FF003A">
              <a:alpha val="481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56" name="Google Shape;356;p31"/>
          <p:cNvSpPr txBox="1"/>
          <p:nvPr>
            <p:ph idx="2" type="title"/>
          </p:nvPr>
        </p:nvSpPr>
        <p:spPr>
          <a:xfrm rot="4011">
            <a:off x="4829933" y="2659513"/>
            <a:ext cx="514200" cy="59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357" name="Google Shape;357;p31"/>
          <p:cNvSpPr txBox="1"/>
          <p:nvPr>
            <p:ph idx="3" type="title"/>
          </p:nvPr>
        </p:nvSpPr>
        <p:spPr>
          <a:xfrm>
            <a:off x="4829916" y="3823126"/>
            <a:ext cx="5142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358" name="Google Shape;358;p31"/>
          <p:cNvSpPr txBox="1"/>
          <p:nvPr>
            <p:ph idx="4" type="title"/>
          </p:nvPr>
        </p:nvSpPr>
        <p:spPr>
          <a:xfrm>
            <a:off x="898226" y="2659663"/>
            <a:ext cx="5142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359" name="Google Shape;359;p31"/>
          <p:cNvSpPr txBox="1"/>
          <p:nvPr>
            <p:ph idx="13" type="title"/>
          </p:nvPr>
        </p:nvSpPr>
        <p:spPr>
          <a:xfrm rot="4009">
            <a:off x="4829765" y="1496234"/>
            <a:ext cx="514500" cy="5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360" name="Google Shape;360;p31"/>
          <p:cNvSpPr txBox="1"/>
          <p:nvPr>
            <p:ph idx="14" type="title"/>
          </p:nvPr>
        </p:nvSpPr>
        <p:spPr>
          <a:xfrm rot="2006">
            <a:off x="898222" y="1496075"/>
            <a:ext cx="5142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61" name="Google Shape;361;p31"/>
          <p:cNvSpPr txBox="1"/>
          <p:nvPr>
            <p:ph idx="15" type="title"/>
          </p:nvPr>
        </p:nvSpPr>
        <p:spPr>
          <a:xfrm rot="2005">
            <a:off x="898081" y="3823264"/>
            <a:ext cx="5145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62" name="Google Shape;362;p31"/>
          <p:cNvSpPr/>
          <p:nvPr/>
        </p:nvSpPr>
        <p:spPr>
          <a:xfrm flipH="1">
            <a:off x="7761500" y="947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1"/>
          <p:cNvSpPr/>
          <p:nvPr/>
        </p:nvSpPr>
        <p:spPr>
          <a:xfrm flipH="1">
            <a:off x="6881250" y="11107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4" name="Google Shape;364;p31"/>
          <p:cNvCxnSpPr>
            <a:stCxn id="362" idx="6"/>
            <a:endCxn id="363" idx="2"/>
          </p:cNvCxnSpPr>
          <p:nvPr/>
        </p:nvCxnSpPr>
        <p:spPr>
          <a:xfrm flipH="1">
            <a:off x="6948500" y="1007800"/>
            <a:ext cx="813000" cy="1365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2"/>
          <p:cNvSpPr txBox="1"/>
          <p:nvPr>
            <p:ph type="title"/>
          </p:nvPr>
        </p:nvSpPr>
        <p:spPr>
          <a:xfrm>
            <a:off x="929550" y="2324100"/>
            <a:ext cx="3495000" cy="177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Project </a:t>
            </a:r>
            <a:endParaRPr/>
          </a:p>
          <a:p>
            <a:pPr indent="0" lvl="0" marL="0" rtl="0" algn="l">
              <a:spcBef>
                <a:spcPts val="0"/>
              </a:spcBef>
              <a:spcAft>
                <a:spcPts val="0"/>
              </a:spcAft>
              <a:buNone/>
            </a:pPr>
            <a:r>
              <a:rPr lang="en">
                <a:solidFill>
                  <a:schemeClr val="accent6"/>
                </a:solidFill>
              </a:rPr>
              <a:t>Overview</a:t>
            </a:r>
            <a:endParaRPr>
              <a:solidFill>
                <a:schemeClr val="accent6"/>
              </a:solidFill>
            </a:endParaRPr>
          </a:p>
        </p:txBody>
      </p:sp>
      <p:pic>
        <p:nvPicPr>
          <p:cNvPr id="370" name="Google Shape;370;p32"/>
          <p:cNvPicPr preferRelativeResize="0"/>
          <p:nvPr>
            <p:ph idx="3" type="pic"/>
          </p:nvPr>
        </p:nvPicPr>
        <p:blipFill rotWithShape="1">
          <a:blip r:embed="rId3">
            <a:alphaModFix/>
          </a:blip>
          <a:srcRect b="0" l="32840" r="18033" t="0"/>
          <a:stretch/>
        </p:blipFill>
        <p:spPr>
          <a:xfrm>
            <a:off x="5353050" y="0"/>
            <a:ext cx="3791099" cy="5143501"/>
          </a:xfrm>
          <a:prstGeom prst="rect">
            <a:avLst/>
          </a:prstGeom>
        </p:spPr>
      </p:pic>
      <p:sp>
        <p:nvSpPr>
          <p:cNvPr id="371" name="Google Shape;371;p32"/>
          <p:cNvSpPr/>
          <p:nvPr/>
        </p:nvSpPr>
        <p:spPr>
          <a:xfrm>
            <a:off x="929550" y="835275"/>
            <a:ext cx="1305900" cy="1305300"/>
          </a:xfrm>
          <a:prstGeom prst="ellipse">
            <a:avLst/>
          </a:prstGeom>
          <a:solidFill>
            <a:srgbClr val="FF003A">
              <a:alpha val="481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372" name="Google Shape;372;p32"/>
          <p:cNvSpPr txBox="1"/>
          <p:nvPr>
            <p:ph idx="2" type="title"/>
          </p:nvPr>
        </p:nvSpPr>
        <p:spPr>
          <a:xfrm>
            <a:off x="1183801" y="876075"/>
            <a:ext cx="797400" cy="122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373" name="Google Shape;373;p32"/>
          <p:cNvSpPr/>
          <p:nvPr/>
        </p:nvSpPr>
        <p:spPr>
          <a:xfrm>
            <a:off x="3731763" y="6924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2"/>
          <p:cNvSpPr/>
          <p:nvPr/>
        </p:nvSpPr>
        <p:spPr>
          <a:xfrm rot="-1106097">
            <a:off x="4729559" y="1814175"/>
            <a:ext cx="67357" cy="67357"/>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32"/>
          <p:cNvGrpSpPr/>
          <p:nvPr/>
        </p:nvGrpSpPr>
        <p:grpSpPr>
          <a:xfrm rot="-1099900">
            <a:off x="3204187" y="597874"/>
            <a:ext cx="1817261" cy="1121137"/>
            <a:chOff x="4501725" y="479127"/>
            <a:chExt cx="1817361" cy="1121198"/>
          </a:xfrm>
        </p:grpSpPr>
        <p:sp>
          <p:nvSpPr>
            <p:cNvPr id="376" name="Google Shape;376;p32"/>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2"/>
            <p:cNvSpPr/>
            <p:nvPr/>
          </p:nvSpPr>
          <p:spPr>
            <a:xfrm>
              <a:off x="6251886" y="61226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2"/>
            <p:cNvSpPr/>
            <p:nvPr/>
          </p:nvSpPr>
          <p:spPr>
            <a:xfrm>
              <a:off x="4501725" y="13267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9" name="Google Shape;379;p32"/>
            <p:cNvCxnSpPr>
              <a:stCxn id="376" idx="2"/>
              <a:endCxn id="378" idx="6"/>
            </p:cNvCxnSpPr>
            <p:nvPr/>
          </p:nvCxnSpPr>
          <p:spPr>
            <a:xfrm flipH="1" rot="1099349">
              <a:off x="4636774" y="1303316"/>
              <a:ext cx="676602" cy="195619"/>
            </a:xfrm>
            <a:prstGeom prst="straightConnector1">
              <a:avLst/>
            </a:prstGeom>
            <a:noFill/>
            <a:ln cap="flat" cmpd="sng" w="9525">
              <a:solidFill>
                <a:schemeClr val="accent1"/>
              </a:solidFill>
              <a:prstDash val="solid"/>
              <a:round/>
              <a:headEnd len="med" w="med" type="none"/>
              <a:tailEnd len="med" w="med" type="none"/>
            </a:ln>
          </p:spPr>
        </p:cxnSp>
        <p:cxnSp>
          <p:nvCxnSpPr>
            <p:cNvPr id="380" name="Google Shape;380;p32"/>
            <p:cNvCxnSpPr>
              <a:stCxn id="377" idx="3"/>
              <a:endCxn id="376" idx="7"/>
            </p:cNvCxnSpPr>
            <p:nvPr/>
          </p:nvCxnSpPr>
          <p:spPr>
            <a:xfrm flipH="1" rot="1099102">
              <a:off x="5519919" y="550003"/>
              <a:ext cx="606115" cy="960448"/>
            </a:xfrm>
            <a:prstGeom prst="straightConnector1">
              <a:avLst/>
            </a:prstGeom>
            <a:noFill/>
            <a:ln cap="flat" cmpd="sng" w="9525">
              <a:solidFill>
                <a:schemeClr val="accent1"/>
              </a:solidFill>
              <a:prstDash val="solid"/>
              <a:round/>
              <a:headEnd len="med" w="med" type="none"/>
              <a:tailEnd len="med" w="med" type="non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p:nvPr/>
        </p:nvSpPr>
        <p:spPr>
          <a:xfrm>
            <a:off x="5145425" y="3122288"/>
            <a:ext cx="1727700" cy="1832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386" name="Google Shape;386;p33"/>
          <p:cNvSpPr txBox="1"/>
          <p:nvPr>
            <p:ph type="title"/>
          </p:nvPr>
        </p:nvSpPr>
        <p:spPr>
          <a:xfrm>
            <a:off x="607275" y="479950"/>
            <a:ext cx="4538100" cy="16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Understanding Aneurysms and</a:t>
            </a:r>
            <a:r>
              <a:rPr lang="en">
                <a:solidFill>
                  <a:schemeClr val="accent6"/>
                </a:solidFill>
              </a:rPr>
              <a:t> </a:t>
            </a:r>
            <a:endParaRPr>
              <a:solidFill>
                <a:schemeClr val="accent6"/>
              </a:solidFill>
            </a:endParaRPr>
          </a:p>
          <a:p>
            <a:pPr indent="0" lvl="0" marL="0" rtl="0" algn="l">
              <a:spcBef>
                <a:spcPts val="0"/>
              </a:spcBef>
              <a:spcAft>
                <a:spcPts val="0"/>
              </a:spcAft>
              <a:buNone/>
            </a:pPr>
            <a:r>
              <a:rPr lang="en">
                <a:solidFill>
                  <a:schemeClr val="accent6"/>
                </a:solidFill>
              </a:rPr>
              <a:t>MRA Scans</a:t>
            </a:r>
            <a:endParaRPr>
              <a:solidFill>
                <a:schemeClr val="accent6"/>
              </a:solidFill>
            </a:endParaRPr>
          </a:p>
        </p:txBody>
      </p:sp>
      <p:sp>
        <p:nvSpPr>
          <p:cNvPr id="387" name="Google Shape;387;p33"/>
          <p:cNvSpPr txBox="1"/>
          <p:nvPr>
            <p:ph idx="1" type="subTitle"/>
          </p:nvPr>
        </p:nvSpPr>
        <p:spPr>
          <a:xfrm rot="-236">
            <a:off x="770225" y="2131870"/>
            <a:ext cx="4375200" cy="26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Why are MRA Scans Important?</a:t>
            </a:r>
            <a:endParaRPr sz="1700"/>
          </a:p>
          <a:p>
            <a:pPr indent="-323850" lvl="0" marL="457200" rtl="0" algn="l">
              <a:spcBef>
                <a:spcPts val="1000"/>
              </a:spcBef>
              <a:spcAft>
                <a:spcPts val="0"/>
              </a:spcAft>
              <a:buSzPts val="1500"/>
              <a:buChar char="●"/>
            </a:pPr>
            <a:r>
              <a:rPr lang="en" sz="1500"/>
              <a:t>They provide detailed images of blood vessels to diagnose and monitor a vascular conditions like aneurysms, blockages and arterial disease, without using ionizing radiation</a:t>
            </a:r>
            <a:endParaRPr sz="1500"/>
          </a:p>
          <a:p>
            <a:pPr indent="-323850" lvl="0" marL="457200" rtl="0" algn="l">
              <a:spcBef>
                <a:spcPts val="0"/>
              </a:spcBef>
              <a:spcAft>
                <a:spcPts val="0"/>
              </a:spcAft>
              <a:buSzPts val="1500"/>
              <a:buChar char="●"/>
            </a:pPr>
            <a:r>
              <a:rPr lang="en" sz="1500"/>
              <a:t>Assessing blood flow in specific areas such as the brain, lungs and heart</a:t>
            </a:r>
            <a:endParaRPr sz="1500"/>
          </a:p>
          <a:p>
            <a:pPr indent="-323850" lvl="0" marL="457200" rtl="0" algn="l">
              <a:spcBef>
                <a:spcPts val="0"/>
              </a:spcBef>
              <a:spcAft>
                <a:spcPts val="0"/>
              </a:spcAft>
              <a:buSzPts val="1500"/>
              <a:buChar char="●"/>
            </a:pPr>
            <a:r>
              <a:rPr lang="en" sz="1500"/>
              <a:t>Monitor changes in blood vessels over time</a:t>
            </a:r>
            <a:endParaRPr sz="1500"/>
          </a:p>
        </p:txBody>
      </p:sp>
      <p:sp>
        <p:nvSpPr>
          <p:cNvPr id="388" name="Google Shape;388;p33"/>
          <p:cNvSpPr/>
          <p:nvPr/>
        </p:nvSpPr>
        <p:spPr>
          <a:xfrm>
            <a:off x="7642050" y="6054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8742325" y="3696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8742325" y="18536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1" name="Google Shape;391;p33"/>
          <p:cNvCxnSpPr>
            <a:stCxn id="388" idx="5"/>
            <a:endCxn id="390" idx="1"/>
          </p:cNvCxnSpPr>
          <p:nvPr/>
        </p:nvCxnSpPr>
        <p:spPr>
          <a:xfrm>
            <a:off x="7745757" y="709157"/>
            <a:ext cx="1006500" cy="1154400"/>
          </a:xfrm>
          <a:prstGeom prst="straightConnector1">
            <a:avLst/>
          </a:prstGeom>
          <a:noFill/>
          <a:ln cap="flat" cmpd="sng" w="9525">
            <a:solidFill>
              <a:schemeClr val="accent1"/>
            </a:solidFill>
            <a:prstDash val="solid"/>
            <a:round/>
            <a:headEnd len="med" w="med" type="none"/>
            <a:tailEnd len="med" w="med" type="none"/>
          </a:ln>
        </p:spPr>
      </p:cxnSp>
      <p:sp>
        <p:nvSpPr>
          <p:cNvPr id="392" name="Google Shape;392;p33"/>
          <p:cNvSpPr/>
          <p:nvPr/>
        </p:nvSpPr>
        <p:spPr>
          <a:xfrm rot="1686866">
            <a:off x="8691568" y="3366752"/>
            <a:ext cx="168706" cy="1824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 name="Google Shape;393;p33"/>
          <p:cNvCxnSpPr>
            <a:stCxn id="388" idx="6"/>
            <a:endCxn id="389" idx="2"/>
          </p:cNvCxnSpPr>
          <p:nvPr/>
        </p:nvCxnSpPr>
        <p:spPr>
          <a:xfrm flipH="1" rot="10800000">
            <a:off x="7763550" y="403100"/>
            <a:ext cx="978900" cy="263100"/>
          </a:xfrm>
          <a:prstGeom prst="straightConnector1">
            <a:avLst/>
          </a:prstGeom>
          <a:noFill/>
          <a:ln cap="flat" cmpd="sng" w="9525">
            <a:solidFill>
              <a:schemeClr val="accent1"/>
            </a:solidFill>
            <a:prstDash val="solid"/>
            <a:round/>
            <a:headEnd len="med" w="med" type="none"/>
            <a:tailEnd len="med" w="med" type="none"/>
          </a:ln>
        </p:spPr>
      </p:cxnSp>
      <p:cxnSp>
        <p:nvCxnSpPr>
          <p:cNvPr id="394" name="Google Shape;394;p33"/>
          <p:cNvCxnSpPr>
            <a:endCxn id="392" idx="4"/>
          </p:cNvCxnSpPr>
          <p:nvPr/>
        </p:nvCxnSpPr>
        <p:spPr>
          <a:xfrm flipH="1" rot="10800000">
            <a:off x="7244271" y="3538352"/>
            <a:ext cx="1488600" cy="1290000"/>
          </a:xfrm>
          <a:prstGeom prst="straightConnector1">
            <a:avLst/>
          </a:prstGeom>
          <a:noFill/>
          <a:ln cap="flat" cmpd="sng" w="9525">
            <a:solidFill>
              <a:schemeClr val="accent1"/>
            </a:solidFill>
            <a:prstDash val="solid"/>
            <a:round/>
            <a:headEnd len="med" w="med" type="none"/>
            <a:tailEnd len="med" w="med" type="none"/>
          </a:ln>
        </p:spPr>
      </p:cxnSp>
      <p:sp>
        <p:nvSpPr>
          <p:cNvPr id="395" name="Google Shape;395;p33"/>
          <p:cNvSpPr/>
          <p:nvPr/>
        </p:nvSpPr>
        <p:spPr>
          <a:xfrm>
            <a:off x="7193750" y="48283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p:nvPr/>
        </p:nvSpPr>
        <p:spPr>
          <a:xfrm>
            <a:off x="4848225" y="571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7" name="Google Shape;397;p33" title="1250286-200.png"/>
          <p:cNvPicPr preferRelativeResize="0"/>
          <p:nvPr/>
        </p:nvPicPr>
        <p:blipFill>
          <a:blip r:embed="rId3">
            <a:alphaModFix/>
          </a:blip>
          <a:stretch>
            <a:fillRect/>
          </a:stretch>
        </p:blipFill>
        <p:spPr>
          <a:xfrm>
            <a:off x="5145425" y="3220600"/>
            <a:ext cx="1635775" cy="1635775"/>
          </a:xfrm>
          <a:prstGeom prst="rect">
            <a:avLst/>
          </a:prstGeom>
          <a:noFill/>
          <a:ln>
            <a:noFill/>
          </a:ln>
        </p:spPr>
      </p:pic>
      <p:pic>
        <p:nvPicPr>
          <p:cNvPr id="398" name="Google Shape;398;p33"/>
          <p:cNvPicPr preferRelativeResize="0"/>
          <p:nvPr/>
        </p:nvPicPr>
        <p:blipFill rotWithShape="1">
          <a:blip r:embed="rId4">
            <a:alphaModFix/>
          </a:blip>
          <a:srcRect b="7240" l="10039" r="11951" t="8271"/>
          <a:stretch/>
        </p:blipFill>
        <p:spPr>
          <a:xfrm>
            <a:off x="6406961" y="782320"/>
            <a:ext cx="1289340" cy="1396474"/>
          </a:xfrm>
          <a:prstGeom prst="rect">
            <a:avLst/>
          </a:prstGeom>
          <a:noFill/>
          <a:ln>
            <a:noFill/>
          </a:ln>
        </p:spPr>
      </p:pic>
      <p:pic>
        <p:nvPicPr>
          <p:cNvPr id="399" name="Google Shape;399;p33"/>
          <p:cNvPicPr preferRelativeResize="0"/>
          <p:nvPr/>
        </p:nvPicPr>
        <p:blipFill rotWithShape="1">
          <a:blip r:embed="rId5">
            <a:alphaModFix/>
          </a:blip>
          <a:srcRect b="0" l="766" r="7992" t="1019"/>
          <a:stretch/>
        </p:blipFill>
        <p:spPr>
          <a:xfrm>
            <a:off x="4969717" y="540000"/>
            <a:ext cx="3822382" cy="2322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dk2"/>
            </a:gs>
            <a:gs pos="100000">
              <a:srgbClr val="0C0223"/>
            </a:gs>
          </a:gsLst>
          <a:path path="circle">
            <a:fillToRect b="50%" l="50%" r="50%" t="50%"/>
          </a:path>
          <a:tileRect/>
        </a:gradFill>
      </p:bgPr>
    </p:bg>
    <p:spTree>
      <p:nvGrpSpPr>
        <p:cNvPr id="403" name="Shape 403"/>
        <p:cNvGrpSpPr/>
        <p:nvPr/>
      </p:nvGrpSpPr>
      <p:grpSpPr>
        <a:xfrm>
          <a:off x="0" y="0"/>
          <a:ext cx="0" cy="0"/>
          <a:chOff x="0" y="0"/>
          <a:chExt cx="0" cy="0"/>
        </a:xfrm>
      </p:grpSpPr>
      <p:sp>
        <p:nvSpPr>
          <p:cNvPr id="404" name="Google Shape;404;p34"/>
          <p:cNvSpPr txBox="1"/>
          <p:nvPr>
            <p:ph idx="1" type="subTitle"/>
          </p:nvPr>
        </p:nvSpPr>
        <p:spPr>
          <a:xfrm>
            <a:off x="511375" y="1967338"/>
            <a:ext cx="3030000" cy="132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Size: 382 test samples</a:t>
            </a:r>
            <a:endParaRPr sz="1800"/>
          </a:p>
          <a:p>
            <a:pPr indent="-342900" lvl="0" marL="457200" rtl="0" algn="l">
              <a:spcBef>
                <a:spcPts val="0"/>
              </a:spcBef>
              <a:spcAft>
                <a:spcPts val="0"/>
              </a:spcAft>
              <a:buSzPts val="1800"/>
              <a:buChar char="●"/>
            </a:pPr>
            <a:r>
              <a:rPr lang="en" sz="1800"/>
              <a:t>Format: 64 × 64 × 64 voxels (grayscale 3D volumes)</a:t>
            </a:r>
            <a:endParaRPr sz="1800"/>
          </a:p>
        </p:txBody>
      </p:sp>
      <p:sp>
        <p:nvSpPr>
          <p:cNvPr id="405" name="Google Shape;405;p34"/>
          <p:cNvSpPr txBox="1"/>
          <p:nvPr>
            <p:ph idx="2" type="subTitle"/>
          </p:nvPr>
        </p:nvSpPr>
        <p:spPr>
          <a:xfrm>
            <a:off x="5494176" y="1885625"/>
            <a:ext cx="3030000" cy="1324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Class 0 (Healthy): 339 samples (88.7%)</a:t>
            </a:r>
            <a:endParaRPr sz="1800"/>
          </a:p>
          <a:p>
            <a:pPr indent="-342900" lvl="0" marL="457200" rtl="0" algn="l">
              <a:spcBef>
                <a:spcPts val="0"/>
              </a:spcBef>
              <a:spcAft>
                <a:spcPts val="0"/>
              </a:spcAft>
              <a:buSzPts val="1800"/>
              <a:buChar char="●"/>
            </a:pPr>
            <a:r>
              <a:rPr lang="en" sz="1800"/>
              <a:t>Class 1 (Aneurysm): 43 samples (11.3%)</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406" name="Google Shape;406;p34"/>
          <p:cNvSpPr txBox="1"/>
          <p:nvPr>
            <p:ph type="title"/>
          </p:nvPr>
        </p:nvSpPr>
        <p:spPr>
          <a:xfrm>
            <a:off x="720000" y="35075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t>Dataset: </a:t>
            </a:r>
            <a:r>
              <a:rPr lang="en" sz="3500">
                <a:solidFill>
                  <a:srgbClr val="FF2758"/>
                </a:solidFill>
              </a:rPr>
              <a:t>VesselMNIST3D</a:t>
            </a:r>
            <a:endParaRPr sz="3500">
              <a:solidFill>
                <a:srgbClr val="FF2758"/>
              </a:solidFill>
            </a:endParaRPr>
          </a:p>
        </p:txBody>
      </p:sp>
      <p:sp>
        <p:nvSpPr>
          <p:cNvPr id="407" name="Google Shape;407;p34"/>
          <p:cNvSpPr txBox="1"/>
          <p:nvPr>
            <p:ph idx="3" type="title"/>
          </p:nvPr>
        </p:nvSpPr>
        <p:spPr>
          <a:xfrm>
            <a:off x="720148" y="1572100"/>
            <a:ext cx="3535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Dataset Characteristics </a:t>
            </a:r>
            <a:endParaRPr sz="2000"/>
          </a:p>
        </p:txBody>
      </p:sp>
      <p:sp>
        <p:nvSpPr>
          <p:cNvPr id="408" name="Google Shape;408;p34"/>
          <p:cNvSpPr txBox="1"/>
          <p:nvPr>
            <p:ph idx="4" type="title"/>
          </p:nvPr>
        </p:nvSpPr>
        <p:spPr>
          <a:xfrm>
            <a:off x="5499068" y="1448075"/>
            <a:ext cx="30204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Class Distribution:</a:t>
            </a:r>
            <a:endParaRPr sz="2000"/>
          </a:p>
        </p:txBody>
      </p:sp>
      <p:grpSp>
        <p:nvGrpSpPr>
          <p:cNvPr id="409" name="Google Shape;409;p34"/>
          <p:cNvGrpSpPr/>
          <p:nvPr/>
        </p:nvGrpSpPr>
        <p:grpSpPr>
          <a:xfrm>
            <a:off x="5538059" y="1060078"/>
            <a:ext cx="376691" cy="373100"/>
            <a:chOff x="5605384" y="1514315"/>
            <a:chExt cx="376691" cy="373100"/>
          </a:xfrm>
        </p:grpSpPr>
        <p:sp>
          <p:nvSpPr>
            <p:cNvPr id="410" name="Google Shape;410;p34"/>
            <p:cNvSpPr/>
            <p:nvPr/>
          </p:nvSpPr>
          <p:spPr>
            <a:xfrm>
              <a:off x="5632870" y="1541802"/>
              <a:ext cx="241438" cy="241438"/>
            </a:xfrm>
            <a:custGeom>
              <a:rect b="b" l="l" r="r" t="t"/>
              <a:pathLst>
                <a:path extrusionOk="0" h="5648" w="5648">
                  <a:moveTo>
                    <a:pt x="2824" y="1"/>
                  </a:moveTo>
                  <a:cubicBezTo>
                    <a:pt x="1267" y="1"/>
                    <a:pt x="1" y="1267"/>
                    <a:pt x="1" y="2824"/>
                  </a:cubicBezTo>
                  <a:cubicBezTo>
                    <a:pt x="1" y="4020"/>
                    <a:pt x="757" y="5088"/>
                    <a:pt x="1883" y="5487"/>
                  </a:cubicBezTo>
                  <a:cubicBezTo>
                    <a:pt x="1897" y="5492"/>
                    <a:pt x="1911" y="5494"/>
                    <a:pt x="1925" y="5494"/>
                  </a:cubicBezTo>
                  <a:cubicBezTo>
                    <a:pt x="1977" y="5494"/>
                    <a:pt x="2027" y="5462"/>
                    <a:pt x="2047" y="5409"/>
                  </a:cubicBezTo>
                  <a:cubicBezTo>
                    <a:pt x="2070" y="5344"/>
                    <a:pt x="2034" y="5270"/>
                    <a:pt x="1969" y="5246"/>
                  </a:cubicBezTo>
                  <a:cubicBezTo>
                    <a:pt x="945" y="4885"/>
                    <a:pt x="256" y="3911"/>
                    <a:pt x="256" y="2824"/>
                  </a:cubicBezTo>
                  <a:cubicBezTo>
                    <a:pt x="256" y="1408"/>
                    <a:pt x="1408" y="256"/>
                    <a:pt x="2824" y="256"/>
                  </a:cubicBezTo>
                  <a:cubicBezTo>
                    <a:pt x="4241" y="256"/>
                    <a:pt x="5392" y="1408"/>
                    <a:pt x="5392" y="2824"/>
                  </a:cubicBezTo>
                  <a:cubicBezTo>
                    <a:pt x="5392" y="4258"/>
                    <a:pt x="4223" y="5392"/>
                    <a:pt x="2828" y="5392"/>
                  </a:cubicBezTo>
                  <a:cubicBezTo>
                    <a:pt x="2706" y="5392"/>
                    <a:pt x="2583" y="5384"/>
                    <a:pt x="2458" y="5366"/>
                  </a:cubicBezTo>
                  <a:cubicBezTo>
                    <a:pt x="2452" y="5365"/>
                    <a:pt x="2445" y="5364"/>
                    <a:pt x="2439" y="5364"/>
                  </a:cubicBezTo>
                  <a:cubicBezTo>
                    <a:pt x="2376" y="5364"/>
                    <a:pt x="2322" y="5410"/>
                    <a:pt x="2312" y="5473"/>
                  </a:cubicBezTo>
                  <a:cubicBezTo>
                    <a:pt x="2302" y="5544"/>
                    <a:pt x="2350" y="5608"/>
                    <a:pt x="2421" y="5619"/>
                  </a:cubicBezTo>
                  <a:cubicBezTo>
                    <a:pt x="2557" y="5638"/>
                    <a:pt x="2692" y="5648"/>
                    <a:pt x="2825" y="5648"/>
                  </a:cubicBezTo>
                  <a:cubicBezTo>
                    <a:pt x="4355" y="5648"/>
                    <a:pt x="5648" y="4404"/>
                    <a:pt x="5648" y="2824"/>
                  </a:cubicBezTo>
                  <a:cubicBezTo>
                    <a:pt x="5648" y="1267"/>
                    <a:pt x="4381" y="1"/>
                    <a:pt x="282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4"/>
            <p:cNvSpPr/>
            <p:nvPr/>
          </p:nvSpPr>
          <p:spPr>
            <a:xfrm>
              <a:off x="5605384" y="1514315"/>
              <a:ext cx="376691" cy="373100"/>
            </a:xfrm>
            <a:custGeom>
              <a:rect b="b" l="l" r="r" t="t"/>
              <a:pathLst>
                <a:path extrusionOk="0" h="8728" w="8812">
                  <a:moveTo>
                    <a:pt x="3467" y="258"/>
                  </a:moveTo>
                  <a:cubicBezTo>
                    <a:pt x="5238" y="258"/>
                    <a:pt x="6678" y="1698"/>
                    <a:pt x="6678" y="3467"/>
                  </a:cubicBezTo>
                  <a:cubicBezTo>
                    <a:pt x="6678" y="5238"/>
                    <a:pt x="5237" y="6677"/>
                    <a:pt x="3467" y="6677"/>
                  </a:cubicBezTo>
                  <a:cubicBezTo>
                    <a:pt x="1698" y="6677"/>
                    <a:pt x="258" y="5238"/>
                    <a:pt x="258" y="3467"/>
                  </a:cubicBezTo>
                  <a:cubicBezTo>
                    <a:pt x="258" y="1698"/>
                    <a:pt x="1698" y="258"/>
                    <a:pt x="3467" y="258"/>
                  </a:cubicBezTo>
                  <a:close/>
                  <a:moveTo>
                    <a:pt x="6734" y="4696"/>
                  </a:moveTo>
                  <a:cubicBezTo>
                    <a:pt x="7025" y="4696"/>
                    <a:pt x="7210" y="5015"/>
                    <a:pt x="7065" y="5271"/>
                  </a:cubicBezTo>
                  <a:cubicBezTo>
                    <a:pt x="6644" y="6016"/>
                    <a:pt x="6018" y="6643"/>
                    <a:pt x="5271" y="7065"/>
                  </a:cubicBezTo>
                  <a:cubicBezTo>
                    <a:pt x="5209" y="7100"/>
                    <a:pt x="5144" y="7116"/>
                    <a:pt x="5081" y="7116"/>
                  </a:cubicBezTo>
                  <a:cubicBezTo>
                    <a:pt x="4871" y="7116"/>
                    <a:pt x="4681" y="6940"/>
                    <a:pt x="4697" y="6706"/>
                  </a:cubicBezTo>
                  <a:cubicBezTo>
                    <a:pt x="5621" y="6354"/>
                    <a:pt x="6356" y="5620"/>
                    <a:pt x="6706" y="4697"/>
                  </a:cubicBezTo>
                  <a:cubicBezTo>
                    <a:pt x="6716" y="4697"/>
                    <a:pt x="6725" y="4696"/>
                    <a:pt x="6734" y="4696"/>
                  </a:cubicBezTo>
                  <a:close/>
                  <a:moveTo>
                    <a:pt x="3466" y="0"/>
                  </a:moveTo>
                  <a:cubicBezTo>
                    <a:pt x="1555" y="0"/>
                    <a:pt x="0" y="1554"/>
                    <a:pt x="0" y="3466"/>
                  </a:cubicBezTo>
                  <a:cubicBezTo>
                    <a:pt x="0" y="5428"/>
                    <a:pt x="1613" y="6933"/>
                    <a:pt x="3462" y="6933"/>
                  </a:cubicBezTo>
                  <a:cubicBezTo>
                    <a:pt x="3784" y="6933"/>
                    <a:pt x="4113" y="6888"/>
                    <a:pt x="4442" y="6791"/>
                  </a:cubicBezTo>
                  <a:cubicBezTo>
                    <a:pt x="4474" y="7138"/>
                    <a:pt x="4767" y="7370"/>
                    <a:pt x="5080" y="7370"/>
                  </a:cubicBezTo>
                  <a:cubicBezTo>
                    <a:pt x="5186" y="7370"/>
                    <a:pt x="5294" y="7344"/>
                    <a:pt x="5395" y="7287"/>
                  </a:cubicBezTo>
                  <a:cubicBezTo>
                    <a:pt x="5577" y="7183"/>
                    <a:pt x="5751" y="7069"/>
                    <a:pt x="5919" y="6945"/>
                  </a:cubicBezTo>
                  <a:cubicBezTo>
                    <a:pt x="6324" y="7556"/>
                    <a:pt x="6823" y="8097"/>
                    <a:pt x="7406" y="8554"/>
                  </a:cubicBezTo>
                  <a:cubicBezTo>
                    <a:pt x="7554" y="8670"/>
                    <a:pt x="7731" y="8728"/>
                    <a:pt x="7909" y="8728"/>
                  </a:cubicBezTo>
                  <a:cubicBezTo>
                    <a:pt x="8119" y="8728"/>
                    <a:pt x="8329" y="8647"/>
                    <a:pt x="8488" y="8488"/>
                  </a:cubicBezTo>
                  <a:cubicBezTo>
                    <a:pt x="8783" y="8197"/>
                    <a:pt x="8811" y="7731"/>
                    <a:pt x="8557" y="7407"/>
                  </a:cubicBezTo>
                  <a:cubicBezTo>
                    <a:pt x="8288" y="7064"/>
                    <a:pt x="7986" y="6746"/>
                    <a:pt x="7660" y="6463"/>
                  </a:cubicBezTo>
                  <a:cubicBezTo>
                    <a:pt x="7636" y="6441"/>
                    <a:pt x="7606" y="6431"/>
                    <a:pt x="7575" y="6431"/>
                  </a:cubicBezTo>
                  <a:cubicBezTo>
                    <a:pt x="7539" y="6431"/>
                    <a:pt x="7504" y="6445"/>
                    <a:pt x="7479" y="6474"/>
                  </a:cubicBezTo>
                  <a:cubicBezTo>
                    <a:pt x="7433" y="6527"/>
                    <a:pt x="7438" y="6609"/>
                    <a:pt x="7491" y="6655"/>
                  </a:cubicBezTo>
                  <a:cubicBezTo>
                    <a:pt x="7805" y="6928"/>
                    <a:pt x="8095" y="7234"/>
                    <a:pt x="8354" y="7563"/>
                  </a:cubicBezTo>
                  <a:cubicBezTo>
                    <a:pt x="8530" y="7787"/>
                    <a:pt x="8510" y="8105"/>
                    <a:pt x="8309" y="8307"/>
                  </a:cubicBezTo>
                  <a:cubicBezTo>
                    <a:pt x="8199" y="8417"/>
                    <a:pt x="8055" y="8472"/>
                    <a:pt x="7910" y="8472"/>
                  </a:cubicBezTo>
                  <a:cubicBezTo>
                    <a:pt x="7789" y="8472"/>
                    <a:pt x="7667" y="8433"/>
                    <a:pt x="7565" y="8353"/>
                  </a:cubicBezTo>
                  <a:cubicBezTo>
                    <a:pt x="6998" y="7909"/>
                    <a:pt x="6513" y="7381"/>
                    <a:pt x="6122" y="6786"/>
                  </a:cubicBezTo>
                  <a:cubicBezTo>
                    <a:pt x="6364" y="6585"/>
                    <a:pt x="6585" y="6364"/>
                    <a:pt x="6786" y="6122"/>
                  </a:cubicBezTo>
                  <a:cubicBezTo>
                    <a:pt x="6897" y="6195"/>
                    <a:pt x="7007" y="6270"/>
                    <a:pt x="7112" y="6350"/>
                  </a:cubicBezTo>
                  <a:cubicBezTo>
                    <a:pt x="7136" y="6367"/>
                    <a:pt x="7162" y="6375"/>
                    <a:pt x="7189" y="6375"/>
                  </a:cubicBezTo>
                  <a:cubicBezTo>
                    <a:pt x="7228" y="6375"/>
                    <a:pt x="7267" y="6357"/>
                    <a:pt x="7292" y="6323"/>
                  </a:cubicBezTo>
                  <a:cubicBezTo>
                    <a:pt x="7334" y="6267"/>
                    <a:pt x="7322" y="6187"/>
                    <a:pt x="7265" y="6144"/>
                  </a:cubicBezTo>
                  <a:cubicBezTo>
                    <a:pt x="7161" y="6067"/>
                    <a:pt x="7054" y="5991"/>
                    <a:pt x="6945" y="5919"/>
                  </a:cubicBezTo>
                  <a:cubicBezTo>
                    <a:pt x="7070" y="5751"/>
                    <a:pt x="7184" y="5576"/>
                    <a:pt x="7287" y="5395"/>
                  </a:cubicBezTo>
                  <a:cubicBezTo>
                    <a:pt x="7514" y="4992"/>
                    <a:pt x="7253" y="4485"/>
                    <a:pt x="6791" y="4442"/>
                  </a:cubicBezTo>
                  <a:cubicBezTo>
                    <a:pt x="7444" y="2222"/>
                    <a:pt x="5768" y="0"/>
                    <a:pt x="34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4"/>
            <p:cNvSpPr/>
            <p:nvPr/>
          </p:nvSpPr>
          <p:spPr>
            <a:xfrm>
              <a:off x="5669505" y="1569288"/>
              <a:ext cx="168511" cy="186678"/>
            </a:xfrm>
            <a:custGeom>
              <a:rect b="b" l="l" r="r" t="t"/>
              <a:pathLst>
                <a:path extrusionOk="0" h="4367" w="3942">
                  <a:moveTo>
                    <a:pt x="1968" y="267"/>
                  </a:moveTo>
                  <a:cubicBezTo>
                    <a:pt x="2035" y="267"/>
                    <a:pt x="2098" y="323"/>
                    <a:pt x="2098" y="402"/>
                  </a:cubicBezTo>
                  <a:lnTo>
                    <a:pt x="2098" y="719"/>
                  </a:lnTo>
                  <a:cubicBezTo>
                    <a:pt x="2098" y="1118"/>
                    <a:pt x="2431" y="1415"/>
                    <a:pt x="2796" y="1415"/>
                  </a:cubicBezTo>
                  <a:cubicBezTo>
                    <a:pt x="2915" y="1415"/>
                    <a:pt x="3037" y="1383"/>
                    <a:pt x="3152" y="1314"/>
                  </a:cubicBezTo>
                  <a:lnTo>
                    <a:pt x="3424" y="1148"/>
                  </a:lnTo>
                  <a:cubicBezTo>
                    <a:pt x="3446" y="1135"/>
                    <a:pt x="3470" y="1129"/>
                    <a:pt x="3494" y="1129"/>
                  </a:cubicBezTo>
                  <a:cubicBezTo>
                    <a:pt x="3533" y="1129"/>
                    <a:pt x="3571" y="1145"/>
                    <a:pt x="3596" y="1177"/>
                  </a:cubicBezTo>
                  <a:cubicBezTo>
                    <a:pt x="3645" y="1238"/>
                    <a:pt x="3627" y="1325"/>
                    <a:pt x="3561" y="1365"/>
                  </a:cubicBezTo>
                  <a:lnTo>
                    <a:pt x="3287" y="1531"/>
                  </a:lnTo>
                  <a:cubicBezTo>
                    <a:pt x="2799" y="1828"/>
                    <a:pt x="2796" y="2529"/>
                    <a:pt x="3287" y="2828"/>
                  </a:cubicBezTo>
                  <a:lnTo>
                    <a:pt x="3556" y="2991"/>
                  </a:lnTo>
                  <a:cubicBezTo>
                    <a:pt x="3612" y="3025"/>
                    <a:pt x="3638" y="3095"/>
                    <a:pt x="3612" y="3155"/>
                  </a:cubicBezTo>
                  <a:cubicBezTo>
                    <a:pt x="3591" y="3203"/>
                    <a:pt x="3543" y="3230"/>
                    <a:pt x="3495" y="3230"/>
                  </a:cubicBezTo>
                  <a:cubicBezTo>
                    <a:pt x="3472" y="3230"/>
                    <a:pt x="3449" y="3224"/>
                    <a:pt x="3428" y="3211"/>
                  </a:cubicBezTo>
                  <a:lnTo>
                    <a:pt x="3152" y="3044"/>
                  </a:lnTo>
                  <a:cubicBezTo>
                    <a:pt x="3037" y="2974"/>
                    <a:pt x="2915" y="2943"/>
                    <a:pt x="2795" y="2943"/>
                  </a:cubicBezTo>
                  <a:cubicBezTo>
                    <a:pt x="2432" y="2943"/>
                    <a:pt x="2098" y="3235"/>
                    <a:pt x="2098" y="3638"/>
                  </a:cubicBezTo>
                  <a:lnTo>
                    <a:pt x="2098" y="3958"/>
                  </a:lnTo>
                  <a:cubicBezTo>
                    <a:pt x="2098" y="3992"/>
                    <a:pt x="2086" y="4025"/>
                    <a:pt x="2062" y="4050"/>
                  </a:cubicBezTo>
                  <a:cubicBezTo>
                    <a:pt x="2035" y="4078"/>
                    <a:pt x="2003" y="4090"/>
                    <a:pt x="1971" y="4090"/>
                  </a:cubicBezTo>
                  <a:cubicBezTo>
                    <a:pt x="1905" y="4090"/>
                    <a:pt x="1842" y="4035"/>
                    <a:pt x="1842" y="3955"/>
                  </a:cubicBezTo>
                  <a:lnTo>
                    <a:pt x="1842" y="3638"/>
                  </a:lnTo>
                  <a:cubicBezTo>
                    <a:pt x="1842" y="3235"/>
                    <a:pt x="1507" y="2945"/>
                    <a:pt x="1145" y="2945"/>
                  </a:cubicBezTo>
                  <a:cubicBezTo>
                    <a:pt x="1025" y="2945"/>
                    <a:pt x="903" y="2976"/>
                    <a:pt x="789" y="3045"/>
                  </a:cubicBezTo>
                  <a:lnTo>
                    <a:pt x="511" y="3213"/>
                  </a:lnTo>
                  <a:cubicBezTo>
                    <a:pt x="491" y="3225"/>
                    <a:pt x="468" y="3231"/>
                    <a:pt x="446" y="3231"/>
                  </a:cubicBezTo>
                  <a:cubicBezTo>
                    <a:pt x="398" y="3231"/>
                    <a:pt x="351" y="3204"/>
                    <a:pt x="328" y="3156"/>
                  </a:cubicBezTo>
                  <a:cubicBezTo>
                    <a:pt x="301" y="3096"/>
                    <a:pt x="327" y="3025"/>
                    <a:pt x="384" y="2990"/>
                  </a:cubicBezTo>
                  <a:lnTo>
                    <a:pt x="653" y="2828"/>
                  </a:lnTo>
                  <a:cubicBezTo>
                    <a:pt x="1144" y="2529"/>
                    <a:pt x="1142" y="1828"/>
                    <a:pt x="653" y="1531"/>
                  </a:cubicBezTo>
                  <a:lnTo>
                    <a:pt x="384" y="1368"/>
                  </a:lnTo>
                  <a:cubicBezTo>
                    <a:pt x="328" y="1333"/>
                    <a:pt x="301" y="1263"/>
                    <a:pt x="328" y="1204"/>
                  </a:cubicBezTo>
                  <a:cubicBezTo>
                    <a:pt x="349" y="1155"/>
                    <a:pt x="397" y="1128"/>
                    <a:pt x="445" y="1128"/>
                  </a:cubicBezTo>
                  <a:cubicBezTo>
                    <a:pt x="468" y="1128"/>
                    <a:pt x="491" y="1134"/>
                    <a:pt x="511" y="1146"/>
                  </a:cubicBezTo>
                  <a:lnTo>
                    <a:pt x="789" y="1314"/>
                  </a:lnTo>
                  <a:cubicBezTo>
                    <a:pt x="903" y="1383"/>
                    <a:pt x="1025" y="1415"/>
                    <a:pt x="1144" y="1415"/>
                  </a:cubicBezTo>
                  <a:cubicBezTo>
                    <a:pt x="1508" y="1415"/>
                    <a:pt x="1842" y="1118"/>
                    <a:pt x="1842" y="719"/>
                  </a:cubicBezTo>
                  <a:lnTo>
                    <a:pt x="1842" y="399"/>
                  </a:lnTo>
                  <a:cubicBezTo>
                    <a:pt x="1842" y="365"/>
                    <a:pt x="1854" y="333"/>
                    <a:pt x="1877" y="307"/>
                  </a:cubicBezTo>
                  <a:cubicBezTo>
                    <a:pt x="1904" y="279"/>
                    <a:pt x="1936" y="267"/>
                    <a:pt x="1968" y="267"/>
                  </a:cubicBezTo>
                  <a:close/>
                  <a:moveTo>
                    <a:pt x="1971" y="1"/>
                  </a:moveTo>
                  <a:cubicBezTo>
                    <a:pt x="1756" y="1"/>
                    <a:pt x="1587" y="176"/>
                    <a:pt x="1587" y="385"/>
                  </a:cubicBezTo>
                  <a:lnTo>
                    <a:pt x="1587" y="710"/>
                  </a:lnTo>
                  <a:cubicBezTo>
                    <a:pt x="1587" y="967"/>
                    <a:pt x="1374" y="1157"/>
                    <a:pt x="1142" y="1157"/>
                  </a:cubicBezTo>
                  <a:cubicBezTo>
                    <a:pt x="1066" y="1157"/>
                    <a:pt x="988" y="1137"/>
                    <a:pt x="915" y="1092"/>
                  </a:cubicBezTo>
                  <a:lnTo>
                    <a:pt x="637" y="924"/>
                  </a:lnTo>
                  <a:cubicBezTo>
                    <a:pt x="574" y="886"/>
                    <a:pt x="506" y="868"/>
                    <a:pt x="438" y="868"/>
                  </a:cubicBezTo>
                  <a:cubicBezTo>
                    <a:pt x="308" y="868"/>
                    <a:pt x="182" y="934"/>
                    <a:pt x="110" y="1053"/>
                  </a:cubicBezTo>
                  <a:cubicBezTo>
                    <a:pt x="1" y="1236"/>
                    <a:pt x="59" y="1472"/>
                    <a:pt x="240" y="1581"/>
                  </a:cubicBezTo>
                  <a:lnTo>
                    <a:pt x="515" y="1749"/>
                  </a:lnTo>
                  <a:cubicBezTo>
                    <a:pt x="844" y="1948"/>
                    <a:pt x="845" y="2417"/>
                    <a:pt x="515" y="2618"/>
                  </a:cubicBezTo>
                  <a:lnTo>
                    <a:pt x="240" y="2786"/>
                  </a:lnTo>
                  <a:cubicBezTo>
                    <a:pt x="58" y="2894"/>
                    <a:pt x="1" y="3132"/>
                    <a:pt x="110" y="3313"/>
                  </a:cubicBezTo>
                  <a:cubicBezTo>
                    <a:pt x="182" y="3433"/>
                    <a:pt x="309" y="3499"/>
                    <a:pt x="439" y="3499"/>
                  </a:cubicBezTo>
                  <a:cubicBezTo>
                    <a:pt x="507" y="3499"/>
                    <a:pt x="575" y="3481"/>
                    <a:pt x="637" y="3443"/>
                  </a:cubicBezTo>
                  <a:lnTo>
                    <a:pt x="915" y="3274"/>
                  </a:lnTo>
                  <a:cubicBezTo>
                    <a:pt x="988" y="3230"/>
                    <a:pt x="1066" y="3210"/>
                    <a:pt x="1142" y="3210"/>
                  </a:cubicBezTo>
                  <a:cubicBezTo>
                    <a:pt x="1373" y="3210"/>
                    <a:pt x="1587" y="3398"/>
                    <a:pt x="1587" y="3656"/>
                  </a:cubicBezTo>
                  <a:lnTo>
                    <a:pt x="1586" y="3975"/>
                  </a:lnTo>
                  <a:cubicBezTo>
                    <a:pt x="1586" y="4190"/>
                    <a:pt x="1755" y="4366"/>
                    <a:pt x="1970" y="4366"/>
                  </a:cubicBezTo>
                  <a:cubicBezTo>
                    <a:pt x="2185" y="4366"/>
                    <a:pt x="2353" y="4191"/>
                    <a:pt x="2353" y="3981"/>
                  </a:cubicBezTo>
                  <a:lnTo>
                    <a:pt x="2353" y="3656"/>
                  </a:lnTo>
                  <a:cubicBezTo>
                    <a:pt x="2353" y="3398"/>
                    <a:pt x="2568" y="3210"/>
                    <a:pt x="2800" y="3210"/>
                  </a:cubicBezTo>
                  <a:cubicBezTo>
                    <a:pt x="2876" y="3210"/>
                    <a:pt x="2954" y="3230"/>
                    <a:pt x="3026" y="3274"/>
                  </a:cubicBezTo>
                  <a:lnTo>
                    <a:pt x="3305" y="3443"/>
                  </a:lnTo>
                  <a:cubicBezTo>
                    <a:pt x="3367" y="3481"/>
                    <a:pt x="3435" y="3499"/>
                    <a:pt x="3503" y="3499"/>
                  </a:cubicBezTo>
                  <a:cubicBezTo>
                    <a:pt x="3650" y="3499"/>
                    <a:pt x="3794" y="3414"/>
                    <a:pt x="3857" y="3263"/>
                  </a:cubicBezTo>
                  <a:cubicBezTo>
                    <a:pt x="3931" y="3086"/>
                    <a:pt x="3859" y="2882"/>
                    <a:pt x="3695" y="2781"/>
                  </a:cubicBezTo>
                  <a:lnTo>
                    <a:pt x="3427" y="2619"/>
                  </a:lnTo>
                  <a:cubicBezTo>
                    <a:pt x="3097" y="2419"/>
                    <a:pt x="3099" y="1949"/>
                    <a:pt x="3427" y="1750"/>
                  </a:cubicBezTo>
                  <a:lnTo>
                    <a:pt x="3703" y="1583"/>
                  </a:lnTo>
                  <a:cubicBezTo>
                    <a:pt x="3883" y="1473"/>
                    <a:pt x="3941" y="1236"/>
                    <a:pt x="3833" y="1055"/>
                  </a:cubicBezTo>
                  <a:cubicBezTo>
                    <a:pt x="3760" y="935"/>
                    <a:pt x="3633" y="869"/>
                    <a:pt x="3504" y="869"/>
                  </a:cubicBezTo>
                  <a:cubicBezTo>
                    <a:pt x="3436" y="869"/>
                    <a:pt x="3368" y="887"/>
                    <a:pt x="3306" y="925"/>
                  </a:cubicBezTo>
                  <a:lnTo>
                    <a:pt x="3028" y="1093"/>
                  </a:lnTo>
                  <a:cubicBezTo>
                    <a:pt x="2954" y="1138"/>
                    <a:pt x="2877" y="1158"/>
                    <a:pt x="2801" y="1158"/>
                  </a:cubicBezTo>
                  <a:cubicBezTo>
                    <a:pt x="2569" y="1158"/>
                    <a:pt x="2355" y="969"/>
                    <a:pt x="2355" y="712"/>
                  </a:cubicBezTo>
                  <a:lnTo>
                    <a:pt x="2355" y="393"/>
                  </a:lnTo>
                  <a:cubicBezTo>
                    <a:pt x="2355" y="183"/>
                    <a:pt x="2194" y="12"/>
                    <a:pt x="1989" y="1"/>
                  </a:cubicBezTo>
                  <a:cubicBezTo>
                    <a:pt x="1983" y="1"/>
                    <a:pt x="1977" y="1"/>
                    <a:pt x="19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4"/>
            <p:cNvSpPr/>
            <p:nvPr/>
          </p:nvSpPr>
          <p:spPr>
            <a:xfrm>
              <a:off x="5726188" y="1635077"/>
              <a:ext cx="54845" cy="54888"/>
            </a:xfrm>
            <a:custGeom>
              <a:rect b="b" l="l" r="r" t="t"/>
              <a:pathLst>
                <a:path extrusionOk="0" h="1284" w="1283">
                  <a:moveTo>
                    <a:pt x="641" y="257"/>
                  </a:moveTo>
                  <a:cubicBezTo>
                    <a:pt x="853" y="257"/>
                    <a:pt x="1026" y="430"/>
                    <a:pt x="1026" y="642"/>
                  </a:cubicBezTo>
                  <a:cubicBezTo>
                    <a:pt x="1026" y="854"/>
                    <a:pt x="853" y="1027"/>
                    <a:pt x="641" y="1027"/>
                  </a:cubicBezTo>
                  <a:cubicBezTo>
                    <a:pt x="429" y="1027"/>
                    <a:pt x="256" y="854"/>
                    <a:pt x="256" y="642"/>
                  </a:cubicBezTo>
                  <a:cubicBezTo>
                    <a:pt x="256" y="430"/>
                    <a:pt x="429" y="257"/>
                    <a:pt x="641" y="257"/>
                  </a:cubicBezTo>
                  <a:close/>
                  <a:moveTo>
                    <a:pt x="641" y="1"/>
                  </a:moveTo>
                  <a:cubicBezTo>
                    <a:pt x="288" y="1"/>
                    <a:pt x="1" y="289"/>
                    <a:pt x="1" y="642"/>
                  </a:cubicBezTo>
                  <a:cubicBezTo>
                    <a:pt x="1" y="996"/>
                    <a:pt x="288" y="1284"/>
                    <a:pt x="641" y="1284"/>
                  </a:cubicBezTo>
                  <a:cubicBezTo>
                    <a:pt x="995" y="1284"/>
                    <a:pt x="1283" y="996"/>
                    <a:pt x="1283" y="642"/>
                  </a:cubicBezTo>
                  <a:cubicBezTo>
                    <a:pt x="1283" y="289"/>
                    <a:pt x="995" y="1"/>
                    <a:pt x="6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34"/>
          <p:cNvGrpSpPr/>
          <p:nvPr/>
        </p:nvGrpSpPr>
        <p:grpSpPr>
          <a:xfrm>
            <a:off x="1188761" y="1198870"/>
            <a:ext cx="380538" cy="373228"/>
            <a:chOff x="733536" y="2116670"/>
            <a:chExt cx="380538" cy="373228"/>
          </a:xfrm>
        </p:grpSpPr>
        <p:sp>
          <p:nvSpPr>
            <p:cNvPr id="415" name="Google Shape;415;p34"/>
            <p:cNvSpPr/>
            <p:nvPr/>
          </p:nvSpPr>
          <p:spPr>
            <a:xfrm>
              <a:off x="898328" y="2276931"/>
              <a:ext cx="38345" cy="38387"/>
            </a:xfrm>
            <a:custGeom>
              <a:rect b="b" l="l" r="r" t="t"/>
              <a:pathLst>
                <a:path extrusionOk="0" h="898" w="897">
                  <a:moveTo>
                    <a:pt x="448" y="257"/>
                  </a:moveTo>
                  <a:cubicBezTo>
                    <a:pt x="555" y="257"/>
                    <a:pt x="640" y="344"/>
                    <a:pt x="640" y="450"/>
                  </a:cubicBezTo>
                  <a:cubicBezTo>
                    <a:pt x="640" y="555"/>
                    <a:pt x="554" y="642"/>
                    <a:pt x="448" y="642"/>
                  </a:cubicBezTo>
                  <a:cubicBezTo>
                    <a:pt x="341" y="642"/>
                    <a:pt x="255" y="555"/>
                    <a:pt x="255" y="450"/>
                  </a:cubicBezTo>
                  <a:cubicBezTo>
                    <a:pt x="255" y="342"/>
                    <a:pt x="343" y="257"/>
                    <a:pt x="448" y="257"/>
                  </a:cubicBezTo>
                  <a:close/>
                  <a:moveTo>
                    <a:pt x="448" y="0"/>
                  </a:moveTo>
                  <a:cubicBezTo>
                    <a:pt x="201" y="0"/>
                    <a:pt x="0" y="202"/>
                    <a:pt x="0" y="449"/>
                  </a:cubicBezTo>
                  <a:cubicBezTo>
                    <a:pt x="0" y="697"/>
                    <a:pt x="202" y="897"/>
                    <a:pt x="448" y="897"/>
                  </a:cubicBezTo>
                  <a:cubicBezTo>
                    <a:pt x="696" y="897"/>
                    <a:pt x="897" y="695"/>
                    <a:pt x="897" y="449"/>
                  </a:cubicBezTo>
                  <a:cubicBezTo>
                    <a:pt x="897" y="202"/>
                    <a:pt x="694" y="0"/>
                    <a:pt x="4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4"/>
            <p:cNvSpPr/>
            <p:nvPr/>
          </p:nvSpPr>
          <p:spPr>
            <a:xfrm>
              <a:off x="963133" y="2341779"/>
              <a:ext cx="38345" cy="38387"/>
            </a:xfrm>
            <a:custGeom>
              <a:rect b="b" l="l" r="r" t="t"/>
              <a:pathLst>
                <a:path extrusionOk="0" h="898" w="897">
                  <a:moveTo>
                    <a:pt x="449" y="257"/>
                  </a:moveTo>
                  <a:cubicBezTo>
                    <a:pt x="555" y="257"/>
                    <a:pt x="642" y="343"/>
                    <a:pt x="642" y="449"/>
                  </a:cubicBezTo>
                  <a:cubicBezTo>
                    <a:pt x="642" y="555"/>
                    <a:pt x="554" y="642"/>
                    <a:pt x="449" y="642"/>
                  </a:cubicBezTo>
                  <a:cubicBezTo>
                    <a:pt x="343" y="642"/>
                    <a:pt x="257" y="555"/>
                    <a:pt x="257" y="449"/>
                  </a:cubicBezTo>
                  <a:cubicBezTo>
                    <a:pt x="257" y="343"/>
                    <a:pt x="343" y="257"/>
                    <a:pt x="449" y="257"/>
                  </a:cubicBezTo>
                  <a:close/>
                  <a:moveTo>
                    <a:pt x="449" y="1"/>
                  </a:moveTo>
                  <a:cubicBezTo>
                    <a:pt x="202" y="1"/>
                    <a:pt x="0" y="202"/>
                    <a:pt x="0" y="449"/>
                  </a:cubicBezTo>
                  <a:cubicBezTo>
                    <a:pt x="0" y="696"/>
                    <a:pt x="202" y="897"/>
                    <a:pt x="449" y="897"/>
                  </a:cubicBezTo>
                  <a:cubicBezTo>
                    <a:pt x="697" y="897"/>
                    <a:pt x="897" y="696"/>
                    <a:pt x="897" y="449"/>
                  </a:cubicBezTo>
                  <a:cubicBezTo>
                    <a:pt x="897" y="202"/>
                    <a:pt x="695" y="1"/>
                    <a:pt x="4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p:nvPr/>
          </p:nvSpPr>
          <p:spPr>
            <a:xfrm>
              <a:off x="733536" y="2116670"/>
              <a:ext cx="380538" cy="373228"/>
            </a:xfrm>
            <a:custGeom>
              <a:rect b="b" l="l" r="r" t="t"/>
              <a:pathLst>
                <a:path extrusionOk="0" h="8731" w="8902">
                  <a:moveTo>
                    <a:pt x="4072" y="3236"/>
                  </a:moveTo>
                  <a:cubicBezTo>
                    <a:pt x="4232" y="3236"/>
                    <a:pt x="4392" y="3288"/>
                    <a:pt x="4525" y="3394"/>
                  </a:cubicBezTo>
                  <a:cubicBezTo>
                    <a:pt x="4732" y="3559"/>
                    <a:pt x="4921" y="3747"/>
                    <a:pt x="5085" y="3955"/>
                  </a:cubicBezTo>
                  <a:cubicBezTo>
                    <a:pt x="5250" y="4161"/>
                    <a:pt x="5287" y="4444"/>
                    <a:pt x="5187" y="4685"/>
                  </a:cubicBezTo>
                  <a:cubicBezTo>
                    <a:pt x="5019" y="4776"/>
                    <a:pt x="4881" y="4915"/>
                    <a:pt x="4789" y="5082"/>
                  </a:cubicBezTo>
                  <a:cubicBezTo>
                    <a:pt x="4699" y="5119"/>
                    <a:pt x="4604" y="5137"/>
                    <a:pt x="4510" y="5137"/>
                  </a:cubicBezTo>
                  <a:cubicBezTo>
                    <a:pt x="4348" y="5137"/>
                    <a:pt x="4187" y="5084"/>
                    <a:pt x="4057" y="4980"/>
                  </a:cubicBezTo>
                  <a:cubicBezTo>
                    <a:pt x="3850" y="4815"/>
                    <a:pt x="3661" y="4626"/>
                    <a:pt x="3496" y="4419"/>
                  </a:cubicBezTo>
                  <a:cubicBezTo>
                    <a:pt x="3266" y="4130"/>
                    <a:pt x="3292" y="3714"/>
                    <a:pt x="3554" y="3451"/>
                  </a:cubicBezTo>
                  <a:cubicBezTo>
                    <a:pt x="3697" y="3308"/>
                    <a:pt x="3884" y="3236"/>
                    <a:pt x="4072" y="3236"/>
                  </a:cubicBezTo>
                  <a:close/>
                  <a:moveTo>
                    <a:pt x="8348" y="5812"/>
                  </a:moveTo>
                  <a:cubicBezTo>
                    <a:pt x="8432" y="5812"/>
                    <a:pt x="8514" y="5858"/>
                    <a:pt x="8555" y="5939"/>
                  </a:cubicBezTo>
                  <a:cubicBezTo>
                    <a:pt x="8611" y="6049"/>
                    <a:pt x="8566" y="6190"/>
                    <a:pt x="8452" y="6251"/>
                  </a:cubicBezTo>
                  <a:cubicBezTo>
                    <a:pt x="8252" y="6361"/>
                    <a:pt x="8040" y="6448"/>
                    <a:pt x="7823" y="6516"/>
                  </a:cubicBezTo>
                  <a:cubicBezTo>
                    <a:pt x="7460" y="6630"/>
                    <a:pt x="7342" y="7083"/>
                    <a:pt x="7606" y="7354"/>
                  </a:cubicBezTo>
                  <a:cubicBezTo>
                    <a:pt x="7791" y="7543"/>
                    <a:pt x="8009" y="7712"/>
                    <a:pt x="8268" y="7854"/>
                  </a:cubicBezTo>
                  <a:cubicBezTo>
                    <a:pt x="8458" y="7957"/>
                    <a:pt x="8431" y="8221"/>
                    <a:pt x="8239" y="8283"/>
                  </a:cubicBezTo>
                  <a:cubicBezTo>
                    <a:pt x="8215" y="8291"/>
                    <a:pt x="8191" y="8295"/>
                    <a:pt x="8167" y="8295"/>
                  </a:cubicBezTo>
                  <a:cubicBezTo>
                    <a:pt x="8129" y="8295"/>
                    <a:pt x="8091" y="8285"/>
                    <a:pt x="8056" y="8266"/>
                  </a:cubicBezTo>
                  <a:cubicBezTo>
                    <a:pt x="7791" y="8123"/>
                    <a:pt x="7565" y="7959"/>
                    <a:pt x="7363" y="7765"/>
                  </a:cubicBezTo>
                  <a:cubicBezTo>
                    <a:pt x="7263" y="7670"/>
                    <a:pt x="7138" y="7625"/>
                    <a:pt x="7015" y="7625"/>
                  </a:cubicBezTo>
                  <a:cubicBezTo>
                    <a:pt x="6816" y="7625"/>
                    <a:pt x="6622" y="7741"/>
                    <a:pt x="6541" y="7949"/>
                  </a:cubicBezTo>
                  <a:cubicBezTo>
                    <a:pt x="6487" y="8087"/>
                    <a:pt x="6424" y="8224"/>
                    <a:pt x="6352" y="8355"/>
                  </a:cubicBezTo>
                  <a:cubicBezTo>
                    <a:pt x="6308" y="8436"/>
                    <a:pt x="6229" y="8475"/>
                    <a:pt x="6150" y="8475"/>
                  </a:cubicBezTo>
                  <a:cubicBezTo>
                    <a:pt x="6054" y="8475"/>
                    <a:pt x="5958" y="8418"/>
                    <a:pt x="5926" y="8308"/>
                  </a:cubicBezTo>
                  <a:cubicBezTo>
                    <a:pt x="5909" y="8249"/>
                    <a:pt x="5916" y="8186"/>
                    <a:pt x="5945" y="8131"/>
                  </a:cubicBezTo>
                  <a:cubicBezTo>
                    <a:pt x="6142" y="7769"/>
                    <a:pt x="6262" y="7377"/>
                    <a:pt x="6299" y="6968"/>
                  </a:cubicBezTo>
                  <a:lnTo>
                    <a:pt x="6299" y="6957"/>
                  </a:lnTo>
                  <a:cubicBezTo>
                    <a:pt x="6679" y="6875"/>
                    <a:pt x="6979" y="6577"/>
                    <a:pt x="7060" y="6194"/>
                  </a:cubicBezTo>
                  <a:lnTo>
                    <a:pt x="7074" y="6194"/>
                  </a:lnTo>
                  <a:cubicBezTo>
                    <a:pt x="7482" y="6158"/>
                    <a:pt x="7875" y="6040"/>
                    <a:pt x="8237" y="5841"/>
                  </a:cubicBezTo>
                  <a:cubicBezTo>
                    <a:pt x="8272" y="5821"/>
                    <a:pt x="8310" y="5812"/>
                    <a:pt x="8348" y="5812"/>
                  </a:cubicBezTo>
                  <a:close/>
                  <a:moveTo>
                    <a:pt x="1905" y="0"/>
                  </a:moveTo>
                  <a:cubicBezTo>
                    <a:pt x="900" y="0"/>
                    <a:pt x="89" y="821"/>
                    <a:pt x="106" y="1832"/>
                  </a:cubicBezTo>
                  <a:cubicBezTo>
                    <a:pt x="121" y="2596"/>
                    <a:pt x="621" y="3268"/>
                    <a:pt x="1350" y="3508"/>
                  </a:cubicBezTo>
                  <a:cubicBezTo>
                    <a:pt x="1364" y="3512"/>
                    <a:pt x="1377" y="3514"/>
                    <a:pt x="1390" y="3514"/>
                  </a:cubicBezTo>
                  <a:cubicBezTo>
                    <a:pt x="1444" y="3514"/>
                    <a:pt x="1494" y="3480"/>
                    <a:pt x="1511" y="3425"/>
                  </a:cubicBezTo>
                  <a:cubicBezTo>
                    <a:pt x="1534" y="3358"/>
                    <a:pt x="1497" y="3286"/>
                    <a:pt x="1429" y="3265"/>
                  </a:cubicBezTo>
                  <a:cubicBezTo>
                    <a:pt x="332" y="2906"/>
                    <a:pt x="1" y="1521"/>
                    <a:pt x="813" y="709"/>
                  </a:cubicBezTo>
                  <a:cubicBezTo>
                    <a:pt x="1117" y="405"/>
                    <a:pt x="1509" y="257"/>
                    <a:pt x="1899" y="257"/>
                  </a:cubicBezTo>
                  <a:cubicBezTo>
                    <a:pt x="2340" y="257"/>
                    <a:pt x="2779" y="446"/>
                    <a:pt x="3086" y="813"/>
                  </a:cubicBezTo>
                  <a:cubicBezTo>
                    <a:pt x="3372" y="1156"/>
                    <a:pt x="3496" y="1605"/>
                    <a:pt x="3425" y="2047"/>
                  </a:cubicBezTo>
                  <a:cubicBezTo>
                    <a:pt x="3365" y="2414"/>
                    <a:pt x="3447" y="2778"/>
                    <a:pt x="3650" y="3072"/>
                  </a:cubicBezTo>
                  <a:cubicBezTo>
                    <a:pt x="3441" y="3170"/>
                    <a:pt x="3276" y="3337"/>
                    <a:pt x="3177" y="3545"/>
                  </a:cubicBezTo>
                  <a:cubicBezTo>
                    <a:pt x="2945" y="3385"/>
                    <a:pt x="2670" y="3300"/>
                    <a:pt x="2385" y="3300"/>
                  </a:cubicBezTo>
                  <a:cubicBezTo>
                    <a:pt x="2307" y="3300"/>
                    <a:pt x="2229" y="3306"/>
                    <a:pt x="2151" y="3319"/>
                  </a:cubicBezTo>
                  <a:cubicBezTo>
                    <a:pt x="2069" y="3332"/>
                    <a:pt x="1984" y="3339"/>
                    <a:pt x="1903" y="3339"/>
                  </a:cubicBezTo>
                  <a:cubicBezTo>
                    <a:pt x="1831" y="3339"/>
                    <a:pt x="1774" y="3397"/>
                    <a:pt x="1774" y="3467"/>
                  </a:cubicBezTo>
                  <a:cubicBezTo>
                    <a:pt x="1774" y="3537"/>
                    <a:pt x="1832" y="3594"/>
                    <a:pt x="1903" y="3594"/>
                  </a:cubicBezTo>
                  <a:cubicBezTo>
                    <a:pt x="1999" y="3594"/>
                    <a:pt x="2095" y="3587"/>
                    <a:pt x="2191" y="3571"/>
                  </a:cubicBezTo>
                  <a:cubicBezTo>
                    <a:pt x="2255" y="3561"/>
                    <a:pt x="2320" y="3556"/>
                    <a:pt x="2383" y="3556"/>
                  </a:cubicBezTo>
                  <a:cubicBezTo>
                    <a:pt x="2644" y="3556"/>
                    <a:pt x="2894" y="3642"/>
                    <a:pt x="3096" y="3803"/>
                  </a:cubicBezTo>
                  <a:cubicBezTo>
                    <a:pt x="3051" y="4069"/>
                    <a:pt x="3116" y="4352"/>
                    <a:pt x="3296" y="4576"/>
                  </a:cubicBezTo>
                  <a:cubicBezTo>
                    <a:pt x="3472" y="4797"/>
                    <a:pt x="3674" y="5001"/>
                    <a:pt x="3897" y="5177"/>
                  </a:cubicBezTo>
                  <a:cubicBezTo>
                    <a:pt x="4070" y="5314"/>
                    <a:pt x="4286" y="5391"/>
                    <a:pt x="4510" y="5391"/>
                  </a:cubicBezTo>
                  <a:cubicBezTo>
                    <a:pt x="4568" y="5391"/>
                    <a:pt x="4626" y="5386"/>
                    <a:pt x="4684" y="5375"/>
                  </a:cubicBezTo>
                  <a:lnTo>
                    <a:pt x="4684" y="5375"/>
                  </a:lnTo>
                  <a:cubicBezTo>
                    <a:pt x="4636" y="5645"/>
                    <a:pt x="4701" y="5932"/>
                    <a:pt x="4884" y="6162"/>
                  </a:cubicBezTo>
                  <a:cubicBezTo>
                    <a:pt x="4927" y="6216"/>
                    <a:pt x="4971" y="6271"/>
                    <a:pt x="5019" y="6324"/>
                  </a:cubicBezTo>
                  <a:cubicBezTo>
                    <a:pt x="5044" y="6352"/>
                    <a:pt x="5079" y="6366"/>
                    <a:pt x="5114" y="6366"/>
                  </a:cubicBezTo>
                  <a:cubicBezTo>
                    <a:pt x="5145" y="6366"/>
                    <a:pt x="5176" y="6355"/>
                    <a:pt x="5200" y="6333"/>
                  </a:cubicBezTo>
                  <a:cubicBezTo>
                    <a:pt x="5253" y="6286"/>
                    <a:pt x="5256" y="6206"/>
                    <a:pt x="5211" y="6153"/>
                  </a:cubicBezTo>
                  <a:cubicBezTo>
                    <a:pt x="5166" y="6104"/>
                    <a:pt x="5124" y="6054"/>
                    <a:pt x="5084" y="6004"/>
                  </a:cubicBezTo>
                  <a:cubicBezTo>
                    <a:pt x="4864" y="5727"/>
                    <a:pt x="4874" y="5333"/>
                    <a:pt x="5108" y="5067"/>
                  </a:cubicBezTo>
                  <a:cubicBezTo>
                    <a:pt x="5255" y="4903"/>
                    <a:pt x="5458" y="4819"/>
                    <a:pt x="5661" y="4819"/>
                  </a:cubicBezTo>
                  <a:cubicBezTo>
                    <a:pt x="5819" y="4819"/>
                    <a:pt x="5977" y="4870"/>
                    <a:pt x="6109" y="4975"/>
                  </a:cubicBezTo>
                  <a:cubicBezTo>
                    <a:pt x="6315" y="5140"/>
                    <a:pt x="6504" y="5329"/>
                    <a:pt x="6669" y="5536"/>
                  </a:cubicBezTo>
                  <a:cubicBezTo>
                    <a:pt x="6900" y="5826"/>
                    <a:pt x="6876" y="6243"/>
                    <a:pt x="6612" y="6506"/>
                  </a:cubicBezTo>
                  <a:cubicBezTo>
                    <a:pt x="6469" y="6649"/>
                    <a:pt x="6282" y="6722"/>
                    <a:pt x="6094" y="6722"/>
                  </a:cubicBezTo>
                  <a:cubicBezTo>
                    <a:pt x="5936" y="6722"/>
                    <a:pt x="5777" y="6670"/>
                    <a:pt x="5644" y="6564"/>
                  </a:cubicBezTo>
                  <a:lnTo>
                    <a:pt x="5581" y="6513"/>
                  </a:lnTo>
                  <a:cubicBezTo>
                    <a:pt x="5557" y="6493"/>
                    <a:pt x="5528" y="6483"/>
                    <a:pt x="5499" y="6483"/>
                  </a:cubicBezTo>
                  <a:cubicBezTo>
                    <a:pt x="5463" y="6483"/>
                    <a:pt x="5426" y="6499"/>
                    <a:pt x="5401" y="6530"/>
                  </a:cubicBezTo>
                  <a:cubicBezTo>
                    <a:pt x="5355" y="6583"/>
                    <a:pt x="5362" y="6664"/>
                    <a:pt x="5417" y="6710"/>
                  </a:cubicBezTo>
                  <a:cubicBezTo>
                    <a:pt x="5597" y="6862"/>
                    <a:pt x="5776" y="6962"/>
                    <a:pt x="6040" y="6976"/>
                  </a:cubicBezTo>
                  <a:cubicBezTo>
                    <a:pt x="6004" y="7339"/>
                    <a:pt x="5897" y="7686"/>
                    <a:pt x="5720" y="8009"/>
                  </a:cubicBezTo>
                  <a:cubicBezTo>
                    <a:pt x="5592" y="8245"/>
                    <a:pt x="5678" y="8542"/>
                    <a:pt x="5915" y="8671"/>
                  </a:cubicBezTo>
                  <a:cubicBezTo>
                    <a:pt x="5989" y="8712"/>
                    <a:pt x="6069" y="8731"/>
                    <a:pt x="6148" y="8731"/>
                  </a:cubicBezTo>
                  <a:cubicBezTo>
                    <a:pt x="6321" y="8731"/>
                    <a:pt x="6488" y="8639"/>
                    <a:pt x="6577" y="8477"/>
                  </a:cubicBezTo>
                  <a:cubicBezTo>
                    <a:pt x="6653" y="8336"/>
                    <a:pt x="6722" y="8189"/>
                    <a:pt x="6780" y="8040"/>
                  </a:cubicBezTo>
                  <a:cubicBezTo>
                    <a:pt x="6819" y="7938"/>
                    <a:pt x="6916" y="7881"/>
                    <a:pt x="7014" y="7881"/>
                  </a:cubicBezTo>
                  <a:cubicBezTo>
                    <a:pt x="7075" y="7881"/>
                    <a:pt x="7137" y="7903"/>
                    <a:pt x="7186" y="7950"/>
                  </a:cubicBezTo>
                  <a:cubicBezTo>
                    <a:pt x="7405" y="8160"/>
                    <a:pt x="7649" y="8336"/>
                    <a:pt x="7935" y="8490"/>
                  </a:cubicBezTo>
                  <a:cubicBezTo>
                    <a:pt x="8009" y="8530"/>
                    <a:pt x="8089" y="8549"/>
                    <a:pt x="8168" y="8549"/>
                  </a:cubicBezTo>
                  <a:cubicBezTo>
                    <a:pt x="8347" y="8549"/>
                    <a:pt x="8521" y="8450"/>
                    <a:pt x="8606" y="8276"/>
                  </a:cubicBezTo>
                  <a:cubicBezTo>
                    <a:pt x="8720" y="8040"/>
                    <a:pt x="8626" y="7757"/>
                    <a:pt x="8392" y="7629"/>
                  </a:cubicBezTo>
                  <a:cubicBezTo>
                    <a:pt x="8154" y="7500"/>
                    <a:pt x="7956" y="7345"/>
                    <a:pt x="7788" y="7174"/>
                  </a:cubicBezTo>
                  <a:cubicBezTo>
                    <a:pt x="7656" y="7039"/>
                    <a:pt x="7722" y="6816"/>
                    <a:pt x="7898" y="6762"/>
                  </a:cubicBezTo>
                  <a:cubicBezTo>
                    <a:pt x="8131" y="6690"/>
                    <a:pt x="8358" y="6594"/>
                    <a:pt x="8573" y="6477"/>
                  </a:cubicBezTo>
                  <a:cubicBezTo>
                    <a:pt x="8809" y="6348"/>
                    <a:pt x="8901" y="6056"/>
                    <a:pt x="8782" y="5823"/>
                  </a:cubicBezTo>
                  <a:cubicBezTo>
                    <a:pt x="8695" y="5653"/>
                    <a:pt x="8524" y="5556"/>
                    <a:pt x="8347" y="5556"/>
                  </a:cubicBezTo>
                  <a:cubicBezTo>
                    <a:pt x="8268" y="5556"/>
                    <a:pt x="8188" y="5575"/>
                    <a:pt x="8113" y="5616"/>
                  </a:cubicBezTo>
                  <a:cubicBezTo>
                    <a:pt x="7790" y="5793"/>
                    <a:pt x="7443" y="5900"/>
                    <a:pt x="7080" y="5936"/>
                  </a:cubicBezTo>
                  <a:cubicBezTo>
                    <a:pt x="7070" y="5738"/>
                    <a:pt x="7000" y="5543"/>
                    <a:pt x="6868" y="5376"/>
                  </a:cubicBezTo>
                  <a:cubicBezTo>
                    <a:pt x="6691" y="5155"/>
                    <a:pt x="6488" y="4952"/>
                    <a:pt x="6267" y="4775"/>
                  </a:cubicBezTo>
                  <a:cubicBezTo>
                    <a:pt x="6088" y="4633"/>
                    <a:pt x="5872" y="4563"/>
                    <a:pt x="5657" y="4563"/>
                  </a:cubicBezTo>
                  <a:cubicBezTo>
                    <a:pt x="5598" y="4563"/>
                    <a:pt x="5539" y="4568"/>
                    <a:pt x="5481" y="4579"/>
                  </a:cubicBezTo>
                  <a:cubicBezTo>
                    <a:pt x="5529" y="4304"/>
                    <a:pt x="5461" y="4015"/>
                    <a:pt x="5285" y="3793"/>
                  </a:cubicBezTo>
                  <a:cubicBezTo>
                    <a:pt x="5107" y="3571"/>
                    <a:pt x="4906" y="3367"/>
                    <a:pt x="4683" y="3191"/>
                  </a:cubicBezTo>
                  <a:cubicBezTo>
                    <a:pt x="4503" y="3048"/>
                    <a:pt x="4287" y="2977"/>
                    <a:pt x="4072" y="2977"/>
                  </a:cubicBezTo>
                  <a:cubicBezTo>
                    <a:pt x="4017" y="2977"/>
                    <a:pt x="3963" y="2982"/>
                    <a:pt x="3909" y="2991"/>
                  </a:cubicBezTo>
                  <a:cubicBezTo>
                    <a:pt x="3708" y="2740"/>
                    <a:pt x="3624" y="2415"/>
                    <a:pt x="3677" y="2086"/>
                  </a:cubicBezTo>
                  <a:cubicBezTo>
                    <a:pt x="3852" y="998"/>
                    <a:pt x="3016" y="22"/>
                    <a:pt x="1938" y="1"/>
                  </a:cubicBezTo>
                  <a:cubicBezTo>
                    <a:pt x="1927" y="1"/>
                    <a:pt x="1916" y="0"/>
                    <a:pt x="19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p:nvPr/>
          </p:nvSpPr>
          <p:spPr>
            <a:xfrm>
              <a:off x="767307" y="2150783"/>
              <a:ext cx="98747" cy="88958"/>
            </a:xfrm>
            <a:custGeom>
              <a:rect b="b" l="l" r="r" t="t"/>
              <a:pathLst>
                <a:path extrusionOk="0" h="2081" w="2310">
                  <a:moveTo>
                    <a:pt x="1046" y="257"/>
                  </a:moveTo>
                  <a:cubicBezTo>
                    <a:pt x="1267" y="257"/>
                    <a:pt x="1497" y="352"/>
                    <a:pt x="1670" y="526"/>
                  </a:cubicBezTo>
                  <a:cubicBezTo>
                    <a:pt x="1996" y="852"/>
                    <a:pt x="2031" y="1349"/>
                    <a:pt x="1746" y="1633"/>
                  </a:cubicBezTo>
                  <a:cubicBezTo>
                    <a:pt x="1617" y="1762"/>
                    <a:pt x="1443" y="1826"/>
                    <a:pt x="1262" y="1826"/>
                  </a:cubicBezTo>
                  <a:cubicBezTo>
                    <a:pt x="1045" y="1826"/>
                    <a:pt x="817" y="1734"/>
                    <a:pt x="639" y="1557"/>
                  </a:cubicBezTo>
                  <a:cubicBezTo>
                    <a:pt x="313" y="1232"/>
                    <a:pt x="280" y="734"/>
                    <a:pt x="565" y="451"/>
                  </a:cubicBezTo>
                  <a:cubicBezTo>
                    <a:pt x="696" y="319"/>
                    <a:pt x="868" y="257"/>
                    <a:pt x="1046" y="257"/>
                  </a:cubicBezTo>
                  <a:close/>
                  <a:moveTo>
                    <a:pt x="1046" y="1"/>
                  </a:moveTo>
                  <a:cubicBezTo>
                    <a:pt x="802" y="1"/>
                    <a:pt x="564" y="88"/>
                    <a:pt x="383" y="269"/>
                  </a:cubicBezTo>
                  <a:cubicBezTo>
                    <a:pt x="0" y="653"/>
                    <a:pt x="34" y="1313"/>
                    <a:pt x="459" y="1738"/>
                  </a:cubicBezTo>
                  <a:cubicBezTo>
                    <a:pt x="684" y="1963"/>
                    <a:pt x="978" y="2081"/>
                    <a:pt x="1263" y="2081"/>
                  </a:cubicBezTo>
                  <a:cubicBezTo>
                    <a:pt x="1508" y="2081"/>
                    <a:pt x="1746" y="1994"/>
                    <a:pt x="1927" y="1813"/>
                  </a:cubicBezTo>
                  <a:cubicBezTo>
                    <a:pt x="2310" y="1429"/>
                    <a:pt x="2276" y="770"/>
                    <a:pt x="1852" y="345"/>
                  </a:cubicBezTo>
                  <a:cubicBezTo>
                    <a:pt x="1627" y="120"/>
                    <a:pt x="1332" y="1"/>
                    <a:pt x="10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 name="Google Shape;419;p34"/>
          <p:cNvSpPr/>
          <p:nvPr/>
        </p:nvSpPr>
        <p:spPr>
          <a:xfrm>
            <a:off x="7133650" y="11043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4"/>
          <p:cNvSpPr/>
          <p:nvPr/>
        </p:nvSpPr>
        <p:spPr>
          <a:xfrm>
            <a:off x="8101350" y="16163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4"/>
          <p:cNvSpPr/>
          <p:nvPr/>
        </p:nvSpPr>
        <p:spPr>
          <a:xfrm>
            <a:off x="6720225" y="444522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4"/>
          <p:cNvSpPr/>
          <p:nvPr/>
        </p:nvSpPr>
        <p:spPr>
          <a:xfrm>
            <a:off x="2706850" y="4378025"/>
            <a:ext cx="67200" cy="672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 name="Google Shape;423;p34" title="Screenshot 2025-12-01 at 11.40.44 PM.png"/>
          <p:cNvPicPr preferRelativeResize="0"/>
          <p:nvPr/>
        </p:nvPicPr>
        <p:blipFill>
          <a:blip r:embed="rId3">
            <a:alphaModFix/>
          </a:blip>
          <a:stretch>
            <a:fillRect/>
          </a:stretch>
        </p:blipFill>
        <p:spPr>
          <a:xfrm>
            <a:off x="2549250" y="3003175"/>
            <a:ext cx="3364952" cy="1952050"/>
          </a:xfrm>
          <a:prstGeom prst="rect">
            <a:avLst/>
          </a:prstGeom>
          <a:noFill/>
          <a:ln>
            <a:noFill/>
          </a:ln>
        </p:spPr>
      </p:pic>
      <p:pic>
        <p:nvPicPr>
          <p:cNvPr id="424" name="Google Shape;424;p34" title="5411373.png"/>
          <p:cNvPicPr preferRelativeResize="0"/>
          <p:nvPr/>
        </p:nvPicPr>
        <p:blipFill>
          <a:blip r:embed="rId4">
            <a:alphaModFix/>
          </a:blip>
          <a:stretch>
            <a:fillRect/>
          </a:stretch>
        </p:blipFill>
        <p:spPr>
          <a:xfrm>
            <a:off x="7209575" y="3437187"/>
            <a:ext cx="1214426" cy="1214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5"/>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500"/>
              <a:t>Sources</a:t>
            </a:r>
            <a:r>
              <a:rPr lang="en" sz="4500"/>
              <a:t> </a:t>
            </a:r>
            <a:r>
              <a:rPr lang="en" sz="4500">
                <a:solidFill>
                  <a:schemeClr val="accent6"/>
                </a:solidFill>
              </a:rPr>
              <a:t>of Bias</a:t>
            </a:r>
            <a:endParaRPr sz="4500">
              <a:solidFill>
                <a:schemeClr val="accent6"/>
              </a:solidFill>
            </a:endParaRPr>
          </a:p>
        </p:txBody>
      </p:sp>
      <p:sp>
        <p:nvSpPr>
          <p:cNvPr id="430" name="Google Shape;430;p35"/>
          <p:cNvSpPr txBox="1"/>
          <p:nvPr>
            <p:ph idx="2" type="title"/>
          </p:nvPr>
        </p:nvSpPr>
        <p:spPr>
          <a:xfrm>
            <a:off x="731650" y="1592977"/>
            <a:ext cx="2336400" cy="74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Limited Resolution size</a:t>
            </a:r>
            <a:endParaRPr sz="2000"/>
          </a:p>
        </p:txBody>
      </p:sp>
      <p:sp>
        <p:nvSpPr>
          <p:cNvPr id="431" name="Google Shape;431;p35"/>
          <p:cNvSpPr txBox="1"/>
          <p:nvPr>
            <p:ph idx="1" type="subTitle"/>
          </p:nvPr>
        </p:nvSpPr>
        <p:spPr>
          <a:xfrm>
            <a:off x="720000" y="2473275"/>
            <a:ext cx="2340900" cy="12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The images are significantly small and can lead to issues in classification.</a:t>
            </a:r>
            <a:endParaRPr sz="1800"/>
          </a:p>
        </p:txBody>
      </p:sp>
      <p:sp>
        <p:nvSpPr>
          <p:cNvPr id="432" name="Google Shape;432;p35"/>
          <p:cNvSpPr txBox="1"/>
          <p:nvPr>
            <p:ph idx="3" type="title"/>
          </p:nvPr>
        </p:nvSpPr>
        <p:spPr>
          <a:xfrm>
            <a:off x="3409639" y="2020213"/>
            <a:ext cx="23364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solidFill>
                  <a:schemeClr val="accent6"/>
                </a:solidFill>
              </a:rPr>
              <a:t>Unknown Patient demographics</a:t>
            </a:r>
            <a:endParaRPr sz="2000">
              <a:solidFill>
                <a:schemeClr val="accent6"/>
              </a:solidFill>
            </a:endParaRPr>
          </a:p>
        </p:txBody>
      </p:sp>
      <p:sp>
        <p:nvSpPr>
          <p:cNvPr id="433" name="Google Shape;433;p35"/>
          <p:cNvSpPr txBox="1"/>
          <p:nvPr>
            <p:ph idx="4" type="subTitle"/>
          </p:nvPr>
        </p:nvSpPr>
        <p:spPr>
          <a:xfrm>
            <a:off x="3401564" y="2571750"/>
            <a:ext cx="2340900" cy="12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Unknown patient demographics (age, sex, ethnicity, location) may cause bias.</a:t>
            </a:r>
            <a:endParaRPr sz="1800"/>
          </a:p>
          <a:p>
            <a:pPr indent="0" lvl="0" marL="0" rtl="0" algn="ctr">
              <a:spcBef>
                <a:spcPts val="0"/>
              </a:spcBef>
              <a:spcAft>
                <a:spcPts val="0"/>
              </a:spcAft>
              <a:buNone/>
            </a:pPr>
            <a:r>
              <a:t/>
            </a:r>
            <a:endParaRPr sz="1800"/>
          </a:p>
        </p:txBody>
      </p:sp>
      <p:sp>
        <p:nvSpPr>
          <p:cNvPr id="434" name="Google Shape;434;p35"/>
          <p:cNvSpPr txBox="1"/>
          <p:nvPr>
            <p:ph idx="5" type="title"/>
          </p:nvPr>
        </p:nvSpPr>
        <p:spPr>
          <a:xfrm>
            <a:off x="6087650" y="1592980"/>
            <a:ext cx="2336400" cy="744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Unbalanced Ratio</a:t>
            </a:r>
            <a:endParaRPr sz="2000"/>
          </a:p>
        </p:txBody>
      </p:sp>
      <p:sp>
        <p:nvSpPr>
          <p:cNvPr id="435" name="Google Shape;435;p35"/>
          <p:cNvSpPr txBox="1"/>
          <p:nvPr>
            <p:ph idx="6" type="subTitle"/>
          </p:nvPr>
        </p:nvSpPr>
        <p:spPr>
          <a:xfrm>
            <a:off x="6083150" y="2473275"/>
            <a:ext cx="2340900" cy="1558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Healthy samples were (88.7%) and only(11.3%) was for  43 aneurysm samples (11.3%)</a:t>
            </a:r>
            <a:endParaRPr sz="1800"/>
          </a:p>
          <a:p>
            <a:pPr indent="0" lvl="0" marL="0" rtl="0" algn="ctr">
              <a:spcBef>
                <a:spcPts val="0"/>
              </a:spcBef>
              <a:spcAft>
                <a:spcPts val="0"/>
              </a:spcAft>
              <a:buNone/>
            </a:pPr>
            <a:r>
              <a:t/>
            </a:r>
            <a:endParaRPr sz="1800"/>
          </a:p>
        </p:txBody>
      </p:sp>
      <p:grpSp>
        <p:nvGrpSpPr>
          <p:cNvPr id="436" name="Google Shape;436;p35"/>
          <p:cNvGrpSpPr/>
          <p:nvPr/>
        </p:nvGrpSpPr>
        <p:grpSpPr>
          <a:xfrm>
            <a:off x="6977925" y="487300"/>
            <a:ext cx="1961600" cy="1029000"/>
            <a:chOff x="4501725" y="419225"/>
            <a:chExt cx="1961600" cy="1029000"/>
          </a:xfrm>
        </p:grpSpPr>
        <p:sp>
          <p:nvSpPr>
            <p:cNvPr id="437" name="Google Shape;437;p35"/>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5"/>
            <p:cNvSpPr/>
            <p:nvPr/>
          </p:nvSpPr>
          <p:spPr>
            <a:xfrm>
              <a:off x="6396125" y="4192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5"/>
            <p:cNvSpPr/>
            <p:nvPr/>
          </p:nvSpPr>
          <p:spPr>
            <a:xfrm>
              <a:off x="4501725" y="13267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0" name="Google Shape;440;p35"/>
            <p:cNvCxnSpPr>
              <a:stCxn id="437" idx="2"/>
              <a:endCxn id="439" idx="6"/>
            </p:cNvCxnSpPr>
            <p:nvPr/>
          </p:nvCxnSpPr>
          <p:spPr>
            <a:xfrm rot="10800000">
              <a:off x="4623175" y="1387325"/>
              <a:ext cx="703800" cy="27300"/>
            </a:xfrm>
            <a:prstGeom prst="straightConnector1">
              <a:avLst/>
            </a:prstGeom>
            <a:noFill/>
            <a:ln cap="flat" cmpd="sng" w="9525">
              <a:solidFill>
                <a:schemeClr val="accent1"/>
              </a:solidFill>
              <a:prstDash val="solid"/>
              <a:round/>
              <a:headEnd len="med" w="med" type="none"/>
              <a:tailEnd len="med" w="med" type="none"/>
            </a:ln>
          </p:spPr>
        </p:cxnSp>
        <p:cxnSp>
          <p:nvCxnSpPr>
            <p:cNvPr id="441" name="Google Shape;441;p35"/>
            <p:cNvCxnSpPr>
              <a:stCxn id="438" idx="3"/>
              <a:endCxn id="437" idx="7"/>
            </p:cNvCxnSpPr>
            <p:nvPr/>
          </p:nvCxnSpPr>
          <p:spPr>
            <a:xfrm flipH="1">
              <a:off x="5384466" y="476584"/>
              <a:ext cx="1021500" cy="914400"/>
            </a:xfrm>
            <a:prstGeom prst="straightConnector1">
              <a:avLst/>
            </a:prstGeom>
            <a:noFill/>
            <a:ln cap="flat" cmpd="sng" w="9525">
              <a:solidFill>
                <a:schemeClr val="accent1"/>
              </a:solidFill>
              <a:prstDash val="solid"/>
              <a:round/>
              <a:headEnd len="med" w="med" type="none"/>
              <a:tailEnd len="med" w="med" type="none"/>
            </a:ln>
          </p:spPr>
        </p:cxnSp>
      </p:grpSp>
      <p:sp>
        <p:nvSpPr>
          <p:cNvPr id="442" name="Google Shape;442;p35"/>
          <p:cNvSpPr/>
          <p:nvPr/>
        </p:nvSpPr>
        <p:spPr>
          <a:xfrm>
            <a:off x="6360700" y="418950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5"/>
          <p:cNvSpPr/>
          <p:nvPr/>
        </p:nvSpPr>
        <p:spPr>
          <a:xfrm>
            <a:off x="1121100" y="43066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4" name="Google Shape;444;p35" title="6314227.png"/>
          <p:cNvPicPr preferRelativeResize="0"/>
          <p:nvPr/>
        </p:nvPicPr>
        <p:blipFill>
          <a:blip r:embed="rId3">
            <a:alphaModFix/>
          </a:blip>
          <a:stretch>
            <a:fillRect/>
          </a:stretch>
        </p:blipFill>
        <p:spPr>
          <a:xfrm>
            <a:off x="2543988" y="3669797"/>
            <a:ext cx="1340950" cy="1340925"/>
          </a:xfrm>
          <a:prstGeom prst="rect">
            <a:avLst/>
          </a:prstGeom>
          <a:noFill/>
          <a:ln>
            <a:noFill/>
          </a:ln>
        </p:spPr>
      </p:pic>
      <p:pic>
        <p:nvPicPr>
          <p:cNvPr id="445" name="Google Shape;445;p35" title="2720679.png"/>
          <p:cNvPicPr preferRelativeResize="0"/>
          <p:nvPr/>
        </p:nvPicPr>
        <p:blipFill>
          <a:blip r:embed="rId4">
            <a:alphaModFix/>
          </a:blip>
          <a:stretch>
            <a:fillRect/>
          </a:stretch>
        </p:blipFill>
        <p:spPr>
          <a:xfrm>
            <a:off x="5240625" y="3803850"/>
            <a:ext cx="1286426" cy="12864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6"/>
          <p:cNvSpPr txBox="1"/>
          <p:nvPr>
            <p:ph type="title"/>
          </p:nvPr>
        </p:nvSpPr>
        <p:spPr>
          <a:xfrm>
            <a:off x="720000" y="3667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 Cleaning </a:t>
            </a:r>
            <a:r>
              <a:rPr lang="en">
                <a:solidFill>
                  <a:schemeClr val="accent6"/>
                </a:solidFill>
              </a:rPr>
              <a:t>&amp; </a:t>
            </a:r>
            <a:r>
              <a:rPr lang="en">
                <a:solidFill>
                  <a:schemeClr val="accent6"/>
                </a:solidFill>
              </a:rPr>
              <a:t>Augmentation</a:t>
            </a:r>
            <a:r>
              <a:rPr lang="en">
                <a:solidFill>
                  <a:schemeClr val="accent6"/>
                </a:solidFill>
              </a:rPr>
              <a:t> </a:t>
            </a:r>
            <a:endParaRPr>
              <a:solidFill>
                <a:schemeClr val="accent6"/>
              </a:solidFill>
            </a:endParaRPr>
          </a:p>
        </p:txBody>
      </p:sp>
      <p:sp>
        <p:nvSpPr>
          <p:cNvPr id="451" name="Google Shape;451;p36"/>
          <p:cNvSpPr txBox="1"/>
          <p:nvPr>
            <p:ph idx="2" type="title"/>
          </p:nvPr>
        </p:nvSpPr>
        <p:spPr>
          <a:xfrm>
            <a:off x="1085300" y="1153825"/>
            <a:ext cx="28671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Cleaning </a:t>
            </a:r>
            <a:endParaRPr/>
          </a:p>
        </p:txBody>
      </p:sp>
      <p:sp>
        <p:nvSpPr>
          <p:cNvPr id="452" name="Google Shape;452;p36"/>
          <p:cNvSpPr txBox="1"/>
          <p:nvPr>
            <p:ph idx="1" type="subTitle"/>
          </p:nvPr>
        </p:nvSpPr>
        <p:spPr>
          <a:xfrm>
            <a:off x="1085300" y="1604300"/>
            <a:ext cx="5307300" cy="1189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Verified data integrity (no missing values, no corrupted images)</a:t>
            </a:r>
            <a:endParaRPr/>
          </a:p>
          <a:p>
            <a:pPr indent="-317500" lvl="0" marL="457200" rtl="0" algn="l">
              <a:spcBef>
                <a:spcPts val="0"/>
              </a:spcBef>
              <a:spcAft>
                <a:spcPts val="0"/>
              </a:spcAft>
              <a:buSzPts val="1400"/>
              <a:buChar char="●"/>
            </a:pPr>
            <a:r>
              <a:rPr lang="en"/>
              <a:t>Normalized pixel intensities from [0, 255] to [0, 1]</a:t>
            </a:r>
            <a:endParaRPr/>
          </a:p>
          <a:p>
            <a:pPr indent="-317500" lvl="0" marL="457200" rtl="0" algn="l">
              <a:spcBef>
                <a:spcPts val="0"/>
              </a:spcBef>
              <a:spcAft>
                <a:spcPts val="0"/>
              </a:spcAft>
              <a:buSzPts val="1400"/>
              <a:buChar char="●"/>
            </a:pPr>
            <a:r>
              <a:rPr lang="en"/>
              <a:t>Converted data type from uint8 to float32 (for PyTorch/MONAI </a:t>
            </a:r>
            <a:endParaRPr/>
          </a:p>
          <a:p>
            <a:pPr indent="-317500" lvl="0" marL="457200" rtl="0" algn="l">
              <a:spcBef>
                <a:spcPts val="0"/>
              </a:spcBef>
              <a:spcAft>
                <a:spcPts val="0"/>
              </a:spcAft>
              <a:buSzPts val="1400"/>
              <a:buChar char="●"/>
            </a:pPr>
            <a:r>
              <a:rPr lang="en"/>
              <a:t>compatibility)</a:t>
            </a:r>
            <a:endParaRPr/>
          </a:p>
          <a:p>
            <a:pPr indent="-317500" lvl="0" marL="457200" rtl="0" algn="l">
              <a:spcBef>
                <a:spcPts val="0"/>
              </a:spcBef>
              <a:spcAft>
                <a:spcPts val="0"/>
              </a:spcAft>
              <a:buSzPts val="1400"/>
              <a:buChar char="●"/>
            </a:pPr>
            <a:r>
              <a:rPr lang="en"/>
              <a:t>Validated binary labels (0/1) and class distribution</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 </a:t>
            </a:r>
            <a:endParaRPr/>
          </a:p>
        </p:txBody>
      </p:sp>
      <p:sp>
        <p:nvSpPr>
          <p:cNvPr id="453" name="Google Shape;453;p36"/>
          <p:cNvSpPr txBox="1"/>
          <p:nvPr>
            <p:ph idx="7" type="title"/>
          </p:nvPr>
        </p:nvSpPr>
        <p:spPr>
          <a:xfrm>
            <a:off x="1040098" y="2870450"/>
            <a:ext cx="68481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Augmentation</a:t>
            </a:r>
            <a:endParaRPr/>
          </a:p>
        </p:txBody>
      </p:sp>
      <p:sp>
        <p:nvSpPr>
          <p:cNvPr id="454" name="Google Shape;454;p36"/>
          <p:cNvSpPr txBox="1"/>
          <p:nvPr>
            <p:ph idx="8" type="subTitle"/>
          </p:nvPr>
        </p:nvSpPr>
        <p:spPr>
          <a:xfrm>
            <a:off x="974650" y="3287500"/>
            <a:ext cx="7704000" cy="19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To address the severely limited aneurysm samples (only 43 in test set) and reduce overfitting risk by artificially expanding the training data diversity.</a:t>
            </a:r>
            <a:endParaRPr/>
          </a:p>
          <a:p>
            <a:pPr indent="0" lvl="0" marL="0" rtl="0" algn="l">
              <a:spcBef>
                <a:spcPts val="1600"/>
              </a:spcBef>
              <a:spcAft>
                <a:spcPts val="0"/>
              </a:spcAft>
              <a:buNone/>
            </a:pPr>
            <a:r>
              <a:rPr lang="en"/>
              <a:t>Steps:</a:t>
            </a:r>
            <a:endParaRPr/>
          </a:p>
          <a:p>
            <a:pPr indent="-317500" lvl="0" marL="457200" rtl="0" algn="l">
              <a:spcBef>
                <a:spcPts val="0"/>
              </a:spcBef>
              <a:spcAft>
                <a:spcPts val="0"/>
              </a:spcAft>
              <a:buSzPts val="1400"/>
              <a:buChar char="●"/>
            </a:pPr>
            <a:r>
              <a:rPr lang="en"/>
              <a:t>Random 90° Rotations - Model learns aneurysms at different angles</a:t>
            </a:r>
            <a:endParaRPr/>
          </a:p>
          <a:p>
            <a:pPr indent="-317500" lvl="0" marL="457200" rtl="0" algn="l">
              <a:spcBef>
                <a:spcPts val="0"/>
              </a:spcBef>
              <a:spcAft>
                <a:spcPts val="0"/>
              </a:spcAft>
              <a:buSzPts val="1400"/>
              <a:buChar char="●"/>
            </a:pPr>
            <a:r>
              <a:rPr lang="en"/>
              <a:t>Random Flipping - Horizontal, vertical, and depth flips create mirror images</a:t>
            </a:r>
            <a:endParaRPr/>
          </a:p>
          <a:p>
            <a:pPr indent="-317500" lvl="0" marL="457200" rtl="0" algn="l">
              <a:spcBef>
                <a:spcPts val="0"/>
              </a:spcBef>
              <a:spcAft>
                <a:spcPts val="0"/>
              </a:spcAft>
              <a:buSzPts val="1400"/>
              <a:buChar char="●"/>
            </a:pPr>
            <a:r>
              <a:rPr lang="en"/>
              <a:t>Intensity Scaling - Simulates different MRI machine settings</a:t>
            </a:r>
            <a:endParaRPr/>
          </a:p>
          <a:p>
            <a:pPr indent="-317500" lvl="0" marL="457200" rtl="0" algn="l">
              <a:spcBef>
                <a:spcPts val="0"/>
              </a:spcBef>
              <a:spcAft>
                <a:spcPts val="0"/>
              </a:spcAft>
              <a:buSzPts val="1400"/>
              <a:buChar char="●"/>
            </a:pPr>
            <a:r>
              <a:rPr lang="en"/>
              <a:t>Intensity Shifting - Adjusts brightness/contrast variations</a:t>
            </a:r>
            <a:endParaRPr/>
          </a:p>
        </p:txBody>
      </p:sp>
      <p:grpSp>
        <p:nvGrpSpPr>
          <p:cNvPr id="455" name="Google Shape;455;p36"/>
          <p:cNvGrpSpPr/>
          <p:nvPr/>
        </p:nvGrpSpPr>
        <p:grpSpPr>
          <a:xfrm>
            <a:off x="6205203" y="1305526"/>
            <a:ext cx="681318" cy="665019"/>
            <a:chOff x="8041692" y="1533124"/>
            <a:chExt cx="382419" cy="352795"/>
          </a:xfrm>
        </p:grpSpPr>
        <p:sp>
          <p:nvSpPr>
            <p:cNvPr id="456" name="Google Shape;456;p36"/>
            <p:cNvSpPr/>
            <p:nvPr/>
          </p:nvSpPr>
          <p:spPr>
            <a:xfrm>
              <a:off x="8041692" y="1533124"/>
              <a:ext cx="296197" cy="352795"/>
            </a:xfrm>
            <a:custGeom>
              <a:rect b="b" l="l" r="r" t="t"/>
              <a:pathLst>
                <a:path extrusionOk="0" h="8253" w="6929">
                  <a:moveTo>
                    <a:pt x="3621" y="1"/>
                  </a:moveTo>
                  <a:cubicBezTo>
                    <a:pt x="3555" y="1"/>
                    <a:pt x="3488" y="7"/>
                    <a:pt x="3420" y="21"/>
                  </a:cubicBezTo>
                  <a:cubicBezTo>
                    <a:pt x="2989" y="111"/>
                    <a:pt x="2721" y="388"/>
                    <a:pt x="2573" y="605"/>
                  </a:cubicBezTo>
                  <a:cubicBezTo>
                    <a:pt x="2505" y="705"/>
                    <a:pt x="2397" y="765"/>
                    <a:pt x="2275" y="772"/>
                  </a:cubicBezTo>
                  <a:cubicBezTo>
                    <a:pt x="1727" y="801"/>
                    <a:pt x="1351" y="1176"/>
                    <a:pt x="1274" y="1660"/>
                  </a:cubicBezTo>
                  <a:cubicBezTo>
                    <a:pt x="1256" y="1778"/>
                    <a:pt x="1188" y="1877"/>
                    <a:pt x="1088" y="1933"/>
                  </a:cubicBezTo>
                  <a:cubicBezTo>
                    <a:pt x="687" y="2156"/>
                    <a:pt x="493" y="2552"/>
                    <a:pt x="550" y="2981"/>
                  </a:cubicBezTo>
                  <a:cubicBezTo>
                    <a:pt x="565" y="3099"/>
                    <a:pt x="524" y="3216"/>
                    <a:pt x="436" y="3306"/>
                  </a:cubicBezTo>
                  <a:cubicBezTo>
                    <a:pt x="1" y="3745"/>
                    <a:pt x="1" y="4508"/>
                    <a:pt x="436" y="4947"/>
                  </a:cubicBezTo>
                  <a:cubicBezTo>
                    <a:pt x="523" y="5036"/>
                    <a:pt x="565" y="5154"/>
                    <a:pt x="550" y="5272"/>
                  </a:cubicBezTo>
                  <a:cubicBezTo>
                    <a:pt x="492" y="5700"/>
                    <a:pt x="687" y="6097"/>
                    <a:pt x="1088" y="6320"/>
                  </a:cubicBezTo>
                  <a:cubicBezTo>
                    <a:pt x="1188" y="6376"/>
                    <a:pt x="1256" y="6476"/>
                    <a:pt x="1274" y="6593"/>
                  </a:cubicBezTo>
                  <a:cubicBezTo>
                    <a:pt x="1352" y="7077"/>
                    <a:pt x="1727" y="7452"/>
                    <a:pt x="2275" y="7481"/>
                  </a:cubicBezTo>
                  <a:cubicBezTo>
                    <a:pt x="2396" y="7488"/>
                    <a:pt x="2505" y="7548"/>
                    <a:pt x="2573" y="7648"/>
                  </a:cubicBezTo>
                  <a:cubicBezTo>
                    <a:pt x="2855" y="8061"/>
                    <a:pt x="3271" y="8252"/>
                    <a:pt x="3626" y="8252"/>
                  </a:cubicBezTo>
                  <a:cubicBezTo>
                    <a:pt x="3654" y="8252"/>
                    <a:pt x="3681" y="8251"/>
                    <a:pt x="3707" y="8249"/>
                  </a:cubicBezTo>
                  <a:cubicBezTo>
                    <a:pt x="3770" y="8243"/>
                    <a:pt x="3822" y="8197"/>
                    <a:pt x="3829" y="8135"/>
                  </a:cubicBezTo>
                  <a:cubicBezTo>
                    <a:pt x="3838" y="8057"/>
                    <a:pt x="3776" y="7992"/>
                    <a:pt x="3702" y="7992"/>
                  </a:cubicBezTo>
                  <a:cubicBezTo>
                    <a:pt x="3698" y="7992"/>
                    <a:pt x="3694" y="7992"/>
                    <a:pt x="3690" y="7992"/>
                  </a:cubicBezTo>
                  <a:cubicBezTo>
                    <a:pt x="3669" y="7994"/>
                    <a:pt x="3647" y="7995"/>
                    <a:pt x="3625" y="7995"/>
                  </a:cubicBezTo>
                  <a:cubicBezTo>
                    <a:pt x="3351" y="7995"/>
                    <a:pt x="3017" y="7843"/>
                    <a:pt x="2784" y="7504"/>
                  </a:cubicBezTo>
                  <a:cubicBezTo>
                    <a:pt x="2671" y="7337"/>
                    <a:pt x="2491" y="7236"/>
                    <a:pt x="2288" y="7225"/>
                  </a:cubicBezTo>
                  <a:cubicBezTo>
                    <a:pt x="1876" y="7203"/>
                    <a:pt x="1589" y="6932"/>
                    <a:pt x="1528" y="6552"/>
                  </a:cubicBezTo>
                  <a:cubicBezTo>
                    <a:pt x="1496" y="6356"/>
                    <a:pt x="1381" y="6190"/>
                    <a:pt x="1212" y="6096"/>
                  </a:cubicBezTo>
                  <a:cubicBezTo>
                    <a:pt x="895" y="5919"/>
                    <a:pt x="762" y="5618"/>
                    <a:pt x="804" y="5306"/>
                  </a:cubicBezTo>
                  <a:cubicBezTo>
                    <a:pt x="830" y="5110"/>
                    <a:pt x="763" y="4914"/>
                    <a:pt x="619" y="4768"/>
                  </a:cubicBezTo>
                  <a:cubicBezTo>
                    <a:pt x="282" y="4426"/>
                    <a:pt x="282" y="3827"/>
                    <a:pt x="619" y="3485"/>
                  </a:cubicBezTo>
                  <a:cubicBezTo>
                    <a:pt x="763" y="3339"/>
                    <a:pt x="830" y="3143"/>
                    <a:pt x="804" y="2947"/>
                  </a:cubicBezTo>
                  <a:cubicBezTo>
                    <a:pt x="762" y="2635"/>
                    <a:pt x="894" y="2333"/>
                    <a:pt x="1212" y="2157"/>
                  </a:cubicBezTo>
                  <a:cubicBezTo>
                    <a:pt x="1381" y="2063"/>
                    <a:pt x="1497" y="1896"/>
                    <a:pt x="1528" y="1700"/>
                  </a:cubicBezTo>
                  <a:cubicBezTo>
                    <a:pt x="1589" y="1320"/>
                    <a:pt x="1876" y="1050"/>
                    <a:pt x="2288" y="1028"/>
                  </a:cubicBezTo>
                  <a:cubicBezTo>
                    <a:pt x="2491" y="1017"/>
                    <a:pt x="2672" y="916"/>
                    <a:pt x="2784" y="749"/>
                  </a:cubicBezTo>
                  <a:cubicBezTo>
                    <a:pt x="2906" y="571"/>
                    <a:pt x="3124" y="344"/>
                    <a:pt x="3472" y="273"/>
                  </a:cubicBezTo>
                  <a:cubicBezTo>
                    <a:pt x="3524" y="263"/>
                    <a:pt x="3575" y="258"/>
                    <a:pt x="3625" y="258"/>
                  </a:cubicBezTo>
                  <a:cubicBezTo>
                    <a:pt x="4030" y="258"/>
                    <a:pt x="4346" y="591"/>
                    <a:pt x="4346" y="987"/>
                  </a:cubicBezTo>
                  <a:lnTo>
                    <a:pt x="4346" y="3095"/>
                  </a:lnTo>
                  <a:cubicBezTo>
                    <a:pt x="4346" y="3160"/>
                    <a:pt x="4393" y="3218"/>
                    <a:pt x="4459" y="3227"/>
                  </a:cubicBezTo>
                  <a:cubicBezTo>
                    <a:pt x="4464" y="3227"/>
                    <a:pt x="4469" y="3228"/>
                    <a:pt x="4474" y="3228"/>
                  </a:cubicBezTo>
                  <a:cubicBezTo>
                    <a:pt x="4544" y="3228"/>
                    <a:pt x="4602" y="3170"/>
                    <a:pt x="4602" y="3100"/>
                  </a:cubicBezTo>
                  <a:lnTo>
                    <a:pt x="4602" y="987"/>
                  </a:lnTo>
                  <a:cubicBezTo>
                    <a:pt x="4602" y="591"/>
                    <a:pt x="4919" y="258"/>
                    <a:pt x="5322" y="258"/>
                  </a:cubicBezTo>
                  <a:cubicBezTo>
                    <a:pt x="5372" y="258"/>
                    <a:pt x="5423" y="263"/>
                    <a:pt x="5475" y="273"/>
                  </a:cubicBezTo>
                  <a:cubicBezTo>
                    <a:pt x="5823" y="346"/>
                    <a:pt x="6041" y="573"/>
                    <a:pt x="6163" y="749"/>
                  </a:cubicBezTo>
                  <a:cubicBezTo>
                    <a:pt x="6275" y="916"/>
                    <a:pt x="6456" y="1017"/>
                    <a:pt x="6658" y="1028"/>
                  </a:cubicBezTo>
                  <a:cubicBezTo>
                    <a:pt x="6692" y="1029"/>
                    <a:pt x="6727" y="1033"/>
                    <a:pt x="6760" y="1038"/>
                  </a:cubicBezTo>
                  <a:cubicBezTo>
                    <a:pt x="6767" y="1040"/>
                    <a:pt x="6774" y="1040"/>
                    <a:pt x="6781" y="1040"/>
                  </a:cubicBezTo>
                  <a:cubicBezTo>
                    <a:pt x="6837" y="1040"/>
                    <a:pt x="6890" y="1005"/>
                    <a:pt x="6906" y="950"/>
                  </a:cubicBezTo>
                  <a:cubicBezTo>
                    <a:pt x="6928" y="875"/>
                    <a:pt x="6880" y="799"/>
                    <a:pt x="6804" y="786"/>
                  </a:cubicBezTo>
                  <a:cubicBezTo>
                    <a:pt x="6761" y="780"/>
                    <a:pt x="6716" y="775"/>
                    <a:pt x="6671" y="772"/>
                  </a:cubicBezTo>
                  <a:cubicBezTo>
                    <a:pt x="6550" y="765"/>
                    <a:pt x="6440" y="705"/>
                    <a:pt x="6371" y="605"/>
                  </a:cubicBezTo>
                  <a:cubicBezTo>
                    <a:pt x="6224" y="388"/>
                    <a:pt x="5957" y="111"/>
                    <a:pt x="5525" y="21"/>
                  </a:cubicBezTo>
                  <a:cubicBezTo>
                    <a:pt x="5457" y="7"/>
                    <a:pt x="5390" y="1"/>
                    <a:pt x="5324" y="1"/>
                  </a:cubicBezTo>
                  <a:cubicBezTo>
                    <a:pt x="4968" y="1"/>
                    <a:pt x="4646" y="192"/>
                    <a:pt x="4472" y="499"/>
                  </a:cubicBezTo>
                  <a:cubicBezTo>
                    <a:pt x="4298" y="192"/>
                    <a:pt x="3975" y="1"/>
                    <a:pt x="3621" y="1"/>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sp>
          <p:nvSpPr>
            <p:cNvPr id="457" name="Google Shape;457;p36"/>
            <p:cNvSpPr/>
            <p:nvPr/>
          </p:nvSpPr>
          <p:spPr>
            <a:xfrm>
              <a:off x="8215503" y="1577624"/>
              <a:ext cx="208608" cy="308167"/>
            </a:xfrm>
            <a:custGeom>
              <a:rect b="b" l="l" r="r" t="t"/>
              <a:pathLst>
                <a:path extrusionOk="0" h="7209" w="4880">
                  <a:moveTo>
                    <a:pt x="3259" y="0"/>
                  </a:moveTo>
                  <a:cubicBezTo>
                    <a:pt x="3106" y="0"/>
                    <a:pt x="3065" y="146"/>
                    <a:pt x="3139" y="223"/>
                  </a:cubicBezTo>
                  <a:cubicBezTo>
                    <a:pt x="3254" y="340"/>
                    <a:pt x="3326" y="488"/>
                    <a:pt x="3353" y="660"/>
                  </a:cubicBezTo>
                  <a:cubicBezTo>
                    <a:pt x="3385" y="856"/>
                    <a:pt x="3500" y="1022"/>
                    <a:pt x="3669" y="1116"/>
                  </a:cubicBezTo>
                  <a:cubicBezTo>
                    <a:pt x="3986" y="1293"/>
                    <a:pt x="4119" y="1594"/>
                    <a:pt x="4077" y="1906"/>
                  </a:cubicBezTo>
                  <a:cubicBezTo>
                    <a:pt x="4050" y="2102"/>
                    <a:pt x="4118" y="2298"/>
                    <a:pt x="4262" y="2444"/>
                  </a:cubicBezTo>
                  <a:cubicBezTo>
                    <a:pt x="4599" y="2786"/>
                    <a:pt x="4599" y="3385"/>
                    <a:pt x="4262" y="3727"/>
                  </a:cubicBezTo>
                  <a:cubicBezTo>
                    <a:pt x="4118" y="3873"/>
                    <a:pt x="4050" y="4069"/>
                    <a:pt x="4077" y="4265"/>
                  </a:cubicBezTo>
                  <a:cubicBezTo>
                    <a:pt x="4119" y="4577"/>
                    <a:pt x="3987" y="4878"/>
                    <a:pt x="3669" y="5055"/>
                  </a:cubicBezTo>
                  <a:cubicBezTo>
                    <a:pt x="3500" y="5149"/>
                    <a:pt x="3384" y="5316"/>
                    <a:pt x="3353" y="5511"/>
                  </a:cubicBezTo>
                  <a:cubicBezTo>
                    <a:pt x="3292" y="5891"/>
                    <a:pt x="3005" y="6162"/>
                    <a:pt x="2592" y="6184"/>
                  </a:cubicBezTo>
                  <a:cubicBezTo>
                    <a:pt x="2390" y="6195"/>
                    <a:pt x="2208" y="6296"/>
                    <a:pt x="2097" y="6463"/>
                  </a:cubicBezTo>
                  <a:cubicBezTo>
                    <a:pt x="1974" y="6640"/>
                    <a:pt x="1757" y="6867"/>
                    <a:pt x="1409" y="6939"/>
                  </a:cubicBezTo>
                  <a:cubicBezTo>
                    <a:pt x="1357" y="6949"/>
                    <a:pt x="1306" y="6954"/>
                    <a:pt x="1256" y="6954"/>
                  </a:cubicBezTo>
                  <a:cubicBezTo>
                    <a:pt x="853" y="6954"/>
                    <a:pt x="536" y="6621"/>
                    <a:pt x="536" y="6225"/>
                  </a:cubicBezTo>
                  <a:lnTo>
                    <a:pt x="536" y="4060"/>
                  </a:lnTo>
                  <a:cubicBezTo>
                    <a:pt x="536" y="4054"/>
                    <a:pt x="533" y="4048"/>
                    <a:pt x="529" y="4042"/>
                  </a:cubicBezTo>
                  <a:cubicBezTo>
                    <a:pt x="489" y="4001"/>
                    <a:pt x="446" y="3984"/>
                    <a:pt x="408" y="3984"/>
                  </a:cubicBezTo>
                  <a:cubicBezTo>
                    <a:pt x="337" y="3984"/>
                    <a:pt x="280" y="4041"/>
                    <a:pt x="280" y="4111"/>
                  </a:cubicBezTo>
                  <a:lnTo>
                    <a:pt x="280" y="6545"/>
                  </a:lnTo>
                  <a:cubicBezTo>
                    <a:pt x="280" y="6608"/>
                    <a:pt x="233" y="6661"/>
                    <a:pt x="171" y="6675"/>
                  </a:cubicBezTo>
                  <a:cubicBezTo>
                    <a:pt x="0" y="6710"/>
                    <a:pt x="18" y="6939"/>
                    <a:pt x="207" y="6939"/>
                  </a:cubicBezTo>
                  <a:cubicBezTo>
                    <a:pt x="211" y="6939"/>
                    <a:pt x="216" y="6939"/>
                    <a:pt x="221" y="6939"/>
                  </a:cubicBezTo>
                  <a:cubicBezTo>
                    <a:pt x="227" y="6939"/>
                    <a:pt x="232" y="6935"/>
                    <a:pt x="237" y="6930"/>
                  </a:cubicBezTo>
                  <a:cubicBezTo>
                    <a:pt x="305" y="6865"/>
                    <a:pt x="362" y="6791"/>
                    <a:pt x="406" y="6711"/>
                  </a:cubicBezTo>
                  <a:cubicBezTo>
                    <a:pt x="579" y="7017"/>
                    <a:pt x="901" y="7208"/>
                    <a:pt x="1256" y="7208"/>
                  </a:cubicBezTo>
                  <a:cubicBezTo>
                    <a:pt x="1323" y="7208"/>
                    <a:pt x="1391" y="7202"/>
                    <a:pt x="1459" y="7188"/>
                  </a:cubicBezTo>
                  <a:cubicBezTo>
                    <a:pt x="1890" y="7098"/>
                    <a:pt x="2158" y="6822"/>
                    <a:pt x="2305" y="6605"/>
                  </a:cubicBezTo>
                  <a:cubicBezTo>
                    <a:pt x="2374" y="6505"/>
                    <a:pt x="2483" y="6444"/>
                    <a:pt x="2605" y="6438"/>
                  </a:cubicBezTo>
                  <a:cubicBezTo>
                    <a:pt x="3153" y="6408"/>
                    <a:pt x="3528" y="6033"/>
                    <a:pt x="3604" y="5550"/>
                  </a:cubicBezTo>
                  <a:cubicBezTo>
                    <a:pt x="3623" y="5431"/>
                    <a:pt x="3692" y="5332"/>
                    <a:pt x="3792" y="5277"/>
                  </a:cubicBezTo>
                  <a:cubicBezTo>
                    <a:pt x="4193" y="5054"/>
                    <a:pt x="4387" y="4657"/>
                    <a:pt x="4330" y="4228"/>
                  </a:cubicBezTo>
                  <a:cubicBezTo>
                    <a:pt x="4314" y="4111"/>
                    <a:pt x="4355" y="3994"/>
                    <a:pt x="4443" y="3904"/>
                  </a:cubicBezTo>
                  <a:cubicBezTo>
                    <a:pt x="4880" y="3467"/>
                    <a:pt x="4880" y="2705"/>
                    <a:pt x="4445" y="2265"/>
                  </a:cubicBezTo>
                  <a:cubicBezTo>
                    <a:pt x="4358" y="2176"/>
                    <a:pt x="4315" y="2058"/>
                    <a:pt x="4331" y="1940"/>
                  </a:cubicBezTo>
                  <a:cubicBezTo>
                    <a:pt x="4389" y="1512"/>
                    <a:pt x="4194" y="1115"/>
                    <a:pt x="3793" y="892"/>
                  </a:cubicBezTo>
                  <a:cubicBezTo>
                    <a:pt x="3693" y="836"/>
                    <a:pt x="3624" y="736"/>
                    <a:pt x="3606" y="619"/>
                  </a:cubicBezTo>
                  <a:cubicBezTo>
                    <a:pt x="3568" y="378"/>
                    <a:pt x="3455" y="165"/>
                    <a:pt x="3285" y="7"/>
                  </a:cubicBezTo>
                  <a:cubicBezTo>
                    <a:pt x="3280" y="3"/>
                    <a:pt x="3274" y="1"/>
                    <a:pt x="3268" y="1"/>
                  </a:cubicBezTo>
                  <a:cubicBezTo>
                    <a:pt x="3265" y="0"/>
                    <a:pt x="3262" y="0"/>
                    <a:pt x="3259" y="0"/>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sp>
          <p:nvSpPr>
            <p:cNvPr id="458" name="Google Shape;458;p36"/>
            <p:cNvSpPr/>
            <p:nvPr/>
          </p:nvSpPr>
          <p:spPr>
            <a:xfrm>
              <a:off x="8128854" y="1747973"/>
              <a:ext cx="76475" cy="98789"/>
            </a:xfrm>
            <a:custGeom>
              <a:rect b="b" l="l" r="r" t="t"/>
              <a:pathLst>
                <a:path extrusionOk="0" h="2311" w="1789">
                  <a:moveTo>
                    <a:pt x="502" y="1"/>
                  </a:moveTo>
                  <a:cubicBezTo>
                    <a:pt x="353" y="1"/>
                    <a:pt x="201" y="49"/>
                    <a:pt x="67" y="152"/>
                  </a:cubicBezTo>
                  <a:cubicBezTo>
                    <a:pt x="11" y="196"/>
                    <a:pt x="0" y="276"/>
                    <a:pt x="44" y="332"/>
                  </a:cubicBezTo>
                  <a:cubicBezTo>
                    <a:pt x="69" y="364"/>
                    <a:pt x="107" y="381"/>
                    <a:pt x="145" y="381"/>
                  </a:cubicBezTo>
                  <a:cubicBezTo>
                    <a:pt x="173" y="381"/>
                    <a:pt x="200" y="372"/>
                    <a:pt x="223" y="354"/>
                  </a:cubicBezTo>
                  <a:cubicBezTo>
                    <a:pt x="311" y="287"/>
                    <a:pt x="409" y="257"/>
                    <a:pt x="502" y="257"/>
                  </a:cubicBezTo>
                  <a:cubicBezTo>
                    <a:pt x="654" y="257"/>
                    <a:pt x="794" y="335"/>
                    <a:pt x="862" y="463"/>
                  </a:cubicBezTo>
                  <a:cubicBezTo>
                    <a:pt x="946" y="616"/>
                    <a:pt x="922" y="828"/>
                    <a:pt x="806" y="985"/>
                  </a:cubicBezTo>
                  <a:cubicBezTo>
                    <a:pt x="416" y="1286"/>
                    <a:pt x="492" y="2040"/>
                    <a:pt x="1170" y="2302"/>
                  </a:cubicBezTo>
                  <a:cubicBezTo>
                    <a:pt x="1186" y="2308"/>
                    <a:pt x="1201" y="2310"/>
                    <a:pt x="1217" y="2310"/>
                  </a:cubicBezTo>
                  <a:cubicBezTo>
                    <a:pt x="1268" y="2310"/>
                    <a:pt x="1316" y="2280"/>
                    <a:pt x="1335" y="2230"/>
                  </a:cubicBezTo>
                  <a:cubicBezTo>
                    <a:pt x="1360" y="2163"/>
                    <a:pt x="1329" y="2090"/>
                    <a:pt x="1262" y="2064"/>
                  </a:cubicBezTo>
                  <a:cubicBezTo>
                    <a:pt x="740" y="1863"/>
                    <a:pt x="726" y="1297"/>
                    <a:pt x="1013" y="1156"/>
                  </a:cubicBezTo>
                  <a:cubicBezTo>
                    <a:pt x="1058" y="1134"/>
                    <a:pt x="1103" y="1124"/>
                    <a:pt x="1146" y="1124"/>
                  </a:cubicBezTo>
                  <a:cubicBezTo>
                    <a:pt x="1331" y="1124"/>
                    <a:pt x="1475" y="1311"/>
                    <a:pt x="1360" y="1558"/>
                  </a:cubicBezTo>
                  <a:cubicBezTo>
                    <a:pt x="1330" y="1621"/>
                    <a:pt x="1357" y="1698"/>
                    <a:pt x="1423" y="1727"/>
                  </a:cubicBezTo>
                  <a:cubicBezTo>
                    <a:pt x="1440" y="1735"/>
                    <a:pt x="1458" y="1739"/>
                    <a:pt x="1477" y="1739"/>
                  </a:cubicBezTo>
                  <a:cubicBezTo>
                    <a:pt x="1525" y="1739"/>
                    <a:pt x="1570" y="1711"/>
                    <a:pt x="1592" y="1665"/>
                  </a:cubicBezTo>
                  <a:cubicBezTo>
                    <a:pt x="1788" y="1241"/>
                    <a:pt x="1510" y="867"/>
                    <a:pt x="1144" y="867"/>
                  </a:cubicBezTo>
                  <a:cubicBezTo>
                    <a:pt x="1143" y="867"/>
                    <a:pt x="1142" y="867"/>
                    <a:pt x="1141" y="867"/>
                  </a:cubicBezTo>
                  <a:cubicBezTo>
                    <a:pt x="1188" y="687"/>
                    <a:pt x="1172" y="497"/>
                    <a:pt x="1087" y="341"/>
                  </a:cubicBezTo>
                  <a:cubicBezTo>
                    <a:pt x="971" y="126"/>
                    <a:pt x="742" y="1"/>
                    <a:pt x="502" y="1"/>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sp>
          <p:nvSpPr>
            <p:cNvPr id="459" name="Google Shape;459;p36"/>
            <p:cNvSpPr/>
            <p:nvPr/>
          </p:nvSpPr>
          <p:spPr>
            <a:xfrm>
              <a:off x="8103505" y="1594296"/>
              <a:ext cx="109049" cy="103321"/>
            </a:xfrm>
            <a:custGeom>
              <a:rect b="b" l="l" r="r" t="t"/>
              <a:pathLst>
                <a:path extrusionOk="0" h="2417" w="2551">
                  <a:moveTo>
                    <a:pt x="1724" y="1"/>
                  </a:moveTo>
                  <a:cubicBezTo>
                    <a:pt x="1700" y="1"/>
                    <a:pt x="1677" y="2"/>
                    <a:pt x="1653" y="4"/>
                  </a:cubicBezTo>
                  <a:cubicBezTo>
                    <a:pt x="1079" y="56"/>
                    <a:pt x="856" y="778"/>
                    <a:pt x="1273" y="1099"/>
                  </a:cubicBezTo>
                  <a:cubicBezTo>
                    <a:pt x="1295" y="1117"/>
                    <a:pt x="1323" y="1126"/>
                    <a:pt x="1350" y="1126"/>
                  </a:cubicBezTo>
                  <a:cubicBezTo>
                    <a:pt x="1388" y="1126"/>
                    <a:pt x="1427" y="1108"/>
                    <a:pt x="1452" y="1075"/>
                  </a:cubicBezTo>
                  <a:cubicBezTo>
                    <a:pt x="1495" y="1020"/>
                    <a:pt x="1485" y="940"/>
                    <a:pt x="1428" y="896"/>
                  </a:cubicBezTo>
                  <a:cubicBezTo>
                    <a:pt x="1194" y="716"/>
                    <a:pt x="1336" y="289"/>
                    <a:pt x="1675" y="259"/>
                  </a:cubicBezTo>
                  <a:cubicBezTo>
                    <a:pt x="1691" y="258"/>
                    <a:pt x="1707" y="257"/>
                    <a:pt x="1723" y="257"/>
                  </a:cubicBezTo>
                  <a:cubicBezTo>
                    <a:pt x="1994" y="257"/>
                    <a:pt x="2224" y="463"/>
                    <a:pt x="2249" y="737"/>
                  </a:cubicBezTo>
                  <a:cubicBezTo>
                    <a:pt x="2282" y="1117"/>
                    <a:pt x="2001" y="1455"/>
                    <a:pt x="1621" y="1490"/>
                  </a:cubicBezTo>
                  <a:cubicBezTo>
                    <a:pt x="1594" y="1492"/>
                    <a:pt x="1566" y="1493"/>
                    <a:pt x="1539" y="1493"/>
                  </a:cubicBezTo>
                  <a:cubicBezTo>
                    <a:pt x="1079" y="1493"/>
                    <a:pt x="689" y="1143"/>
                    <a:pt x="646" y="676"/>
                  </a:cubicBezTo>
                  <a:cubicBezTo>
                    <a:pt x="640" y="610"/>
                    <a:pt x="585" y="559"/>
                    <a:pt x="521" y="559"/>
                  </a:cubicBezTo>
                  <a:cubicBezTo>
                    <a:pt x="517" y="559"/>
                    <a:pt x="512" y="560"/>
                    <a:pt x="508" y="560"/>
                  </a:cubicBezTo>
                  <a:cubicBezTo>
                    <a:pt x="438" y="566"/>
                    <a:pt x="385" y="629"/>
                    <a:pt x="392" y="698"/>
                  </a:cubicBezTo>
                  <a:cubicBezTo>
                    <a:pt x="413" y="931"/>
                    <a:pt x="502" y="1148"/>
                    <a:pt x="646" y="1325"/>
                  </a:cubicBezTo>
                  <a:cubicBezTo>
                    <a:pt x="497" y="1367"/>
                    <a:pt x="364" y="1448"/>
                    <a:pt x="266" y="1562"/>
                  </a:cubicBezTo>
                  <a:cubicBezTo>
                    <a:pt x="0" y="1870"/>
                    <a:pt x="98" y="2276"/>
                    <a:pt x="111" y="2322"/>
                  </a:cubicBezTo>
                  <a:cubicBezTo>
                    <a:pt x="126" y="2379"/>
                    <a:pt x="177" y="2416"/>
                    <a:pt x="234" y="2416"/>
                  </a:cubicBezTo>
                  <a:cubicBezTo>
                    <a:pt x="245" y="2416"/>
                    <a:pt x="256" y="2415"/>
                    <a:pt x="267" y="2412"/>
                  </a:cubicBezTo>
                  <a:cubicBezTo>
                    <a:pt x="336" y="2393"/>
                    <a:pt x="376" y="2323"/>
                    <a:pt x="357" y="2255"/>
                  </a:cubicBezTo>
                  <a:cubicBezTo>
                    <a:pt x="354" y="2241"/>
                    <a:pt x="276" y="1942"/>
                    <a:pt x="459" y="1729"/>
                  </a:cubicBezTo>
                  <a:cubicBezTo>
                    <a:pt x="559" y="1614"/>
                    <a:pt x="714" y="1549"/>
                    <a:pt x="881" y="1549"/>
                  </a:cubicBezTo>
                  <a:cubicBezTo>
                    <a:pt x="883" y="1549"/>
                    <a:pt x="886" y="1549"/>
                    <a:pt x="889" y="1549"/>
                  </a:cubicBezTo>
                  <a:cubicBezTo>
                    <a:pt x="1080" y="1681"/>
                    <a:pt x="1305" y="1750"/>
                    <a:pt x="1538" y="1750"/>
                  </a:cubicBezTo>
                  <a:cubicBezTo>
                    <a:pt x="2142" y="1749"/>
                    <a:pt x="2550" y="1248"/>
                    <a:pt x="2503" y="715"/>
                  </a:cubicBezTo>
                  <a:cubicBezTo>
                    <a:pt x="2467" y="308"/>
                    <a:pt x="2125" y="1"/>
                    <a:pt x="1724" y="1"/>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sp>
          <p:nvSpPr>
            <p:cNvPr id="460" name="Google Shape;460;p36"/>
            <p:cNvSpPr/>
            <p:nvPr/>
          </p:nvSpPr>
          <p:spPr>
            <a:xfrm>
              <a:off x="8259961" y="1748016"/>
              <a:ext cx="76433" cy="98747"/>
            </a:xfrm>
            <a:custGeom>
              <a:rect b="b" l="l" r="r" t="t"/>
              <a:pathLst>
                <a:path extrusionOk="0" h="2310" w="1788">
                  <a:moveTo>
                    <a:pt x="1286" y="0"/>
                  </a:moveTo>
                  <a:cubicBezTo>
                    <a:pt x="1239" y="0"/>
                    <a:pt x="1190" y="5"/>
                    <a:pt x="1143" y="15"/>
                  </a:cubicBezTo>
                  <a:cubicBezTo>
                    <a:pt x="762" y="96"/>
                    <a:pt x="541" y="467"/>
                    <a:pt x="647" y="868"/>
                  </a:cubicBezTo>
                  <a:cubicBezTo>
                    <a:pt x="646" y="868"/>
                    <a:pt x="644" y="868"/>
                    <a:pt x="643" y="868"/>
                  </a:cubicBezTo>
                  <a:cubicBezTo>
                    <a:pt x="279" y="868"/>
                    <a:pt x="0" y="1241"/>
                    <a:pt x="196" y="1665"/>
                  </a:cubicBezTo>
                  <a:cubicBezTo>
                    <a:pt x="217" y="1712"/>
                    <a:pt x="263" y="1740"/>
                    <a:pt x="312" y="1740"/>
                  </a:cubicBezTo>
                  <a:cubicBezTo>
                    <a:pt x="330" y="1740"/>
                    <a:pt x="349" y="1736"/>
                    <a:pt x="366" y="1728"/>
                  </a:cubicBezTo>
                  <a:cubicBezTo>
                    <a:pt x="431" y="1698"/>
                    <a:pt x="458" y="1622"/>
                    <a:pt x="429" y="1557"/>
                  </a:cubicBezTo>
                  <a:cubicBezTo>
                    <a:pt x="314" y="1310"/>
                    <a:pt x="457" y="1123"/>
                    <a:pt x="642" y="1123"/>
                  </a:cubicBezTo>
                  <a:cubicBezTo>
                    <a:pt x="685" y="1123"/>
                    <a:pt x="730" y="1133"/>
                    <a:pt x="775" y="1155"/>
                  </a:cubicBezTo>
                  <a:cubicBezTo>
                    <a:pt x="1063" y="1296"/>
                    <a:pt x="1048" y="1861"/>
                    <a:pt x="526" y="2063"/>
                  </a:cubicBezTo>
                  <a:cubicBezTo>
                    <a:pt x="459" y="2089"/>
                    <a:pt x="427" y="2163"/>
                    <a:pt x="453" y="2229"/>
                  </a:cubicBezTo>
                  <a:cubicBezTo>
                    <a:pt x="472" y="2279"/>
                    <a:pt x="521" y="2310"/>
                    <a:pt x="571" y="2310"/>
                  </a:cubicBezTo>
                  <a:cubicBezTo>
                    <a:pt x="587" y="2310"/>
                    <a:pt x="602" y="2307"/>
                    <a:pt x="618" y="2301"/>
                  </a:cubicBezTo>
                  <a:cubicBezTo>
                    <a:pt x="1297" y="2039"/>
                    <a:pt x="1373" y="1282"/>
                    <a:pt x="983" y="984"/>
                  </a:cubicBezTo>
                  <a:cubicBezTo>
                    <a:pt x="789" y="721"/>
                    <a:pt x="861" y="336"/>
                    <a:pt x="1196" y="264"/>
                  </a:cubicBezTo>
                  <a:cubicBezTo>
                    <a:pt x="1226" y="258"/>
                    <a:pt x="1257" y="255"/>
                    <a:pt x="1287" y="255"/>
                  </a:cubicBezTo>
                  <a:cubicBezTo>
                    <a:pt x="1385" y="255"/>
                    <a:pt x="1481" y="288"/>
                    <a:pt x="1565" y="353"/>
                  </a:cubicBezTo>
                  <a:cubicBezTo>
                    <a:pt x="1588" y="371"/>
                    <a:pt x="1616" y="380"/>
                    <a:pt x="1643" y="380"/>
                  </a:cubicBezTo>
                  <a:cubicBezTo>
                    <a:pt x="1681" y="380"/>
                    <a:pt x="1719" y="363"/>
                    <a:pt x="1744" y="331"/>
                  </a:cubicBezTo>
                  <a:cubicBezTo>
                    <a:pt x="1788" y="275"/>
                    <a:pt x="1777" y="195"/>
                    <a:pt x="1722" y="151"/>
                  </a:cubicBezTo>
                  <a:cubicBezTo>
                    <a:pt x="1594" y="52"/>
                    <a:pt x="1441" y="0"/>
                    <a:pt x="1286" y="0"/>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sp>
          <p:nvSpPr>
            <p:cNvPr id="461" name="Google Shape;461;p36"/>
            <p:cNvSpPr/>
            <p:nvPr/>
          </p:nvSpPr>
          <p:spPr>
            <a:xfrm>
              <a:off x="8242263" y="1594253"/>
              <a:ext cx="119608" cy="103235"/>
            </a:xfrm>
            <a:custGeom>
              <a:rect b="b" l="l" r="r" t="t"/>
              <a:pathLst>
                <a:path extrusionOk="0" h="2415" w="2798">
                  <a:moveTo>
                    <a:pt x="1071" y="1"/>
                  </a:moveTo>
                  <a:cubicBezTo>
                    <a:pt x="894" y="1"/>
                    <a:pt x="714" y="64"/>
                    <a:pt x="571" y="183"/>
                  </a:cubicBezTo>
                  <a:cubicBezTo>
                    <a:pt x="1" y="659"/>
                    <a:pt x="342" y="1672"/>
                    <a:pt x="1152" y="1745"/>
                  </a:cubicBezTo>
                  <a:cubicBezTo>
                    <a:pt x="1187" y="1748"/>
                    <a:pt x="1223" y="1750"/>
                    <a:pt x="1258" y="1750"/>
                  </a:cubicBezTo>
                  <a:cubicBezTo>
                    <a:pt x="1490" y="1750"/>
                    <a:pt x="1714" y="1681"/>
                    <a:pt x="1906" y="1549"/>
                  </a:cubicBezTo>
                  <a:cubicBezTo>
                    <a:pt x="1910" y="1549"/>
                    <a:pt x="1914" y="1549"/>
                    <a:pt x="1918" y="1549"/>
                  </a:cubicBezTo>
                  <a:cubicBezTo>
                    <a:pt x="2084" y="1549"/>
                    <a:pt x="2239" y="1616"/>
                    <a:pt x="2337" y="1729"/>
                  </a:cubicBezTo>
                  <a:cubicBezTo>
                    <a:pt x="2520" y="1941"/>
                    <a:pt x="2442" y="2241"/>
                    <a:pt x="2438" y="2254"/>
                  </a:cubicBezTo>
                  <a:cubicBezTo>
                    <a:pt x="2416" y="2336"/>
                    <a:pt x="2478" y="2415"/>
                    <a:pt x="2563" y="2415"/>
                  </a:cubicBezTo>
                  <a:cubicBezTo>
                    <a:pt x="2618" y="2415"/>
                    <a:pt x="2670" y="2378"/>
                    <a:pt x="2686" y="2320"/>
                  </a:cubicBezTo>
                  <a:cubicBezTo>
                    <a:pt x="2698" y="2276"/>
                    <a:pt x="2798" y="1870"/>
                    <a:pt x="2531" y="1560"/>
                  </a:cubicBezTo>
                  <a:cubicBezTo>
                    <a:pt x="2433" y="1447"/>
                    <a:pt x="2300" y="1365"/>
                    <a:pt x="2151" y="1323"/>
                  </a:cubicBezTo>
                  <a:cubicBezTo>
                    <a:pt x="2296" y="1147"/>
                    <a:pt x="2384" y="930"/>
                    <a:pt x="2405" y="696"/>
                  </a:cubicBezTo>
                  <a:cubicBezTo>
                    <a:pt x="2412" y="626"/>
                    <a:pt x="2359" y="564"/>
                    <a:pt x="2289" y="558"/>
                  </a:cubicBezTo>
                  <a:cubicBezTo>
                    <a:pt x="2287" y="558"/>
                    <a:pt x="2284" y="558"/>
                    <a:pt x="2281" y="558"/>
                  </a:cubicBezTo>
                  <a:cubicBezTo>
                    <a:pt x="2213" y="558"/>
                    <a:pt x="2156" y="608"/>
                    <a:pt x="2149" y="677"/>
                  </a:cubicBezTo>
                  <a:cubicBezTo>
                    <a:pt x="2107" y="1144"/>
                    <a:pt x="1716" y="1494"/>
                    <a:pt x="1256" y="1494"/>
                  </a:cubicBezTo>
                  <a:cubicBezTo>
                    <a:pt x="1230" y="1494"/>
                    <a:pt x="1202" y="1493"/>
                    <a:pt x="1175" y="1491"/>
                  </a:cubicBezTo>
                  <a:cubicBezTo>
                    <a:pt x="590" y="1438"/>
                    <a:pt x="339" y="710"/>
                    <a:pt x="734" y="380"/>
                  </a:cubicBezTo>
                  <a:cubicBezTo>
                    <a:pt x="828" y="301"/>
                    <a:pt x="951" y="256"/>
                    <a:pt x="1072" y="256"/>
                  </a:cubicBezTo>
                  <a:cubicBezTo>
                    <a:pt x="1191" y="256"/>
                    <a:pt x="1307" y="300"/>
                    <a:pt x="1389" y="400"/>
                  </a:cubicBezTo>
                  <a:cubicBezTo>
                    <a:pt x="1510" y="543"/>
                    <a:pt x="1525" y="774"/>
                    <a:pt x="1367" y="896"/>
                  </a:cubicBezTo>
                  <a:cubicBezTo>
                    <a:pt x="1312" y="939"/>
                    <a:pt x="1302" y="1020"/>
                    <a:pt x="1344" y="1075"/>
                  </a:cubicBezTo>
                  <a:cubicBezTo>
                    <a:pt x="1369" y="1108"/>
                    <a:pt x="1407" y="1125"/>
                    <a:pt x="1446" y="1125"/>
                  </a:cubicBezTo>
                  <a:cubicBezTo>
                    <a:pt x="1473" y="1125"/>
                    <a:pt x="1500" y="1117"/>
                    <a:pt x="1523" y="1099"/>
                  </a:cubicBezTo>
                  <a:cubicBezTo>
                    <a:pt x="1792" y="891"/>
                    <a:pt x="1804" y="498"/>
                    <a:pt x="1587" y="236"/>
                  </a:cubicBezTo>
                  <a:cubicBezTo>
                    <a:pt x="1453" y="76"/>
                    <a:pt x="1264" y="1"/>
                    <a:pt x="1071" y="1"/>
                  </a:cubicBezTo>
                  <a:close/>
                </a:path>
              </a:pathLst>
            </a:custGeom>
            <a:solidFill>
              <a:schemeClr val="accent3"/>
            </a:solidFill>
            <a:ln>
              <a:noFill/>
            </a:ln>
          </p:spPr>
          <p:txBody>
            <a:bodyPr anchorCtr="0" anchor="ctr" bIns="162900" lIns="162900" spcFirstLastPara="1" rIns="162900" wrap="square" tIns="162900">
              <a:noAutofit/>
            </a:bodyPr>
            <a:lstStyle/>
            <a:p>
              <a:pPr indent="0" lvl="0" marL="0" rtl="0" algn="l">
                <a:spcBef>
                  <a:spcPts val="0"/>
                </a:spcBef>
                <a:spcAft>
                  <a:spcPts val="0"/>
                </a:spcAft>
                <a:buNone/>
              </a:pPr>
              <a:r>
                <a:t/>
              </a:r>
              <a:endParaRPr/>
            </a:p>
          </p:txBody>
        </p:sp>
      </p:grpSp>
      <p:grpSp>
        <p:nvGrpSpPr>
          <p:cNvPr id="462" name="Google Shape;462;p36"/>
          <p:cNvGrpSpPr/>
          <p:nvPr/>
        </p:nvGrpSpPr>
        <p:grpSpPr>
          <a:xfrm>
            <a:off x="682022" y="2947508"/>
            <a:ext cx="340655" cy="373570"/>
            <a:chOff x="4810622" y="3910783"/>
            <a:chExt cx="340655" cy="373570"/>
          </a:xfrm>
        </p:grpSpPr>
        <p:sp>
          <p:nvSpPr>
            <p:cNvPr id="463" name="Google Shape;463;p36"/>
            <p:cNvSpPr/>
            <p:nvPr/>
          </p:nvSpPr>
          <p:spPr>
            <a:xfrm>
              <a:off x="4810622" y="3910783"/>
              <a:ext cx="340655" cy="373570"/>
            </a:xfrm>
            <a:custGeom>
              <a:rect b="b" l="l" r="r" t="t"/>
              <a:pathLst>
                <a:path extrusionOk="0" h="8739" w="7969">
                  <a:moveTo>
                    <a:pt x="4581" y="255"/>
                  </a:moveTo>
                  <a:cubicBezTo>
                    <a:pt x="4781" y="255"/>
                    <a:pt x="5009" y="347"/>
                    <a:pt x="5188" y="553"/>
                  </a:cubicBezTo>
                  <a:cubicBezTo>
                    <a:pt x="5293" y="675"/>
                    <a:pt x="5436" y="752"/>
                    <a:pt x="5590" y="772"/>
                  </a:cubicBezTo>
                  <a:cubicBezTo>
                    <a:pt x="5868" y="808"/>
                    <a:pt x="6047" y="1019"/>
                    <a:pt x="6062" y="1314"/>
                  </a:cubicBezTo>
                  <a:cubicBezTo>
                    <a:pt x="6065" y="1401"/>
                    <a:pt x="6087" y="1483"/>
                    <a:pt x="6123" y="1557"/>
                  </a:cubicBezTo>
                  <a:cubicBezTo>
                    <a:pt x="6208" y="1724"/>
                    <a:pt x="6170" y="1923"/>
                    <a:pt x="6034" y="2057"/>
                  </a:cubicBezTo>
                  <a:lnTo>
                    <a:pt x="4114" y="2057"/>
                  </a:lnTo>
                  <a:lnTo>
                    <a:pt x="4114" y="1448"/>
                  </a:lnTo>
                  <a:cubicBezTo>
                    <a:pt x="4176" y="1336"/>
                    <a:pt x="4279" y="1290"/>
                    <a:pt x="4378" y="1290"/>
                  </a:cubicBezTo>
                  <a:cubicBezTo>
                    <a:pt x="4495" y="1290"/>
                    <a:pt x="4605" y="1354"/>
                    <a:pt x="4634" y="1453"/>
                  </a:cubicBezTo>
                  <a:cubicBezTo>
                    <a:pt x="4659" y="1540"/>
                    <a:pt x="4624" y="1638"/>
                    <a:pt x="4545" y="1705"/>
                  </a:cubicBezTo>
                  <a:cubicBezTo>
                    <a:pt x="4498" y="1747"/>
                    <a:pt x="4486" y="1817"/>
                    <a:pt x="4519" y="1870"/>
                  </a:cubicBezTo>
                  <a:cubicBezTo>
                    <a:pt x="4544" y="1910"/>
                    <a:pt x="4586" y="1931"/>
                    <a:pt x="4628" y="1931"/>
                  </a:cubicBezTo>
                  <a:cubicBezTo>
                    <a:pt x="4657" y="1931"/>
                    <a:pt x="4686" y="1921"/>
                    <a:pt x="4710" y="1901"/>
                  </a:cubicBezTo>
                  <a:cubicBezTo>
                    <a:pt x="4839" y="1791"/>
                    <a:pt x="4905" y="1632"/>
                    <a:pt x="4894" y="1476"/>
                  </a:cubicBezTo>
                  <a:cubicBezTo>
                    <a:pt x="5266" y="1420"/>
                    <a:pt x="5387" y="905"/>
                    <a:pt x="5140" y="905"/>
                  </a:cubicBezTo>
                  <a:cubicBezTo>
                    <a:pt x="5139" y="905"/>
                    <a:pt x="5138" y="905"/>
                    <a:pt x="5137" y="905"/>
                  </a:cubicBezTo>
                  <a:cubicBezTo>
                    <a:pt x="5066" y="907"/>
                    <a:pt x="5010" y="966"/>
                    <a:pt x="5012" y="1035"/>
                  </a:cubicBezTo>
                  <a:cubicBezTo>
                    <a:pt x="5014" y="1125"/>
                    <a:pt x="4938" y="1225"/>
                    <a:pt x="4828" y="1225"/>
                  </a:cubicBezTo>
                  <a:cubicBezTo>
                    <a:pt x="4816" y="1225"/>
                    <a:pt x="4804" y="1223"/>
                    <a:pt x="4792" y="1221"/>
                  </a:cubicBezTo>
                  <a:cubicBezTo>
                    <a:pt x="4697" y="1107"/>
                    <a:pt x="4540" y="1034"/>
                    <a:pt x="4375" y="1034"/>
                  </a:cubicBezTo>
                  <a:cubicBezTo>
                    <a:pt x="4287" y="1034"/>
                    <a:pt x="4196" y="1055"/>
                    <a:pt x="4111" y="1102"/>
                  </a:cubicBezTo>
                  <a:lnTo>
                    <a:pt x="4111" y="655"/>
                  </a:lnTo>
                  <a:cubicBezTo>
                    <a:pt x="4113" y="406"/>
                    <a:pt x="4324" y="255"/>
                    <a:pt x="4581" y="255"/>
                  </a:cubicBezTo>
                  <a:close/>
                  <a:moveTo>
                    <a:pt x="7194" y="2823"/>
                  </a:moveTo>
                  <a:cubicBezTo>
                    <a:pt x="7481" y="2823"/>
                    <a:pt x="7709" y="3057"/>
                    <a:pt x="7709" y="3337"/>
                  </a:cubicBezTo>
                  <a:cubicBezTo>
                    <a:pt x="7709" y="3619"/>
                    <a:pt x="7479" y="3852"/>
                    <a:pt x="7198" y="3852"/>
                  </a:cubicBezTo>
                  <a:cubicBezTo>
                    <a:pt x="7176" y="3852"/>
                    <a:pt x="7153" y="3850"/>
                    <a:pt x="7131" y="3847"/>
                  </a:cubicBezTo>
                  <a:cubicBezTo>
                    <a:pt x="7197" y="3516"/>
                    <a:pt x="7213" y="3171"/>
                    <a:pt x="7171" y="2824"/>
                  </a:cubicBezTo>
                  <a:cubicBezTo>
                    <a:pt x="7179" y="2824"/>
                    <a:pt x="7186" y="2823"/>
                    <a:pt x="7194" y="2823"/>
                  </a:cubicBezTo>
                  <a:close/>
                  <a:moveTo>
                    <a:pt x="777" y="2824"/>
                  </a:moveTo>
                  <a:cubicBezTo>
                    <a:pt x="784" y="2824"/>
                    <a:pt x="792" y="2825"/>
                    <a:pt x="800" y="2825"/>
                  </a:cubicBezTo>
                  <a:cubicBezTo>
                    <a:pt x="758" y="3170"/>
                    <a:pt x="772" y="3514"/>
                    <a:pt x="841" y="3848"/>
                  </a:cubicBezTo>
                  <a:cubicBezTo>
                    <a:pt x="819" y="3851"/>
                    <a:pt x="797" y="3852"/>
                    <a:pt x="775" y="3852"/>
                  </a:cubicBezTo>
                  <a:cubicBezTo>
                    <a:pt x="490" y="3852"/>
                    <a:pt x="261" y="3620"/>
                    <a:pt x="261" y="3339"/>
                  </a:cubicBezTo>
                  <a:cubicBezTo>
                    <a:pt x="261" y="3056"/>
                    <a:pt x="491" y="2824"/>
                    <a:pt x="777" y="2824"/>
                  </a:cubicBezTo>
                  <a:close/>
                  <a:moveTo>
                    <a:pt x="3383" y="258"/>
                  </a:moveTo>
                  <a:cubicBezTo>
                    <a:pt x="3457" y="258"/>
                    <a:pt x="3532" y="270"/>
                    <a:pt x="3604" y="295"/>
                  </a:cubicBezTo>
                  <a:cubicBezTo>
                    <a:pt x="3755" y="348"/>
                    <a:pt x="3857" y="491"/>
                    <a:pt x="3857" y="654"/>
                  </a:cubicBezTo>
                  <a:lnTo>
                    <a:pt x="3857" y="1100"/>
                  </a:lnTo>
                  <a:cubicBezTo>
                    <a:pt x="3773" y="1053"/>
                    <a:pt x="3683" y="1033"/>
                    <a:pt x="3595" y="1033"/>
                  </a:cubicBezTo>
                  <a:cubicBezTo>
                    <a:pt x="3429" y="1033"/>
                    <a:pt x="3271" y="1106"/>
                    <a:pt x="3178" y="1220"/>
                  </a:cubicBezTo>
                  <a:cubicBezTo>
                    <a:pt x="3166" y="1222"/>
                    <a:pt x="3154" y="1224"/>
                    <a:pt x="3142" y="1224"/>
                  </a:cubicBezTo>
                  <a:cubicBezTo>
                    <a:pt x="3033" y="1224"/>
                    <a:pt x="2956" y="1125"/>
                    <a:pt x="2957" y="1034"/>
                  </a:cubicBezTo>
                  <a:cubicBezTo>
                    <a:pt x="2958" y="963"/>
                    <a:pt x="2903" y="905"/>
                    <a:pt x="2832" y="904"/>
                  </a:cubicBezTo>
                  <a:cubicBezTo>
                    <a:pt x="2830" y="904"/>
                    <a:pt x="2829" y="904"/>
                    <a:pt x="2827" y="904"/>
                  </a:cubicBezTo>
                  <a:cubicBezTo>
                    <a:pt x="2587" y="904"/>
                    <a:pt x="2701" y="1419"/>
                    <a:pt x="3074" y="1474"/>
                  </a:cubicBezTo>
                  <a:cubicBezTo>
                    <a:pt x="3064" y="1627"/>
                    <a:pt x="3129" y="1785"/>
                    <a:pt x="3253" y="1894"/>
                  </a:cubicBezTo>
                  <a:cubicBezTo>
                    <a:pt x="3279" y="1917"/>
                    <a:pt x="3312" y="1930"/>
                    <a:pt x="3345" y="1930"/>
                  </a:cubicBezTo>
                  <a:cubicBezTo>
                    <a:pt x="3372" y="1930"/>
                    <a:pt x="3399" y="1921"/>
                    <a:pt x="3421" y="1904"/>
                  </a:cubicBezTo>
                  <a:cubicBezTo>
                    <a:pt x="3486" y="1852"/>
                    <a:pt x="3486" y="1757"/>
                    <a:pt x="3426" y="1705"/>
                  </a:cubicBezTo>
                  <a:cubicBezTo>
                    <a:pt x="3346" y="1638"/>
                    <a:pt x="3312" y="1540"/>
                    <a:pt x="3337" y="1452"/>
                  </a:cubicBezTo>
                  <a:cubicBezTo>
                    <a:pt x="3365" y="1355"/>
                    <a:pt x="3476" y="1288"/>
                    <a:pt x="3593" y="1288"/>
                  </a:cubicBezTo>
                  <a:cubicBezTo>
                    <a:pt x="3691" y="1288"/>
                    <a:pt x="3793" y="1335"/>
                    <a:pt x="3856" y="1447"/>
                  </a:cubicBezTo>
                  <a:lnTo>
                    <a:pt x="3856" y="2055"/>
                  </a:lnTo>
                  <a:lnTo>
                    <a:pt x="2835" y="2055"/>
                  </a:lnTo>
                  <a:cubicBezTo>
                    <a:pt x="2768" y="2055"/>
                    <a:pt x="2710" y="2102"/>
                    <a:pt x="2703" y="2168"/>
                  </a:cubicBezTo>
                  <a:cubicBezTo>
                    <a:pt x="2693" y="2245"/>
                    <a:pt x="2754" y="2311"/>
                    <a:pt x="2830" y="2311"/>
                  </a:cubicBezTo>
                  <a:lnTo>
                    <a:pt x="6502" y="2311"/>
                  </a:lnTo>
                  <a:cubicBezTo>
                    <a:pt x="6684" y="2311"/>
                    <a:pt x="6842" y="2440"/>
                    <a:pt x="6878" y="2618"/>
                  </a:cubicBezTo>
                  <a:cubicBezTo>
                    <a:pt x="7070" y="3558"/>
                    <a:pt x="6803" y="4570"/>
                    <a:pt x="6071" y="5301"/>
                  </a:cubicBezTo>
                  <a:cubicBezTo>
                    <a:pt x="5504" y="5867"/>
                    <a:pt x="4908" y="6011"/>
                    <a:pt x="4836" y="6040"/>
                  </a:cubicBezTo>
                  <a:cubicBezTo>
                    <a:pt x="4549" y="6126"/>
                    <a:pt x="4262" y="6166"/>
                    <a:pt x="3983" y="6166"/>
                  </a:cubicBezTo>
                  <a:cubicBezTo>
                    <a:pt x="2196" y="6166"/>
                    <a:pt x="705" y="4514"/>
                    <a:pt x="1093" y="2616"/>
                  </a:cubicBezTo>
                  <a:cubicBezTo>
                    <a:pt x="1128" y="2440"/>
                    <a:pt x="1286" y="2312"/>
                    <a:pt x="1468" y="2312"/>
                  </a:cubicBezTo>
                  <a:lnTo>
                    <a:pt x="2313" y="2312"/>
                  </a:lnTo>
                  <a:cubicBezTo>
                    <a:pt x="2378" y="2312"/>
                    <a:pt x="2436" y="2265"/>
                    <a:pt x="2444" y="2200"/>
                  </a:cubicBezTo>
                  <a:cubicBezTo>
                    <a:pt x="2454" y="2122"/>
                    <a:pt x="2393" y="2057"/>
                    <a:pt x="2318" y="2057"/>
                  </a:cubicBezTo>
                  <a:lnTo>
                    <a:pt x="1938" y="2057"/>
                  </a:lnTo>
                  <a:cubicBezTo>
                    <a:pt x="1802" y="1923"/>
                    <a:pt x="1764" y="1724"/>
                    <a:pt x="1848" y="1557"/>
                  </a:cubicBezTo>
                  <a:cubicBezTo>
                    <a:pt x="1885" y="1483"/>
                    <a:pt x="1906" y="1401"/>
                    <a:pt x="1911" y="1314"/>
                  </a:cubicBezTo>
                  <a:cubicBezTo>
                    <a:pt x="1924" y="1019"/>
                    <a:pt x="2104" y="808"/>
                    <a:pt x="2382" y="772"/>
                  </a:cubicBezTo>
                  <a:cubicBezTo>
                    <a:pt x="2536" y="752"/>
                    <a:pt x="2679" y="675"/>
                    <a:pt x="2783" y="553"/>
                  </a:cubicBezTo>
                  <a:cubicBezTo>
                    <a:pt x="2949" y="362"/>
                    <a:pt x="3166" y="258"/>
                    <a:pt x="3383" y="258"/>
                  </a:cubicBezTo>
                  <a:close/>
                  <a:moveTo>
                    <a:pt x="5189" y="6195"/>
                  </a:moveTo>
                  <a:cubicBezTo>
                    <a:pt x="5949" y="6585"/>
                    <a:pt x="6424" y="7307"/>
                    <a:pt x="6432" y="8095"/>
                  </a:cubicBezTo>
                  <a:cubicBezTo>
                    <a:pt x="6434" y="8309"/>
                    <a:pt x="6261" y="8482"/>
                    <a:pt x="6047" y="8482"/>
                  </a:cubicBezTo>
                  <a:lnTo>
                    <a:pt x="5647" y="8482"/>
                  </a:lnTo>
                  <a:lnTo>
                    <a:pt x="5647" y="7587"/>
                  </a:lnTo>
                  <a:cubicBezTo>
                    <a:pt x="5647" y="7522"/>
                    <a:pt x="5599" y="7464"/>
                    <a:pt x="5535" y="7456"/>
                  </a:cubicBezTo>
                  <a:cubicBezTo>
                    <a:pt x="5529" y="7455"/>
                    <a:pt x="5524" y="7455"/>
                    <a:pt x="5519" y="7455"/>
                  </a:cubicBezTo>
                  <a:cubicBezTo>
                    <a:pt x="5448" y="7455"/>
                    <a:pt x="5390" y="7512"/>
                    <a:pt x="5390" y="7582"/>
                  </a:cubicBezTo>
                  <a:lnTo>
                    <a:pt x="5390" y="8482"/>
                  </a:lnTo>
                  <a:lnTo>
                    <a:pt x="2577" y="8482"/>
                  </a:lnTo>
                  <a:lnTo>
                    <a:pt x="2577" y="7587"/>
                  </a:lnTo>
                  <a:cubicBezTo>
                    <a:pt x="2577" y="7522"/>
                    <a:pt x="2530" y="7464"/>
                    <a:pt x="2466" y="7456"/>
                  </a:cubicBezTo>
                  <a:cubicBezTo>
                    <a:pt x="2460" y="7455"/>
                    <a:pt x="2455" y="7455"/>
                    <a:pt x="2450" y="7455"/>
                  </a:cubicBezTo>
                  <a:cubicBezTo>
                    <a:pt x="2379" y="7455"/>
                    <a:pt x="2322" y="7512"/>
                    <a:pt x="2322" y="7582"/>
                  </a:cubicBezTo>
                  <a:lnTo>
                    <a:pt x="2322" y="8482"/>
                  </a:lnTo>
                  <a:lnTo>
                    <a:pt x="1934" y="8482"/>
                  </a:lnTo>
                  <a:cubicBezTo>
                    <a:pt x="1722" y="8482"/>
                    <a:pt x="1549" y="8309"/>
                    <a:pt x="1550" y="8098"/>
                  </a:cubicBezTo>
                  <a:cubicBezTo>
                    <a:pt x="1557" y="7308"/>
                    <a:pt x="2032" y="6584"/>
                    <a:pt x="2794" y="6196"/>
                  </a:cubicBezTo>
                  <a:cubicBezTo>
                    <a:pt x="2852" y="6220"/>
                    <a:pt x="2910" y="6241"/>
                    <a:pt x="2969" y="6261"/>
                  </a:cubicBezTo>
                  <a:cubicBezTo>
                    <a:pt x="2985" y="6394"/>
                    <a:pt x="3032" y="6522"/>
                    <a:pt x="3113" y="6637"/>
                  </a:cubicBezTo>
                  <a:cubicBezTo>
                    <a:pt x="3138" y="6674"/>
                    <a:pt x="3180" y="6696"/>
                    <a:pt x="3222" y="6696"/>
                  </a:cubicBezTo>
                  <a:cubicBezTo>
                    <a:pt x="3239" y="6696"/>
                    <a:pt x="3256" y="6693"/>
                    <a:pt x="3272" y="6685"/>
                  </a:cubicBezTo>
                  <a:cubicBezTo>
                    <a:pt x="3348" y="6652"/>
                    <a:pt x="3372" y="6559"/>
                    <a:pt x="3325" y="6494"/>
                  </a:cubicBezTo>
                  <a:cubicBezTo>
                    <a:pt x="3291" y="6446"/>
                    <a:pt x="3266" y="6394"/>
                    <a:pt x="3247" y="6340"/>
                  </a:cubicBezTo>
                  <a:lnTo>
                    <a:pt x="3247" y="6340"/>
                  </a:lnTo>
                  <a:cubicBezTo>
                    <a:pt x="3492" y="6398"/>
                    <a:pt x="3742" y="6427"/>
                    <a:pt x="3991" y="6427"/>
                  </a:cubicBezTo>
                  <a:cubicBezTo>
                    <a:pt x="4241" y="6427"/>
                    <a:pt x="4491" y="6398"/>
                    <a:pt x="4734" y="6340"/>
                  </a:cubicBezTo>
                  <a:lnTo>
                    <a:pt x="4734" y="6340"/>
                  </a:lnTo>
                  <a:cubicBezTo>
                    <a:pt x="4640" y="6626"/>
                    <a:pt x="4327" y="6813"/>
                    <a:pt x="3990" y="6813"/>
                  </a:cubicBezTo>
                  <a:cubicBezTo>
                    <a:pt x="3916" y="6813"/>
                    <a:pt x="3840" y="6804"/>
                    <a:pt x="3765" y="6785"/>
                  </a:cubicBezTo>
                  <a:cubicBezTo>
                    <a:pt x="3755" y="6782"/>
                    <a:pt x="3744" y="6781"/>
                    <a:pt x="3734" y="6781"/>
                  </a:cubicBezTo>
                  <a:cubicBezTo>
                    <a:pt x="3677" y="6781"/>
                    <a:pt x="3625" y="6818"/>
                    <a:pt x="3610" y="6876"/>
                  </a:cubicBezTo>
                  <a:cubicBezTo>
                    <a:pt x="3593" y="6945"/>
                    <a:pt x="3633" y="7016"/>
                    <a:pt x="3702" y="7033"/>
                  </a:cubicBezTo>
                  <a:cubicBezTo>
                    <a:pt x="3799" y="7057"/>
                    <a:pt x="3896" y="7069"/>
                    <a:pt x="3990" y="7069"/>
                  </a:cubicBezTo>
                  <a:cubicBezTo>
                    <a:pt x="4504" y="7069"/>
                    <a:pt x="4957" y="6727"/>
                    <a:pt x="5012" y="6261"/>
                  </a:cubicBezTo>
                  <a:cubicBezTo>
                    <a:pt x="5072" y="6241"/>
                    <a:pt x="5131" y="6219"/>
                    <a:pt x="5189" y="6195"/>
                  </a:cubicBezTo>
                  <a:close/>
                  <a:moveTo>
                    <a:pt x="4582" y="0"/>
                  </a:moveTo>
                  <a:cubicBezTo>
                    <a:pt x="4481" y="0"/>
                    <a:pt x="4380" y="16"/>
                    <a:pt x="4282" y="50"/>
                  </a:cubicBezTo>
                  <a:cubicBezTo>
                    <a:pt x="4161" y="92"/>
                    <a:pt x="4059" y="169"/>
                    <a:pt x="3985" y="267"/>
                  </a:cubicBezTo>
                  <a:cubicBezTo>
                    <a:pt x="3911" y="169"/>
                    <a:pt x="3808" y="92"/>
                    <a:pt x="3686" y="50"/>
                  </a:cubicBezTo>
                  <a:cubicBezTo>
                    <a:pt x="3589" y="17"/>
                    <a:pt x="3488" y="0"/>
                    <a:pt x="3386" y="0"/>
                  </a:cubicBezTo>
                  <a:cubicBezTo>
                    <a:pt x="3094" y="0"/>
                    <a:pt x="2802" y="136"/>
                    <a:pt x="2588" y="383"/>
                  </a:cubicBezTo>
                  <a:cubicBezTo>
                    <a:pt x="2524" y="457"/>
                    <a:pt x="2439" y="505"/>
                    <a:pt x="2346" y="517"/>
                  </a:cubicBezTo>
                  <a:cubicBezTo>
                    <a:pt x="1960" y="566"/>
                    <a:pt x="1671" y="864"/>
                    <a:pt x="1650" y="1301"/>
                  </a:cubicBezTo>
                  <a:cubicBezTo>
                    <a:pt x="1648" y="1353"/>
                    <a:pt x="1636" y="1399"/>
                    <a:pt x="1615" y="1442"/>
                  </a:cubicBezTo>
                  <a:cubicBezTo>
                    <a:pt x="1515" y="1641"/>
                    <a:pt x="1521" y="1868"/>
                    <a:pt x="1618" y="2057"/>
                  </a:cubicBezTo>
                  <a:lnTo>
                    <a:pt x="1463" y="2057"/>
                  </a:lnTo>
                  <a:cubicBezTo>
                    <a:pt x="1169" y="2057"/>
                    <a:pt x="899" y="2259"/>
                    <a:pt x="835" y="2574"/>
                  </a:cubicBezTo>
                  <a:cubicBezTo>
                    <a:pt x="813" y="2572"/>
                    <a:pt x="790" y="2571"/>
                    <a:pt x="768" y="2571"/>
                  </a:cubicBezTo>
                  <a:cubicBezTo>
                    <a:pt x="344" y="2571"/>
                    <a:pt x="1" y="2918"/>
                    <a:pt x="1" y="3341"/>
                  </a:cubicBezTo>
                  <a:cubicBezTo>
                    <a:pt x="1" y="3771"/>
                    <a:pt x="351" y="4112"/>
                    <a:pt x="771" y="4112"/>
                  </a:cubicBezTo>
                  <a:cubicBezTo>
                    <a:pt x="813" y="4112"/>
                    <a:pt x="855" y="4108"/>
                    <a:pt x="898" y="4102"/>
                  </a:cubicBezTo>
                  <a:cubicBezTo>
                    <a:pt x="1146" y="4964"/>
                    <a:pt x="1748" y="5666"/>
                    <a:pt x="2499" y="6061"/>
                  </a:cubicBezTo>
                  <a:cubicBezTo>
                    <a:pt x="1776" y="6497"/>
                    <a:pt x="1293" y="7250"/>
                    <a:pt x="1285" y="8093"/>
                  </a:cubicBezTo>
                  <a:cubicBezTo>
                    <a:pt x="1283" y="8448"/>
                    <a:pt x="1569" y="8739"/>
                    <a:pt x="1924" y="8739"/>
                  </a:cubicBezTo>
                  <a:lnTo>
                    <a:pt x="6043" y="8739"/>
                  </a:lnTo>
                  <a:cubicBezTo>
                    <a:pt x="6400" y="8739"/>
                    <a:pt x="6687" y="8448"/>
                    <a:pt x="6683" y="8093"/>
                  </a:cubicBezTo>
                  <a:cubicBezTo>
                    <a:pt x="6675" y="7255"/>
                    <a:pt x="6199" y="6501"/>
                    <a:pt x="5471" y="6062"/>
                  </a:cubicBezTo>
                  <a:cubicBezTo>
                    <a:pt x="6217" y="5671"/>
                    <a:pt x="6822" y="4974"/>
                    <a:pt x="7072" y="4102"/>
                  </a:cubicBezTo>
                  <a:cubicBezTo>
                    <a:pt x="7114" y="4108"/>
                    <a:pt x="7157" y="4112"/>
                    <a:pt x="7198" y="4112"/>
                  </a:cubicBezTo>
                  <a:cubicBezTo>
                    <a:pt x="7615" y="4112"/>
                    <a:pt x="7968" y="3773"/>
                    <a:pt x="7968" y="3341"/>
                  </a:cubicBezTo>
                  <a:cubicBezTo>
                    <a:pt x="7969" y="2918"/>
                    <a:pt x="7626" y="2571"/>
                    <a:pt x="7202" y="2571"/>
                  </a:cubicBezTo>
                  <a:cubicBezTo>
                    <a:pt x="7179" y="2571"/>
                    <a:pt x="7157" y="2572"/>
                    <a:pt x="7134" y="2574"/>
                  </a:cubicBezTo>
                  <a:cubicBezTo>
                    <a:pt x="7071" y="2263"/>
                    <a:pt x="6801" y="2057"/>
                    <a:pt x="6506" y="2057"/>
                  </a:cubicBezTo>
                  <a:lnTo>
                    <a:pt x="6350" y="2057"/>
                  </a:lnTo>
                  <a:cubicBezTo>
                    <a:pt x="6448" y="1867"/>
                    <a:pt x="6455" y="1639"/>
                    <a:pt x="6354" y="1442"/>
                  </a:cubicBezTo>
                  <a:cubicBezTo>
                    <a:pt x="6333" y="1399"/>
                    <a:pt x="6322" y="1352"/>
                    <a:pt x="6319" y="1301"/>
                  </a:cubicBezTo>
                  <a:cubicBezTo>
                    <a:pt x="6298" y="866"/>
                    <a:pt x="6008" y="567"/>
                    <a:pt x="5622" y="517"/>
                  </a:cubicBezTo>
                  <a:cubicBezTo>
                    <a:pt x="5532" y="505"/>
                    <a:pt x="5446" y="457"/>
                    <a:pt x="5382" y="383"/>
                  </a:cubicBezTo>
                  <a:cubicBezTo>
                    <a:pt x="5168" y="136"/>
                    <a:pt x="4874" y="0"/>
                    <a:pt x="45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6"/>
            <p:cNvSpPr/>
            <p:nvPr/>
          </p:nvSpPr>
          <p:spPr>
            <a:xfrm>
              <a:off x="4927451" y="4038683"/>
              <a:ext cx="10943" cy="19707"/>
            </a:xfrm>
            <a:custGeom>
              <a:rect b="b" l="l" r="r" t="t"/>
              <a:pathLst>
                <a:path extrusionOk="0" h="461" w="256">
                  <a:moveTo>
                    <a:pt x="127" y="1"/>
                  </a:moveTo>
                  <a:cubicBezTo>
                    <a:pt x="122" y="1"/>
                    <a:pt x="117" y="1"/>
                    <a:pt x="112" y="2"/>
                  </a:cubicBezTo>
                  <a:cubicBezTo>
                    <a:pt x="46" y="9"/>
                    <a:pt x="1" y="67"/>
                    <a:pt x="1" y="133"/>
                  </a:cubicBezTo>
                  <a:lnTo>
                    <a:pt x="1" y="328"/>
                  </a:lnTo>
                  <a:cubicBezTo>
                    <a:pt x="1" y="394"/>
                    <a:pt x="48" y="452"/>
                    <a:pt x="112" y="460"/>
                  </a:cubicBezTo>
                  <a:cubicBezTo>
                    <a:pt x="118" y="460"/>
                    <a:pt x="123" y="461"/>
                    <a:pt x="128" y="461"/>
                  </a:cubicBezTo>
                  <a:cubicBezTo>
                    <a:pt x="199" y="461"/>
                    <a:pt x="256" y="403"/>
                    <a:pt x="256" y="333"/>
                  </a:cubicBezTo>
                  <a:lnTo>
                    <a:pt x="256" y="128"/>
                  </a:lnTo>
                  <a:cubicBezTo>
                    <a:pt x="256" y="57"/>
                    <a:pt x="199" y="1"/>
                    <a:pt x="1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6"/>
            <p:cNvSpPr/>
            <p:nvPr/>
          </p:nvSpPr>
          <p:spPr>
            <a:xfrm>
              <a:off x="4962205" y="4047318"/>
              <a:ext cx="37490" cy="16757"/>
            </a:xfrm>
            <a:custGeom>
              <a:rect b="b" l="l" r="r" t="t"/>
              <a:pathLst>
                <a:path extrusionOk="0" h="392" w="877">
                  <a:moveTo>
                    <a:pt x="143" y="0"/>
                  </a:moveTo>
                  <a:cubicBezTo>
                    <a:pt x="114" y="0"/>
                    <a:pt x="84" y="10"/>
                    <a:pt x="60" y="32"/>
                  </a:cubicBezTo>
                  <a:cubicBezTo>
                    <a:pt x="7" y="78"/>
                    <a:pt x="1" y="158"/>
                    <a:pt x="48" y="213"/>
                  </a:cubicBezTo>
                  <a:cubicBezTo>
                    <a:pt x="152" y="332"/>
                    <a:pt x="296" y="391"/>
                    <a:pt x="439" y="391"/>
                  </a:cubicBezTo>
                  <a:cubicBezTo>
                    <a:pt x="583" y="391"/>
                    <a:pt x="727" y="332"/>
                    <a:pt x="830" y="213"/>
                  </a:cubicBezTo>
                  <a:cubicBezTo>
                    <a:pt x="877" y="161"/>
                    <a:pt x="871" y="79"/>
                    <a:pt x="819" y="32"/>
                  </a:cubicBezTo>
                  <a:cubicBezTo>
                    <a:pt x="795" y="11"/>
                    <a:pt x="765" y="1"/>
                    <a:pt x="735" y="1"/>
                  </a:cubicBezTo>
                  <a:cubicBezTo>
                    <a:pt x="699" y="1"/>
                    <a:pt x="662" y="16"/>
                    <a:pt x="637" y="44"/>
                  </a:cubicBezTo>
                  <a:cubicBezTo>
                    <a:pt x="584" y="104"/>
                    <a:pt x="512" y="134"/>
                    <a:pt x="439" y="134"/>
                  </a:cubicBezTo>
                  <a:cubicBezTo>
                    <a:pt x="366" y="134"/>
                    <a:pt x="293" y="104"/>
                    <a:pt x="240" y="44"/>
                  </a:cubicBezTo>
                  <a:cubicBezTo>
                    <a:pt x="215" y="15"/>
                    <a:pt x="179" y="0"/>
                    <a:pt x="14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6"/>
            <p:cNvSpPr/>
            <p:nvPr/>
          </p:nvSpPr>
          <p:spPr>
            <a:xfrm>
              <a:off x="5014827" y="4037016"/>
              <a:ext cx="31291" cy="21117"/>
            </a:xfrm>
            <a:custGeom>
              <a:rect b="b" l="l" r="r" t="t"/>
              <a:pathLst>
                <a:path extrusionOk="0" h="494" w="732">
                  <a:moveTo>
                    <a:pt x="365" y="1"/>
                  </a:moveTo>
                  <a:cubicBezTo>
                    <a:pt x="164" y="1"/>
                    <a:pt x="0" y="164"/>
                    <a:pt x="0" y="366"/>
                  </a:cubicBezTo>
                  <a:cubicBezTo>
                    <a:pt x="0" y="436"/>
                    <a:pt x="57" y="493"/>
                    <a:pt x="128" y="493"/>
                  </a:cubicBezTo>
                  <a:cubicBezTo>
                    <a:pt x="200" y="493"/>
                    <a:pt x="257" y="436"/>
                    <a:pt x="257" y="366"/>
                  </a:cubicBezTo>
                  <a:cubicBezTo>
                    <a:pt x="257" y="304"/>
                    <a:pt x="305" y="256"/>
                    <a:pt x="365" y="256"/>
                  </a:cubicBezTo>
                  <a:cubicBezTo>
                    <a:pt x="426" y="256"/>
                    <a:pt x="475" y="304"/>
                    <a:pt x="475" y="366"/>
                  </a:cubicBezTo>
                  <a:cubicBezTo>
                    <a:pt x="475" y="436"/>
                    <a:pt x="532" y="493"/>
                    <a:pt x="603" y="493"/>
                  </a:cubicBezTo>
                  <a:cubicBezTo>
                    <a:pt x="674" y="493"/>
                    <a:pt x="731" y="436"/>
                    <a:pt x="731" y="366"/>
                  </a:cubicBezTo>
                  <a:cubicBezTo>
                    <a:pt x="731" y="164"/>
                    <a:pt x="568" y="1"/>
                    <a:pt x="3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6"/>
            <p:cNvSpPr/>
            <p:nvPr/>
          </p:nvSpPr>
          <p:spPr>
            <a:xfrm>
              <a:off x="5035730" y="3965842"/>
              <a:ext cx="29368" cy="27487"/>
            </a:xfrm>
            <a:custGeom>
              <a:rect b="b" l="l" r="r" t="t"/>
              <a:pathLst>
                <a:path extrusionOk="0" h="643" w="687">
                  <a:moveTo>
                    <a:pt x="447" y="1"/>
                  </a:moveTo>
                  <a:cubicBezTo>
                    <a:pt x="437" y="1"/>
                    <a:pt x="427" y="2"/>
                    <a:pt x="416" y="4"/>
                  </a:cubicBezTo>
                  <a:cubicBezTo>
                    <a:pt x="348" y="18"/>
                    <a:pt x="302" y="85"/>
                    <a:pt x="316" y="154"/>
                  </a:cubicBezTo>
                  <a:cubicBezTo>
                    <a:pt x="339" y="270"/>
                    <a:pt x="267" y="382"/>
                    <a:pt x="127" y="386"/>
                  </a:cubicBezTo>
                  <a:cubicBezTo>
                    <a:pt x="56" y="387"/>
                    <a:pt x="1" y="447"/>
                    <a:pt x="3" y="518"/>
                  </a:cubicBezTo>
                  <a:cubicBezTo>
                    <a:pt x="5" y="586"/>
                    <a:pt x="63" y="642"/>
                    <a:pt x="132" y="642"/>
                  </a:cubicBezTo>
                  <a:cubicBezTo>
                    <a:pt x="611" y="642"/>
                    <a:pt x="686" y="1"/>
                    <a:pt x="4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6"/>
            <p:cNvSpPr/>
            <p:nvPr/>
          </p:nvSpPr>
          <p:spPr>
            <a:xfrm>
              <a:off x="4899622" y="3965884"/>
              <a:ext cx="26546" cy="27444"/>
            </a:xfrm>
            <a:custGeom>
              <a:rect b="b" l="l" r="r" t="t"/>
              <a:pathLst>
                <a:path extrusionOk="0" h="642" w="621">
                  <a:moveTo>
                    <a:pt x="179" y="0"/>
                  </a:moveTo>
                  <a:cubicBezTo>
                    <a:pt x="120" y="0"/>
                    <a:pt x="66" y="42"/>
                    <a:pt x="55" y="103"/>
                  </a:cubicBezTo>
                  <a:cubicBezTo>
                    <a:pt x="1" y="370"/>
                    <a:pt x="185" y="633"/>
                    <a:pt x="488" y="641"/>
                  </a:cubicBezTo>
                  <a:cubicBezTo>
                    <a:pt x="489" y="641"/>
                    <a:pt x="490" y="641"/>
                    <a:pt x="492" y="641"/>
                  </a:cubicBezTo>
                  <a:cubicBezTo>
                    <a:pt x="560" y="641"/>
                    <a:pt x="617" y="585"/>
                    <a:pt x="620" y="517"/>
                  </a:cubicBezTo>
                  <a:cubicBezTo>
                    <a:pt x="621" y="446"/>
                    <a:pt x="565" y="386"/>
                    <a:pt x="494" y="385"/>
                  </a:cubicBezTo>
                  <a:cubicBezTo>
                    <a:pt x="356" y="381"/>
                    <a:pt x="282" y="269"/>
                    <a:pt x="305" y="153"/>
                  </a:cubicBezTo>
                  <a:cubicBezTo>
                    <a:pt x="320" y="84"/>
                    <a:pt x="275" y="16"/>
                    <a:pt x="205" y="3"/>
                  </a:cubicBezTo>
                  <a:cubicBezTo>
                    <a:pt x="196" y="1"/>
                    <a:pt x="187" y="0"/>
                    <a:pt x="1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6"/>
            <p:cNvSpPr/>
            <p:nvPr/>
          </p:nvSpPr>
          <p:spPr>
            <a:xfrm>
              <a:off x="5079290" y="3911338"/>
              <a:ext cx="40012" cy="27444"/>
            </a:xfrm>
            <a:custGeom>
              <a:rect b="b" l="l" r="r" t="t"/>
              <a:pathLst>
                <a:path extrusionOk="0" h="642" w="936">
                  <a:moveTo>
                    <a:pt x="790" y="1"/>
                  </a:moveTo>
                  <a:cubicBezTo>
                    <a:pt x="767" y="1"/>
                    <a:pt x="745" y="7"/>
                    <a:pt x="724" y="19"/>
                  </a:cubicBezTo>
                  <a:lnTo>
                    <a:pt x="81" y="404"/>
                  </a:lnTo>
                  <a:cubicBezTo>
                    <a:pt x="21" y="441"/>
                    <a:pt x="1" y="518"/>
                    <a:pt x="38" y="579"/>
                  </a:cubicBezTo>
                  <a:cubicBezTo>
                    <a:pt x="62" y="619"/>
                    <a:pt x="104" y="642"/>
                    <a:pt x="148" y="642"/>
                  </a:cubicBezTo>
                  <a:cubicBezTo>
                    <a:pt x="170" y="642"/>
                    <a:pt x="192" y="635"/>
                    <a:pt x="213" y="623"/>
                  </a:cubicBezTo>
                  <a:lnTo>
                    <a:pt x="856" y="238"/>
                  </a:lnTo>
                  <a:cubicBezTo>
                    <a:pt x="917" y="201"/>
                    <a:pt x="936" y="123"/>
                    <a:pt x="899" y="62"/>
                  </a:cubicBezTo>
                  <a:cubicBezTo>
                    <a:pt x="874" y="23"/>
                    <a:pt x="833" y="1"/>
                    <a:pt x="79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6"/>
            <p:cNvSpPr/>
            <p:nvPr/>
          </p:nvSpPr>
          <p:spPr>
            <a:xfrm>
              <a:off x="5101562" y="3966184"/>
              <a:ext cx="39413" cy="16458"/>
            </a:xfrm>
            <a:custGeom>
              <a:rect b="b" l="l" r="r" t="t"/>
              <a:pathLst>
                <a:path extrusionOk="0" h="385" w="922">
                  <a:moveTo>
                    <a:pt x="139" y="0"/>
                  </a:moveTo>
                  <a:cubicBezTo>
                    <a:pt x="80" y="0"/>
                    <a:pt x="26" y="44"/>
                    <a:pt x="14" y="103"/>
                  </a:cubicBezTo>
                  <a:cubicBezTo>
                    <a:pt x="0" y="172"/>
                    <a:pt x="44" y="241"/>
                    <a:pt x="114" y="254"/>
                  </a:cubicBezTo>
                  <a:lnTo>
                    <a:pt x="757" y="382"/>
                  </a:lnTo>
                  <a:cubicBezTo>
                    <a:pt x="765" y="383"/>
                    <a:pt x="773" y="384"/>
                    <a:pt x="782" y="384"/>
                  </a:cubicBezTo>
                  <a:cubicBezTo>
                    <a:pt x="841" y="384"/>
                    <a:pt x="895" y="342"/>
                    <a:pt x="907" y="282"/>
                  </a:cubicBezTo>
                  <a:cubicBezTo>
                    <a:pt x="921" y="213"/>
                    <a:pt x="877" y="145"/>
                    <a:pt x="807" y="131"/>
                  </a:cubicBezTo>
                  <a:lnTo>
                    <a:pt x="165" y="3"/>
                  </a:lnTo>
                  <a:cubicBezTo>
                    <a:pt x="156" y="1"/>
                    <a:pt x="147" y="0"/>
                    <a:pt x="13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6"/>
            <p:cNvSpPr/>
            <p:nvPr/>
          </p:nvSpPr>
          <p:spPr>
            <a:xfrm>
              <a:off x="4843324" y="3911338"/>
              <a:ext cx="40012" cy="27444"/>
            </a:xfrm>
            <a:custGeom>
              <a:rect b="b" l="l" r="r" t="t"/>
              <a:pathLst>
                <a:path extrusionOk="0" h="642" w="936">
                  <a:moveTo>
                    <a:pt x="147" y="1"/>
                  </a:moveTo>
                  <a:cubicBezTo>
                    <a:pt x="104" y="1"/>
                    <a:pt x="62" y="23"/>
                    <a:pt x="38" y="62"/>
                  </a:cubicBezTo>
                  <a:cubicBezTo>
                    <a:pt x="1" y="123"/>
                    <a:pt x="20" y="201"/>
                    <a:pt x="81" y="238"/>
                  </a:cubicBezTo>
                  <a:lnTo>
                    <a:pt x="724" y="623"/>
                  </a:lnTo>
                  <a:cubicBezTo>
                    <a:pt x="745" y="636"/>
                    <a:pt x="767" y="642"/>
                    <a:pt x="789" y="642"/>
                  </a:cubicBezTo>
                  <a:cubicBezTo>
                    <a:pt x="832" y="642"/>
                    <a:pt x="874" y="619"/>
                    <a:pt x="899" y="579"/>
                  </a:cubicBezTo>
                  <a:cubicBezTo>
                    <a:pt x="936" y="519"/>
                    <a:pt x="916" y="441"/>
                    <a:pt x="855" y="404"/>
                  </a:cubicBezTo>
                  <a:lnTo>
                    <a:pt x="213" y="19"/>
                  </a:lnTo>
                  <a:cubicBezTo>
                    <a:pt x="192" y="7"/>
                    <a:pt x="169" y="1"/>
                    <a:pt x="14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6"/>
            <p:cNvSpPr/>
            <p:nvPr/>
          </p:nvSpPr>
          <p:spPr>
            <a:xfrm>
              <a:off x="4821736" y="3966226"/>
              <a:ext cx="39328" cy="16415"/>
            </a:xfrm>
            <a:custGeom>
              <a:rect b="b" l="l" r="r" t="t"/>
              <a:pathLst>
                <a:path extrusionOk="0" h="384" w="920">
                  <a:moveTo>
                    <a:pt x="779" y="0"/>
                  </a:moveTo>
                  <a:cubicBezTo>
                    <a:pt x="772" y="0"/>
                    <a:pt x="764" y="1"/>
                    <a:pt x="756" y="2"/>
                  </a:cubicBezTo>
                  <a:lnTo>
                    <a:pt x="113" y="130"/>
                  </a:lnTo>
                  <a:cubicBezTo>
                    <a:pt x="45" y="144"/>
                    <a:pt x="0" y="211"/>
                    <a:pt x="13" y="281"/>
                  </a:cubicBezTo>
                  <a:cubicBezTo>
                    <a:pt x="26" y="341"/>
                    <a:pt x="80" y="383"/>
                    <a:pt x="139" y="383"/>
                  </a:cubicBezTo>
                  <a:cubicBezTo>
                    <a:pt x="147" y="383"/>
                    <a:pt x="154" y="383"/>
                    <a:pt x="164" y="381"/>
                  </a:cubicBezTo>
                  <a:lnTo>
                    <a:pt x="806" y="253"/>
                  </a:lnTo>
                  <a:cubicBezTo>
                    <a:pt x="875" y="240"/>
                    <a:pt x="919" y="172"/>
                    <a:pt x="907" y="102"/>
                  </a:cubicBezTo>
                  <a:cubicBezTo>
                    <a:pt x="895" y="42"/>
                    <a:pt x="839" y="0"/>
                    <a:pt x="77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36"/>
          <p:cNvGrpSpPr/>
          <p:nvPr/>
        </p:nvGrpSpPr>
        <p:grpSpPr>
          <a:xfrm>
            <a:off x="7625016" y="138308"/>
            <a:ext cx="681313" cy="948395"/>
            <a:chOff x="3219346" y="2116414"/>
            <a:chExt cx="268583" cy="373870"/>
          </a:xfrm>
        </p:grpSpPr>
        <p:sp>
          <p:nvSpPr>
            <p:cNvPr id="474" name="Google Shape;474;p36"/>
            <p:cNvSpPr/>
            <p:nvPr/>
          </p:nvSpPr>
          <p:spPr>
            <a:xfrm>
              <a:off x="3219346" y="2299929"/>
              <a:ext cx="268583" cy="190355"/>
            </a:xfrm>
            <a:custGeom>
              <a:rect b="b" l="l" r="r" t="t"/>
              <a:pathLst>
                <a:path extrusionOk="0" h="4453" w="6283">
                  <a:moveTo>
                    <a:pt x="2788" y="3293"/>
                  </a:moveTo>
                  <a:cubicBezTo>
                    <a:pt x="3063" y="3293"/>
                    <a:pt x="3281" y="3540"/>
                    <a:pt x="3234" y="3823"/>
                  </a:cubicBezTo>
                  <a:cubicBezTo>
                    <a:pt x="3197" y="4041"/>
                    <a:pt x="3003" y="4197"/>
                    <a:pt x="2783" y="4197"/>
                  </a:cubicBezTo>
                  <a:lnTo>
                    <a:pt x="733" y="4197"/>
                  </a:lnTo>
                  <a:cubicBezTo>
                    <a:pt x="513" y="4197"/>
                    <a:pt x="318" y="4041"/>
                    <a:pt x="283" y="3823"/>
                  </a:cubicBezTo>
                  <a:cubicBezTo>
                    <a:pt x="235" y="3540"/>
                    <a:pt x="453" y="3293"/>
                    <a:pt x="728" y="3293"/>
                  </a:cubicBezTo>
                  <a:close/>
                  <a:moveTo>
                    <a:pt x="2521" y="1"/>
                  </a:moveTo>
                  <a:cubicBezTo>
                    <a:pt x="2405" y="1"/>
                    <a:pt x="2284" y="28"/>
                    <a:pt x="2163" y="90"/>
                  </a:cubicBezTo>
                  <a:cubicBezTo>
                    <a:pt x="919" y="726"/>
                    <a:pt x="35" y="1811"/>
                    <a:pt x="330" y="3166"/>
                  </a:cubicBezTo>
                  <a:cubicBezTo>
                    <a:pt x="128" y="3304"/>
                    <a:pt x="1" y="3546"/>
                    <a:pt x="26" y="3815"/>
                  </a:cubicBezTo>
                  <a:cubicBezTo>
                    <a:pt x="61" y="4179"/>
                    <a:pt x="374" y="4453"/>
                    <a:pt x="740" y="4453"/>
                  </a:cubicBezTo>
                  <a:lnTo>
                    <a:pt x="2773" y="4453"/>
                  </a:lnTo>
                  <a:cubicBezTo>
                    <a:pt x="3131" y="4453"/>
                    <a:pt x="3443" y="4187"/>
                    <a:pt x="3483" y="3830"/>
                  </a:cubicBezTo>
                  <a:cubicBezTo>
                    <a:pt x="3508" y="3609"/>
                    <a:pt x="3430" y="3404"/>
                    <a:pt x="3292" y="3259"/>
                  </a:cubicBezTo>
                  <a:cubicBezTo>
                    <a:pt x="3392" y="3245"/>
                    <a:pt x="3491" y="3226"/>
                    <a:pt x="3588" y="3203"/>
                  </a:cubicBezTo>
                  <a:cubicBezTo>
                    <a:pt x="3648" y="3188"/>
                    <a:pt x="3693" y="3136"/>
                    <a:pt x="3692" y="3076"/>
                  </a:cubicBezTo>
                  <a:cubicBezTo>
                    <a:pt x="3689" y="3002"/>
                    <a:pt x="3629" y="2949"/>
                    <a:pt x="3563" y="2949"/>
                  </a:cubicBezTo>
                  <a:cubicBezTo>
                    <a:pt x="3554" y="2949"/>
                    <a:pt x="3544" y="2950"/>
                    <a:pt x="3534" y="2953"/>
                  </a:cubicBezTo>
                  <a:cubicBezTo>
                    <a:pt x="3288" y="3011"/>
                    <a:pt x="3034" y="3041"/>
                    <a:pt x="2783" y="3041"/>
                  </a:cubicBezTo>
                  <a:cubicBezTo>
                    <a:pt x="1988" y="3041"/>
                    <a:pt x="1493" y="3040"/>
                    <a:pt x="1180" y="3040"/>
                  </a:cubicBezTo>
                  <a:cubicBezTo>
                    <a:pt x="621" y="3040"/>
                    <a:pt x="641" y="3043"/>
                    <a:pt x="569" y="3060"/>
                  </a:cubicBezTo>
                  <a:cubicBezTo>
                    <a:pt x="358" y="1981"/>
                    <a:pt x="974" y="988"/>
                    <a:pt x="2279" y="318"/>
                  </a:cubicBezTo>
                  <a:cubicBezTo>
                    <a:pt x="2360" y="276"/>
                    <a:pt x="2442" y="258"/>
                    <a:pt x="2520" y="258"/>
                  </a:cubicBezTo>
                  <a:cubicBezTo>
                    <a:pt x="2913" y="258"/>
                    <a:pt x="3220" y="726"/>
                    <a:pt x="2948" y="1098"/>
                  </a:cubicBezTo>
                  <a:cubicBezTo>
                    <a:pt x="2849" y="1235"/>
                    <a:pt x="2763" y="1312"/>
                    <a:pt x="2700" y="1367"/>
                  </a:cubicBezTo>
                  <a:cubicBezTo>
                    <a:pt x="2545" y="1496"/>
                    <a:pt x="2643" y="1743"/>
                    <a:pt x="2835" y="1743"/>
                  </a:cubicBezTo>
                  <a:cubicBezTo>
                    <a:pt x="2843" y="1743"/>
                    <a:pt x="2852" y="1742"/>
                    <a:pt x="2860" y="1741"/>
                  </a:cubicBezTo>
                  <a:cubicBezTo>
                    <a:pt x="3751" y="1641"/>
                    <a:pt x="4774" y="1289"/>
                    <a:pt x="5323" y="581"/>
                  </a:cubicBezTo>
                  <a:cubicBezTo>
                    <a:pt x="5408" y="471"/>
                    <a:pt x="5516" y="425"/>
                    <a:pt x="5621" y="425"/>
                  </a:cubicBezTo>
                  <a:cubicBezTo>
                    <a:pt x="5872" y="425"/>
                    <a:pt x="6104" y="689"/>
                    <a:pt x="5960" y="972"/>
                  </a:cubicBezTo>
                  <a:cubicBezTo>
                    <a:pt x="5542" y="1797"/>
                    <a:pt x="4836" y="2462"/>
                    <a:pt x="4025" y="2794"/>
                  </a:cubicBezTo>
                  <a:cubicBezTo>
                    <a:pt x="3960" y="2821"/>
                    <a:pt x="3929" y="2897"/>
                    <a:pt x="3955" y="2961"/>
                  </a:cubicBezTo>
                  <a:cubicBezTo>
                    <a:pt x="3975" y="3010"/>
                    <a:pt x="4024" y="3040"/>
                    <a:pt x="4074" y="3040"/>
                  </a:cubicBezTo>
                  <a:cubicBezTo>
                    <a:pt x="4090" y="3040"/>
                    <a:pt x="4106" y="3037"/>
                    <a:pt x="4121" y="3031"/>
                  </a:cubicBezTo>
                  <a:cubicBezTo>
                    <a:pt x="5022" y="2662"/>
                    <a:pt x="5751" y="1948"/>
                    <a:pt x="6188" y="1088"/>
                  </a:cubicBezTo>
                  <a:cubicBezTo>
                    <a:pt x="6279" y="916"/>
                    <a:pt x="6283" y="719"/>
                    <a:pt x="6205" y="544"/>
                  </a:cubicBezTo>
                  <a:cubicBezTo>
                    <a:pt x="6097" y="302"/>
                    <a:pt x="5866" y="171"/>
                    <a:pt x="5630" y="171"/>
                  </a:cubicBezTo>
                  <a:cubicBezTo>
                    <a:pt x="5445" y="171"/>
                    <a:pt x="5257" y="251"/>
                    <a:pt x="5123" y="424"/>
                  </a:cubicBezTo>
                  <a:cubicBezTo>
                    <a:pt x="4551" y="1163"/>
                    <a:pt x="3453" y="1400"/>
                    <a:pt x="2968" y="1469"/>
                  </a:cubicBezTo>
                  <a:cubicBezTo>
                    <a:pt x="3023" y="1413"/>
                    <a:pt x="3087" y="1343"/>
                    <a:pt x="3156" y="1248"/>
                  </a:cubicBezTo>
                  <a:cubicBezTo>
                    <a:pt x="3558" y="696"/>
                    <a:pt x="3104" y="1"/>
                    <a:pt x="2521" y="1"/>
                  </a:cubicBezTo>
                  <a:close/>
                </a:path>
              </a:pathLst>
            </a:custGeom>
            <a:solidFill>
              <a:schemeClr val="accent3"/>
            </a:solidFill>
            <a:ln>
              <a:noFill/>
            </a:ln>
          </p:spPr>
          <p:txBody>
            <a:bodyPr anchorCtr="0" anchor="ctr" bIns="231925" lIns="231925" spcFirstLastPara="1" rIns="231925" wrap="square" tIns="231925">
              <a:noAutofit/>
            </a:bodyPr>
            <a:lstStyle/>
            <a:p>
              <a:pPr indent="0" lvl="0" marL="0" rtl="0" algn="l">
                <a:spcBef>
                  <a:spcPts val="0"/>
                </a:spcBef>
                <a:spcAft>
                  <a:spcPts val="0"/>
                </a:spcAft>
                <a:buNone/>
              </a:pPr>
              <a:r>
                <a:t/>
              </a:r>
              <a:endParaRPr/>
            </a:p>
          </p:txBody>
        </p:sp>
        <p:sp>
          <p:nvSpPr>
            <p:cNvPr id="475" name="Google Shape;475;p36"/>
            <p:cNvSpPr/>
            <p:nvPr/>
          </p:nvSpPr>
          <p:spPr>
            <a:xfrm>
              <a:off x="3240079" y="2116414"/>
              <a:ext cx="224895" cy="186636"/>
            </a:xfrm>
            <a:custGeom>
              <a:rect b="b" l="l" r="r" t="t"/>
              <a:pathLst>
                <a:path extrusionOk="0" h="4366" w="5261">
                  <a:moveTo>
                    <a:pt x="2127" y="256"/>
                  </a:moveTo>
                  <a:cubicBezTo>
                    <a:pt x="2237" y="256"/>
                    <a:pt x="2349" y="278"/>
                    <a:pt x="2454" y="324"/>
                  </a:cubicBezTo>
                  <a:cubicBezTo>
                    <a:pt x="2531" y="358"/>
                    <a:pt x="2615" y="375"/>
                    <a:pt x="2701" y="375"/>
                  </a:cubicBezTo>
                  <a:cubicBezTo>
                    <a:pt x="2763" y="375"/>
                    <a:pt x="2825" y="366"/>
                    <a:pt x="2887" y="349"/>
                  </a:cubicBezTo>
                  <a:cubicBezTo>
                    <a:pt x="2928" y="337"/>
                    <a:pt x="2969" y="332"/>
                    <a:pt x="3011" y="332"/>
                  </a:cubicBezTo>
                  <a:cubicBezTo>
                    <a:pt x="3141" y="332"/>
                    <a:pt x="3268" y="387"/>
                    <a:pt x="3356" y="487"/>
                  </a:cubicBezTo>
                  <a:cubicBezTo>
                    <a:pt x="3433" y="574"/>
                    <a:pt x="3539" y="625"/>
                    <a:pt x="3651" y="632"/>
                  </a:cubicBezTo>
                  <a:cubicBezTo>
                    <a:pt x="4015" y="651"/>
                    <a:pt x="4320" y="907"/>
                    <a:pt x="4410" y="1266"/>
                  </a:cubicBezTo>
                  <a:cubicBezTo>
                    <a:pt x="4440" y="1381"/>
                    <a:pt x="4516" y="1479"/>
                    <a:pt x="4620" y="1534"/>
                  </a:cubicBezTo>
                  <a:cubicBezTo>
                    <a:pt x="4765" y="1611"/>
                    <a:pt x="4839" y="1786"/>
                    <a:pt x="4794" y="1948"/>
                  </a:cubicBezTo>
                  <a:cubicBezTo>
                    <a:pt x="4758" y="2080"/>
                    <a:pt x="4768" y="2223"/>
                    <a:pt x="4823" y="2364"/>
                  </a:cubicBezTo>
                  <a:cubicBezTo>
                    <a:pt x="5036" y="2901"/>
                    <a:pt x="4647" y="3521"/>
                    <a:pt x="4050" y="3521"/>
                  </a:cubicBezTo>
                  <a:cubicBezTo>
                    <a:pt x="4031" y="3521"/>
                    <a:pt x="4011" y="3520"/>
                    <a:pt x="3992" y="3519"/>
                  </a:cubicBezTo>
                  <a:cubicBezTo>
                    <a:pt x="3989" y="3519"/>
                    <a:pt x="3986" y="3519"/>
                    <a:pt x="3983" y="3519"/>
                  </a:cubicBezTo>
                  <a:cubicBezTo>
                    <a:pt x="3887" y="3519"/>
                    <a:pt x="3810" y="3627"/>
                    <a:pt x="3884" y="3735"/>
                  </a:cubicBezTo>
                  <a:cubicBezTo>
                    <a:pt x="3899" y="3756"/>
                    <a:pt x="3921" y="3769"/>
                    <a:pt x="3946" y="3772"/>
                  </a:cubicBezTo>
                  <a:cubicBezTo>
                    <a:pt x="3980" y="3775"/>
                    <a:pt x="4014" y="3777"/>
                    <a:pt x="4048" y="3777"/>
                  </a:cubicBezTo>
                  <a:cubicBezTo>
                    <a:pt x="4150" y="3777"/>
                    <a:pt x="4254" y="3763"/>
                    <a:pt x="4355" y="3734"/>
                  </a:cubicBezTo>
                  <a:cubicBezTo>
                    <a:pt x="4370" y="3798"/>
                    <a:pt x="4383" y="3862"/>
                    <a:pt x="4389" y="3927"/>
                  </a:cubicBezTo>
                  <a:cubicBezTo>
                    <a:pt x="4400" y="4026"/>
                    <a:pt x="4324" y="4110"/>
                    <a:pt x="4226" y="4110"/>
                  </a:cubicBezTo>
                  <a:lnTo>
                    <a:pt x="3728" y="4110"/>
                  </a:lnTo>
                  <a:cubicBezTo>
                    <a:pt x="3552" y="4110"/>
                    <a:pt x="3608" y="3936"/>
                    <a:pt x="3341" y="3743"/>
                  </a:cubicBezTo>
                  <a:cubicBezTo>
                    <a:pt x="3391" y="3720"/>
                    <a:pt x="3428" y="3695"/>
                    <a:pt x="3508" y="3689"/>
                  </a:cubicBezTo>
                  <a:cubicBezTo>
                    <a:pt x="3537" y="3687"/>
                    <a:pt x="3562" y="3669"/>
                    <a:pt x="3577" y="3645"/>
                  </a:cubicBezTo>
                  <a:cubicBezTo>
                    <a:pt x="3637" y="3537"/>
                    <a:pt x="3563" y="3437"/>
                    <a:pt x="3473" y="3437"/>
                  </a:cubicBezTo>
                  <a:cubicBezTo>
                    <a:pt x="3467" y="3437"/>
                    <a:pt x="3461" y="3438"/>
                    <a:pt x="3455" y="3439"/>
                  </a:cubicBezTo>
                  <a:cubicBezTo>
                    <a:pt x="3383" y="3447"/>
                    <a:pt x="3314" y="3471"/>
                    <a:pt x="3252" y="3503"/>
                  </a:cubicBezTo>
                  <a:cubicBezTo>
                    <a:pt x="3134" y="3566"/>
                    <a:pt x="3000" y="3598"/>
                    <a:pt x="2867" y="3598"/>
                  </a:cubicBezTo>
                  <a:cubicBezTo>
                    <a:pt x="2784" y="3598"/>
                    <a:pt x="2701" y="3585"/>
                    <a:pt x="2621" y="3560"/>
                  </a:cubicBezTo>
                  <a:cubicBezTo>
                    <a:pt x="2555" y="3539"/>
                    <a:pt x="2489" y="3529"/>
                    <a:pt x="2423" y="3529"/>
                  </a:cubicBezTo>
                  <a:cubicBezTo>
                    <a:pt x="2358" y="3529"/>
                    <a:pt x="2295" y="3539"/>
                    <a:pt x="2233" y="3558"/>
                  </a:cubicBezTo>
                  <a:cubicBezTo>
                    <a:pt x="2149" y="3585"/>
                    <a:pt x="2063" y="3598"/>
                    <a:pt x="1979" y="3598"/>
                  </a:cubicBezTo>
                  <a:cubicBezTo>
                    <a:pt x="1738" y="3598"/>
                    <a:pt x="1505" y="3492"/>
                    <a:pt x="1344" y="3298"/>
                  </a:cubicBezTo>
                  <a:cubicBezTo>
                    <a:pt x="1271" y="3209"/>
                    <a:pt x="1162" y="3154"/>
                    <a:pt x="1048" y="3147"/>
                  </a:cubicBezTo>
                  <a:cubicBezTo>
                    <a:pt x="607" y="3122"/>
                    <a:pt x="262" y="2751"/>
                    <a:pt x="262" y="2303"/>
                  </a:cubicBezTo>
                  <a:cubicBezTo>
                    <a:pt x="257" y="2073"/>
                    <a:pt x="343" y="1859"/>
                    <a:pt x="502" y="1699"/>
                  </a:cubicBezTo>
                  <a:cubicBezTo>
                    <a:pt x="582" y="1620"/>
                    <a:pt x="626" y="1511"/>
                    <a:pt x="626" y="1397"/>
                  </a:cubicBezTo>
                  <a:cubicBezTo>
                    <a:pt x="627" y="1087"/>
                    <a:pt x="855" y="824"/>
                    <a:pt x="1159" y="785"/>
                  </a:cubicBezTo>
                  <a:cubicBezTo>
                    <a:pt x="1273" y="771"/>
                    <a:pt x="1378" y="704"/>
                    <a:pt x="1449" y="607"/>
                  </a:cubicBezTo>
                  <a:cubicBezTo>
                    <a:pt x="1609" y="381"/>
                    <a:pt x="1865" y="256"/>
                    <a:pt x="2127" y="256"/>
                  </a:cubicBezTo>
                  <a:close/>
                  <a:moveTo>
                    <a:pt x="2127" y="1"/>
                  </a:moveTo>
                  <a:cubicBezTo>
                    <a:pt x="1784" y="1"/>
                    <a:pt x="1448" y="166"/>
                    <a:pt x="1239" y="460"/>
                  </a:cubicBezTo>
                  <a:cubicBezTo>
                    <a:pt x="1209" y="501"/>
                    <a:pt x="1169" y="527"/>
                    <a:pt x="1125" y="533"/>
                  </a:cubicBezTo>
                  <a:cubicBezTo>
                    <a:pt x="697" y="588"/>
                    <a:pt x="373" y="961"/>
                    <a:pt x="370" y="1398"/>
                  </a:cubicBezTo>
                  <a:cubicBezTo>
                    <a:pt x="370" y="1446"/>
                    <a:pt x="353" y="1489"/>
                    <a:pt x="321" y="1521"/>
                  </a:cubicBezTo>
                  <a:cubicBezTo>
                    <a:pt x="114" y="1730"/>
                    <a:pt x="0" y="2006"/>
                    <a:pt x="0" y="2302"/>
                  </a:cubicBezTo>
                  <a:cubicBezTo>
                    <a:pt x="0" y="2885"/>
                    <a:pt x="452" y="3367"/>
                    <a:pt x="1027" y="3400"/>
                  </a:cubicBezTo>
                  <a:cubicBezTo>
                    <a:pt x="1037" y="3390"/>
                    <a:pt x="1049" y="3385"/>
                    <a:pt x="1061" y="3385"/>
                  </a:cubicBezTo>
                  <a:cubicBezTo>
                    <a:pt x="1076" y="3385"/>
                    <a:pt x="1090" y="3392"/>
                    <a:pt x="1101" y="3405"/>
                  </a:cubicBezTo>
                  <a:cubicBezTo>
                    <a:pt x="1311" y="3693"/>
                    <a:pt x="1636" y="3852"/>
                    <a:pt x="1973" y="3852"/>
                  </a:cubicBezTo>
                  <a:cubicBezTo>
                    <a:pt x="2083" y="3852"/>
                    <a:pt x="2195" y="3835"/>
                    <a:pt x="2305" y="3800"/>
                  </a:cubicBezTo>
                  <a:cubicBezTo>
                    <a:pt x="2340" y="3788"/>
                    <a:pt x="2377" y="3782"/>
                    <a:pt x="2415" y="3782"/>
                  </a:cubicBezTo>
                  <a:cubicBezTo>
                    <a:pt x="2456" y="3782"/>
                    <a:pt x="2497" y="3789"/>
                    <a:pt x="2537" y="3801"/>
                  </a:cubicBezTo>
                  <a:cubicBezTo>
                    <a:pt x="2643" y="3834"/>
                    <a:pt x="2753" y="3851"/>
                    <a:pt x="2864" y="3851"/>
                  </a:cubicBezTo>
                  <a:cubicBezTo>
                    <a:pt x="2902" y="3851"/>
                    <a:pt x="2941" y="3849"/>
                    <a:pt x="2979" y="3845"/>
                  </a:cubicBezTo>
                  <a:cubicBezTo>
                    <a:pt x="3140" y="3905"/>
                    <a:pt x="3267" y="3982"/>
                    <a:pt x="3350" y="4142"/>
                  </a:cubicBezTo>
                  <a:cubicBezTo>
                    <a:pt x="3423" y="4280"/>
                    <a:pt x="3565" y="4365"/>
                    <a:pt x="3723" y="4365"/>
                  </a:cubicBezTo>
                  <a:lnTo>
                    <a:pt x="4221" y="4365"/>
                  </a:lnTo>
                  <a:cubicBezTo>
                    <a:pt x="4470" y="4365"/>
                    <a:pt x="4665" y="4149"/>
                    <a:pt x="4638" y="3901"/>
                  </a:cubicBezTo>
                  <a:cubicBezTo>
                    <a:pt x="4630" y="3810"/>
                    <a:pt x="4612" y="3721"/>
                    <a:pt x="4589" y="3632"/>
                  </a:cubicBezTo>
                  <a:cubicBezTo>
                    <a:pt x="5038" y="3370"/>
                    <a:pt x="5261" y="2790"/>
                    <a:pt x="5058" y="2271"/>
                  </a:cubicBezTo>
                  <a:cubicBezTo>
                    <a:pt x="5034" y="2210"/>
                    <a:pt x="5011" y="2116"/>
                    <a:pt x="5038" y="2017"/>
                  </a:cubicBezTo>
                  <a:cubicBezTo>
                    <a:pt x="5115" y="1741"/>
                    <a:pt x="4989" y="1445"/>
                    <a:pt x="4739" y="1310"/>
                  </a:cubicBezTo>
                  <a:cubicBezTo>
                    <a:pt x="4698" y="1288"/>
                    <a:pt x="4668" y="1250"/>
                    <a:pt x="4657" y="1204"/>
                  </a:cubicBezTo>
                  <a:cubicBezTo>
                    <a:pt x="4538" y="736"/>
                    <a:pt x="4140" y="403"/>
                    <a:pt x="3662" y="377"/>
                  </a:cubicBezTo>
                  <a:cubicBezTo>
                    <a:pt x="3619" y="375"/>
                    <a:pt x="3578" y="354"/>
                    <a:pt x="3546" y="318"/>
                  </a:cubicBezTo>
                  <a:cubicBezTo>
                    <a:pt x="3409" y="162"/>
                    <a:pt x="3211" y="76"/>
                    <a:pt x="3009" y="76"/>
                  </a:cubicBezTo>
                  <a:cubicBezTo>
                    <a:pt x="2944" y="76"/>
                    <a:pt x="2879" y="85"/>
                    <a:pt x="2815" y="103"/>
                  </a:cubicBezTo>
                  <a:cubicBezTo>
                    <a:pt x="2775" y="114"/>
                    <a:pt x="2734" y="120"/>
                    <a:pt x="2696" y="120"/>
                  </a:cubicBezTo>
                  <a:cubicBezTo>
                    <a:pt x="2646" y="120"/>
                    <a:pt x="2599" y="111"/>
                    <a:pt x="2557" y="91"/>
                  </a:cubicBezTo>
                  <a:cubicBezTo>
                    <a:pt x="2418" y="30"/>
                    <a:pt x="2272" y="1"/>
                    <a:pt x="2127" y="1"/>
                  </a:cubicBezTo>
                  <a:close/>
                </a:path>
              </a:pathLst>
            </a:custGeom>
            <a:solidFill>
              <a:schemeClr val="accent3"/>
            </a:solidFill>
            <a:ln>
              <a:noFill/>
            </a:ln>
          </p:spPr>
          <p:txBody>
            <a:bodyPr anchorCtr="0" anchor="ctr" bIns="231925" lIns="231925" spcFirstLastPara="1" rIns="231925" wrap="square" tIns="231925">
              <a:noAutofit/>
            </a:bodyPr>
            <a:lstStyle/>
            <a:p>
              <a:pPr indent="0" lvl="0" marL="0" rtl="0" algn="l">
                <a:spcBef>
                  <a:spcPts val="0"/>
                </a:spcBef>
                <a:spcAft>
                  <a:spcPts val="0"/>
                </a:spcAft>
                <a:buNone/>
              </a:pPr>
              <a:r>
                <a:t/>
              </a:r>
              <a:endParaRPr/>
            </a:p>
          </p:txBody>
        </p:sp>
      </p:grpSp>
      <p:grpSp>
        <p:nvGrpSpPr>
          <p:cNvPr id="476" name="Google Shape;476;p36"/>
          <p:cNvGrpSpPr/>
          <p:nvPr/>
        </p:nvGrpSpPr>
        <p:grpSpPr>
          <a:xfrm>
            <a:off x="664596" y="1231079"/>
            <a:ext cx="375494" cy="373228"/>
            <a:chOff x="736871" y="3910954"/>
            <a:chExt cx="375494" cy="373228"/>
          </a:xfrm>
        </p:grpSpPr>
        <p:sp>
          <p:nvSpPr>
            <p:cNvPr id="477" name="Google Shape;477;p36"/>
            <p:cNvSpPr/>
            <p:nvPr/>
          </p:nvSpPr>
          <p:spPr>
            <a:xfrm>
              <a:off x="781841" y="3965884"/>
              <a:ext cx="285553" cy="263196"/>
            </a:xfrm>
            <a:custGeom>
              <a:rect b="b" l="l" r="r" t="t"/>
              <a:pathLst>
                <a:path extrusionOk="0" h="6157" w="6680">
                  <a:moveTo>
                    <a:pt x="3974" y="257"/>
                  </a:moveTo>
                  <a:cubicBezTo>
                    <a:pt x="4009" y="257"/>
                    <a:pt x="4045" y="260"/>
                    <a:pt x="4081" y="268"/>
                  </a:cubicBezTo>
                  <a:cubicBezTo>
                    <a:pt x="4327" y="319"/>
                    <a:pt x="4482" y="480"/>
                    <a:pt x="4567" y="605"/>
                  </a:cubicBezTo>
                  <a:cubicBezTo>
                    <a:pt x="4657" y="736"/>
                    <a:pt x="4799" y="816"/>
                    <a:pt x="4960" y="826"/>
                  </a:cubicBezTo>
                  <a:cubicBezTo>
                    <a:pt x="5258" y="842"/>
                    <a:pt x="5450" y="1037"/>
                    <a:pt x="5491" y="1293"/>
                  </a:cubicBezTo>
                  <a:cubicBezTo>
                    <a:pt x="5517" y="1448"/>
                    <a:pt x="5607" y="1580"/>
                    <a:pt x="5743" y="1655"/>
                  </a:cubicBezTo>
                  <a:cubicBezTo>
                    <a:pt x="5965" y="1779"/>
                    <a:pt x="6056" y="1989"/>
                    <a:pt x="6026" y="2205"/>
                  </a:cubicBezTo>
                  <a:cubicBezTo>
                    <a:pt x="6006" y="2361"/>
                    <a:pt x="6059" y="2515"/>
                    <a:pt x="6173" y="2630"/>
                  </a:cubicBezTo>
                  <a:cubicBezTo>
                    <a:pt x="6410" y="2869"/>
                    <a:pt x="6410" y="3290"/>
                    <a:pt x="6173" y="3530"/>
                  </a:cubicBezTo>
                  <a:cubicBezTo>
                    <a:pt x="6060" y="3645"/>
                    <a:pt x="6007" y="3801"/>
                    <a:pt x="6026" y="3955"/>
                  </a:cubicBezTo>
                  <a:cubicBezTo>
                    <a:pt x="6056" y="4173"/>
                    <a:pt x="5965" y="4381"/>
                    <a:pt x="5743" y="4505"/>
                  </a:cubicBezTo>
                  <a:cubicBezTo>
                    <a:pt x="5607" y="4580"/>
                    <a:pt x="5517" y="4711"/>
                    <a:pt x="5491" y="4867"/>
                  </a:cubicBezTo>
                  <a:cubicBezTo>
                    <a:pt x="5450" y="5123"/>
                    <a:pt x="5257" y="5318"/>
                    <a:pt x="4960" y="5334"/>
                  </a:cubicBezTo>
                  <a:cubicBezTo>
                    <a:pt x="4800" y="5343"/>
                    <a:pt x="4657" y="5423"/>
                    <a:pt x="4567" y="5555"/>
                  </a:cubicBezTo>
                  <a:cubicBezTo>
                    <a:pt x="4426" y="5763"/>
                    <a:pt x="4196" y="5904"/>
                    <a:pt x="3974" y="5904"/>
                  </a:cubicBezTo>
                  <a:cubicBezTo>
                    <a:pt x="3865" y="5904"/>
                    <a:pt x="3758" y="5870"/>
                    <a:pt x="3664" y="5793"/>
                  </a:cubicBezTo>
                  <a:cubicBezTo>
                    <a:pt x="3461" y="5629"/>
                    <a:pt x="3476" y="5429"/>
                    <a:pt x="3476" y="5266"/>
                  </a:cubicBezTo>
                  <a:cubicBezTo>
                    <a:pt x="3476" y="5205"/>
                    <a:pt x="3435" y="5150"/>
                    <a:pt x="3376" y="5137"/>
                  </a:cubicBezTo>
                  <a:cubicBezTo>
                    <a:pt x="3367" y="5135"/>
                    <a:pt x="3358" y="5134"/>
                    <a:pt x="3349" y="5134"/>
                  </a:cubicBezTo>
                  <a:cubicBezTo>
                    <a:pt x="3278" y="5134"/>
                    <a:pt x="3221" y="5192"/>
                    <a:pt x="3221" y="5262"/>
                  </a:cubicBezTo>
                  <a:cubicBezTo>
                    <a:pt x="3221" y="5423"/>
                    <a:pt x="3239" y="5626"/>
                    <a:pt x="3033" y="5793"/>
                  </a:cubicBezTo>
                  <a:cubicBezTo>
                    <a:pt x="2939" y="5870"/>
                    <a:pt x="2832" y="5904"/>
                    <a:pt x="2723" y="5904"/>
                  </a:cubicBezTo>
                  <a:cubicBezTo>
                    <a:pt x="2500" y="5904"/>
                    <a:pt x="2271" y="5762"/>
                    <a:pt x="2130" y="5555"/>
                  </a:cubicBezTo>
                  <a:cubicBezTo>
                    <a:pt x="2040" y="5424"/>
                    <a:pt x="1898" y="5344"/>
                    <a:pt x="1736" y="5334"/>
                  </a:cubicBezTo>
                  <a:cubicBezTo>
                    <a:pt x="1440" y="5318"/>
                    <a:pt x="1248" y="5122"/>
                    <a:pt x="1206" y="4867"/>
                  </a:cubicBezTo>
                  <a:cubicBezTo>
                    <a:pt x="1180" y="4712"/>
                    <a:pt x="1090" y="4580"/>
                    <a:pt x="955" y="4505"/>
                  </a:cubicBezTo>
                  <a:cubicBezTo>
                    <a:pt x="732" y="4381"/>
                    <a:pt x="641" y="4171"/>
                    <a:pt x="670" y="3955"/>
                  </a:cubicBezTo>
                  <a:cubicBezTo>
                    <a:pt x="691" y="3799"/>
                    <a:pt x="638" y="3645"/>
                    <a:pt x="523" y="3530"/>
                  </a:cubicBezTo>
                  <a:cubicBezTo>
                    <a:pt x="286" y="3290"/>
                    <a:pt x="286" y="2869"/>
                    <a:pt x="523" y="2630"/>
                  </a:cubicBezTo>
                  <a:cubicBezTo>
                    <a:pt x="637" y="2515"/>
                    <a:pt x="690" y="2359"/>
                    <a:pt x="670" y="2205"/>
                  </a:cubicBezTo>
                  <a:cubicBezTo>
                    <a:pt x="641" y="1987"/>
                    <a:pt x="732" y="1779"/>
                    <a:pt x="955" y="1655"/>
                  </a:cubicBezTo>
                  <a:cubicBezTo>
                    <a:pt x="1090" y="1580"/>
                    <a:pt x="1180" y="1449"/>
                    <a:pt x="1206" y="1293"/>
                  </a:cubicBezTo>
                  <a:cubicBezTo>
                    <a:pt x="1246" y="1037"/>
                    <a:pt x="1440" y="842"/>
                    <a:pt x="1736" y="826"/>
                  </a:cubicBezTo>
                  <a:cubicBezTo>
                    <a:pt x="1897" y="817"/>
                    <a:pt x="2040" y="737"/>
                    <a:pt x="2130" y="605"/>
                  </a:cubicBezTo>
                  <a:cubicBezTo>
                    <a:pt x="2215" y="479"/>
                    <a:pt x="2369" y="317"/>
                    <a:pt x="2616" y="268"/>
                  </a:cubicBezTo>
                  <a:cubicBezTo>
                    <a:pt x="2652" y="260"/>
                    <a:pt x="2688" y="257"/>
                    <a:pt x="2722" y="257"/>
                  </a:cubicBezTo>
                  <a:cubicBezTo>
                    <a:pt x="3002" y="257"/>
                    <a:pt x="3221" y="488"/>
                    <a:pt x="3221" y="763"/>
                  </a:cubicBezTo>
                  <a:lnTo>
                    <a:pt x="3221" y="4745"/>
                  </a:lnTo>
                  <a:cubicBezTo>
                    <a:pt x="3221" y="4811"/>
                    <a:pt x="3268" y="4869"/>
                    <a:pt x="3333" y="4877"/>
                  </a:cubicBezTo>
                  <a:cubicBezTo>
                    <a:pt x="3338" y="4878"/>
                    <a:pt x="3343" y="4878"/>
                    <a:pt x="3347" y="4878"/>
                  </a:cubicBezTo>
                  <a:cubicBezTo>
                    <a:pt x="3419" y="4878"/>
                    <a:pt x="3476" y="4821"/>
                    <a:pt x="3476" y="4751"/>
                  </a:cubicBezTo>
                  <a:lnTo>
                    <a:pt x="3476" y="763"/>
                  </a:lnTo>
                  <a:cubicBezTo>
                    <a:pt x="3476" y="488"/>
                    <a:pt x="3694" y="257"/>
                    <a:pt x="3974" y="257"/>
                  </a:cubicBezTo>
                  <a:close/>
                  <a:moveTo>
                    <a:pt x="3969" y="1"/>
                  </a:moveTo>
                  <a:cubicBezTo>
                    <a:pt x="3724" y="1"/>
                    <a:pt x="3491" y="112"/>
                    <a:pt x="3340" y="337"/>
                  </a:cubicBezTo>
                  <a:cubicBezTo>
                    <a:pt x="3190" y="112"/>
                    <a:pt x="2957" y="1"/>
                    <a:pt x="2713" y="1"/>
                  </a:cubicBezTo>
                  <a:cubicBezTo>
                    <a:pt x="2424" y="1"/>
                    <a:pt x="2118" y="155"/>
                    <a:pt x="1909" y="460"/>
                  </a:cubicBezTo>
                  <a:cubicBezTo>
                    <a:pt x="1864" y="525"/>
                    <a:pt x="1793" y="564"/>
                    <a:pt x="1714" y="568"/>
                  </a:cubicBezTo>
                  <a:cubicBezTo>
                    <a:pt x="1295" y="591"/>
                    <a:pt x="1005" y="879"/>
                    <a:pt x="944" y="1251"/>
                  </a:cubicBezTo>
                  <a:cubicBezTo>
                    <a:pt x="932" y="1328"/>
                    <a:pt x="887" y="1393"/>
                    <a:pt x="823" y="1429"/>
                  </a:cubicBezTo>
                  <a:cubicBezTo>
                    <a:pt x="509" y="1603"/>
                    <a:pt x="365" y="1915"/>
                    <a:pt x="408" y="2238"/>
                  </a:cubicBezTo>
                  <a:cubicBezTo>
                    <a:pt x="419" y="2315"/>
                    <a:pt x="391" y="2390"/>
                    <a:pt x="334" y="2449"/>
                  </a:cubicBezTo>
                  <a:cubicBezTo>
                    <a:pt x="1" y="2786"/>
                    <a:pt x="1" y="3371"/>
                    <a:pt x="334" y="3708"/>
                  </a:cubicBezTo>
                  <a:cubicBezTo>
                    <a:pt x="393" y="3766"/>
                    <a:pt x="420" y="3843"/>
                    <a:pt x="408" y="3919"/>
                  </a:cubicBezTo>
                  <a:cubicBezTo>
                    <a:pt x="365" y="4242"/>
                    <a:pt x="508" y="4553"/>
                    <a:pt x="823" y="4727"/>
                  </a:cubicBezTo>
                  <a:cubicBezTo>
                    <a:pt x="887" y="4763"/>
                    <a:pt x="932" y="4830"/>
                    <a:pt x="944" y="4906"/>
                  </a:cubicBezTo>
                  <a:cubicBezTo>
                    <a:pt x="1003" y="5279"/>
                    <a:pt x="1293" y="5568"/>
                    <a:pt x="1714" y="5588"/>
                  </a:cubicBezTo>
                  <a:cubicBezTo>
                    <a:pt x="1793" y="5593"/>
                    <a:pt x="1865" y="5633"/>
                    <a:pt x="1909" y="5697"/>
                  </a:cubicBezTo>
                  <a:cubicBezTo>
                    <a:pt x="2118" y="6001"/>
                    <a:pt x="2424" y="6157"/>
                    <a:pt x="2713" y="6157"/>
                  </a:cubicBezTo>
                  <a:cubicBezTo>
                    <a:pt x="2958" y="6157"/>
                    <a:pt x="3190" y="6046"/>
                    <a:pt x="3340" y="5819"/>
                  </a:cubicBezTo>
                  <a:cubicBezTo>
                    <a:pt x="3490" y="6045"/>
                    <a:pt x="3723" y="6156"/>
                    <a:pt x="3968" y="6156"/>
                  </a:cubicBezTo>
                  <a:cubicBezTo>
                    <a:pt x="4257" y="6156"/>
                    <a:pt x="4563" y="6002"/>
                    <a:pt x="4772" y="5697"/>
                  </a:cubicBezTo>
                  <a:cubicBezTo>
                    <a:pt x="4816" y="5633"/>
                    <a:pt x="4888" y="5593"/>
                    <a:pt x="4967" y="5588"/>
                  </a:cubicBezTo>
                  <a:cubicBezTo>
                    <a:pt x="5386" y="5566"/>
                    <a:pt x="5676" y="5279"/>
                    <a:pt x="5737" y="4906"/>
                  </a:cubicBezTo>
                  <a:cubicBezTo>
                    <a:pt x="5749" y="4830"/>
                    <a:pt x="5793" y="4763"/>
                    <a:pt x="5859" y="4727"/>
                  </a:cubicBezTo>
                  <a:cubicBezTo>
                    <a:pt x="6172" y="4553"/>
                    <a:pt x="6315" y="4242"/>
                    <a:pt x="6272" y="3919"/>
                  </a:cubicBezTo>
                  <a:cubicBezTo>
                    <a:pt x="6262" y="3843"/>
                    <a:pt x="6289" y="3766"/>
                    <a:pt x="6346" y="3708"/>
                  </a:cubicBezTo>
                  <a:cubicBezTo>
                    <a:pt x="6679" y="3371"/>
                    <a:pt x="6679" y="2786"/>
                    <a:pt x="6346" y="2449"/>
                  </a:cubicBezTo>
                  <a:cubicBezTo>
                    <a:pt x="6288" y="2390"/>
                    <a:pt x="6262" y="2315"/>
                    <a:pt x="6272" y="2238"/>
                  </a:cubicBezTo>
                  <a:cubicBezTo>
                    <a:pt x="6315" y="1915"/>
                    <a:pt x="6172" y="1603"/>
                    <a:pt x="5859" y="1429"/>
                  </a:cubicBezTo>
                  <a:cubicBezTo>
                    <a:pt x="5793" y="1393"/>
                    <a:pt x="5749" y="1328"/>
                    <a:pt x="5737" y="1251"/>
                  </a:cubicBezTo>
                  <a:cubicBezTo>
                    <a:pt x="5677" y="879"/>
                    <a:pt x="5387" y="589"/>
                    <a:pt x="4967" y="568"/>
                  </a:cubicBezTo>
                  <a:cubicBezTo>
                    <a:pt x="4888" y="564"/>
                    <a:pt x="4816" y="525"/>
                    <a:pt x="4772" y="460"/>
                  </a:cubicBezTo>
                  <a:cubicBezTo>
                    <a:pt x="4564" y="156"/>
                    <a:pt x="4258" y="1"/>
                    <a:pt x="39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6"/>
            <p:cNvSpPr/>
            <p:nvPr/>
          </p:nvSpPr>
          <p:spPr>
            <a:xfrm>
              <a:off x="852631" y="4115030"/>
              <a:ext cx="54546" cy="75791"/>
            </a:xfrm>
            <a:custGeom>
              <a:rect b="b" l="l" r="r" t="t"/>
              <a:pathLst>
                <a:path extrusionOk="0" h="1773" w="1276">
                  <a:moveTo>
                    <a:pt x="408" y="1"/>
                  </a:moveTo>
                  <a:cubicBezTo>
                    <a:pt x="292" y="1"/>
                    <a:pt x="172" y="38"/>
                    <a:pt x="67" y="119"/>
                  </a:cubicBezTo>
                  <a:cubicBezTo>
                    <a:pt x="11" y="162"/>
                    <a:pt x="0" y="242"/>
                    <a:pt x="44" y="298"/>
                  </a:cubicBezTo>
                  <a:cubicBezTo>
                    <a:pt x="69" y="331"/>
                    <a:pt x="107" y="348"/>
                    <a:pt x="145" y="348"/>
                  </a:cubicBezTo>
                  <a:cubicBezTo>
                    <a:pt x="172" y="348"/>
                    <a:pt x="200" y="339"/>
                    <a:pt x="223" y="321"/>
                  </a:cubicBezTo>
                  <a:cubicBezTo>
                    <a:pt x="279" y="278"/>
                    <a:pt x="343" y="255"/>
                    <a:pt x="408" y="255"/>
                  </a:cubicBezTo>
                  <a:cubicBezTo>
                    <a:pt x="428" y="255"/>
                    <a:pt x="449" y="257"/>
                    <a:pt x="469" y="261"/>
                  </a:cubicBezTo>
                  <a:cubicBezTo>
                    <a:pt x="688" y="308"/>
                    <a:pt x="735" y="560"/>
                    <a:pt x="609" y="736"/>
                  </a:cubicBezTo>
                  <a:cubicBezTo>
                    <a:pt x="305" y="975"/>
                    <a:pt x="366" y="1562"/>
                    <a:pt x="891" y="1764"/>
                  </a:cubicBezTo>
                  <a:cubicBezTo>
                    <a:pt x="906" y="1770"/>
                    <a:pt x="922" y="1773"/>
                    <a:pt x="937" y="1773"/>
                  </a:cubicBezTo>
                  <a:cubicBezTo>
                    <a:pt x="988" y="1773"/>
                    <a:pt x="1036" y="1742"/>
                    <a:pt x="1055" y="1691"/>
                  </a:cubicBezTo>
                  <a:cubicBezTo>
                    <a:pt x="1081" y="1626"/>
                    <a:pt x="1049" y="1552"/>
                    <a:pt x="983" y="1527"/>
                  </a:cubicBezTo>
                  <a:cubicBezTo>
                    <a:pt x="769" y="1443"/>
                    <a:pt x="687" y="1280"/>
                    <a:pt x="682" y="1153"/>
                  </a:cubicBezTo>
                  <a:cubicBezTo>
                    <a:pt x="675" y="985"/>
                    <a:pt x="784" y="897"/>
                    <a:pt x="885" y="897"/>
                  </a:cubicBezTo>
                  <a:cubicBezTo>
                    <a:pt x="938" y="897"/>
                    <a:pt x="989" y="922"/>
                    <a:pt x="1018" y="974"/>
                  </a:cubicBezTo>
                  <a:cubicBezTo>
                    <a:pt x="1041" y="1016"/>
                    <a:pt x="1084" y="1039"/>
                    <a:pt x="1129" y="1039"/>
                  </a:cubicBezTo>
                  <a:cubicBezTo>
                    <a:pt x="1150" y="1039"/>
                    <a:pt x="1172" y="1034"/>
                    <a:pt x="1192" y="1022"/>
                  </a:cubicBezTo>
                  <a:cubicBezTo>
                    <a:pt x="1255" y="988"/>
                    <a:pt x="1276" y="910"/>
                    <a:pt x="1241" y="848"/>
                  </a:cubicBezTo>
                  <a:cubicBezTo>
                    <a:pt x="1171" y="726"/>
                    <a:pt x="1053" y="655"/>
                    <a:pt x="922" y="642"/>
                  </a:cubicBezTo>
                  <a:cubicBezTo>
                    <a:pt x="997" y="262"/>
                    <a:pt x="716" y="1"/>
                    <a:pt x="4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6"/>
            <p:cNvSpPr/>
            <p:nvPr/>
          </p:nvSpPr>
          <p:spPr>
            <a:xfrm>
              <a:off x="942187" y="4114988"/>
              <a:ext cx="54546" cy="75877"/>
            </a:xfrm>
            <a:custGeom>
              <a:rect b="b" l="l" r="r" t="t"/>
              <a:pathLst>
                <a:path extrusionOk="0" h="1775" w="1276">
                  <a:moveTo>
                    <a:pt x="868" y="0"/>
                  </a:moveTo>
                  <a:cubicBezTo>
                    <a:pt x="559" y="0"/>
                    <a:pt x="280" y="269"/>
                    <a:pt x="353" y="643"/>
                  </a:cubicBezTo>
                  <a:cubicBezTo>
                    <a:pt x="222" y="656"/>
                    <a:pt x="103" y="728"/>
                    <a:pt x="35" y="849"/>
                  </a:cubicBezTo>
                  <a:cubicBezTo>
                    <a:pt x="1" y="911"/>
                    <a:pt x="22" y="989"/>
                    <a:pt x="84" y="1023"/>
                  </a:cubicBezTo>
                  <a:cubicBezTo>
                    <a:pt x="104" y="1035"/>
                    <a:pt x="126" y="1040"/>
                    <a:pt x="148" y="1040"/>
                  </a:cubicBezTo>
                  <a:cubicBezTo>
                    <a:pt x="192" y="1040"/>
                    <a:pt x="235" y="1017"/>
                    <a:pt x="258" y="975"/>
                  </a:cubicBezTo>
                  <a:cubicBezTo>
                    <a:pt x="288" y="923"/>
                    <a:pt x="339" y="898"/>
                    <a:pt x="392" y="898"/>
                  </a:cubicBezTo>
                  <a:cubicBezTo>
                    <a:pt x="493" y="898"/>
                    <a:pt x="601" y="986"/>
                    <a:pt x="595" y="1154"/>
                  </a:cubicBezTo>
                  <a:cubicBezTo>
                    <a:pt x="589" y="1281"/>
                    <a:pt x="507" y="1444"/>
                    <a:pt x="294" y="1528"/>
                  </a:cubicBezTo>
                  <a:cubicBezTo>
                    <a:pt x="227" y="1553"/>
                    <a:pt x="195" y="1627"/>
                    <a:pt x="221" y="1692"/>
                  </a:cubicBezTo>
                  <a:cubicBezTo>
                    <a:pt x="241" y="1743"/>
                    <a:pt x="289" y="1774"/>
                    <a:pt x="339" y="1774"/>
                  </a:cubicBezTo>
                  <a:cubicBezTo>
                    <a:pt x="355" y="1774"/>
                    <a:pt x="371" y="1771"/>
                    <a:pt x="386" y="1765"/>
                  </a:cubicBezTo>
                  <a:cubicBezTo>
                    <a:pt x="910" y="1561"/>
                    <a:pt x="971" y="976"/>
                    <a:pt x="667" y="737"/>
                  </a:cubicBezTo>
                  <a:cubicBezTo>
                    <a:pt x="541" y="562"/>
                    <a:pt x="588" y="310"/>
                    <a:pt x="808" y="262"/>
                  </a:cubicBezTo>
                  <a:cubicBezTo>
                    <a:pt x="828" y="258"/>
                    <a:pt x="848" y="256"/>
                    <a:pt x="868" y="256"/>
                  </a:cubicBezTo>
                  <a:cubicBezTo>
                    <a:pt x="934" y="256"/>
                    <a:pt x="998" y="279"/>
                    <a:pt x="1054" y="322"/>
                  </a:cubicBezTo>
                  <a:cubicBezTo>
                    <a:pt x="1077" y="340"/>
                    <a:pt x="1104" y="349"/>
                    <a:pt x="1132" y="349"/>
                  </a:cubicBezTo>
                  <a:cubicBezTo>
                    <a:pt x="1170" y="349"/>
                    <a:pt x="1208" y="332"/>
                    <a:pt x="1233" y="299"/>
                  </a:cubicBezTo>
                  <a:cubicBezTo>
                    <a:pt x="1275" y="245"/>
                    <a:pt x="1265" y="163"/>
                    <a:pt x="1209" y="120"/>
                  </a:cubicBezTo>
                  <a:cubicBezTo>
                    <a:pt x="1102" y="37"/>
                    <a:pt x="983" y="0"/>
                    <a:pt x="86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6"/>
            <p:cNvSpPr/>
            <p:nvPr/>
          </p:nvSpPr>
          <p:spPr>
            <a:xfrm>
              <a:off x="835660" y="4018079"/>
              <a:ext cx="68396" cy="64848"/>
            </a:xfrm>
            <a:custGeom>
              <a:rect b="b" l="l" r="r" t="t"/>
              <a:pathLst>
                <a:path extrusionOk="0" h="1517" w="1600">
                  <a:moveTo>
                    <a:pt x="1057" y="1"/>
                  </a:moveTo>
                  <a:cubicBezTo>
                    <a:pt x="983" y="1"/>
                    <a:pt x="909" y="18"/>
                    <a:pt x="840" y="55"/>
                  </a:cubicBezTo>
                  <a:cubicBezTo>
                    <a:pt x="778" y="90"/>
                    <a:pt x="756" y="167"/>
                    <a:pt x="790" y="229"/>
                  </a:cubicBezTo>
                  <a:cubicBezTo>
                    <a:pt x="814" y="272"/>
                    <a:pt x="858" y="296"/>
                    <a:pt x="903" y="296"/>
                  </a:cubicBezTo>
                  <a:cubicBezTo>
                    <a:pt x="924" y="296"/>
                    <a:pt x="945" y="291"/>
                    <a:pt x="965" y="280"/>
                  </a:cubicBezTo>
                  <a:cubicBezTo>
                    <a:pt x="994" y="264"/>
                    <a:pt x="1026" y="256"/>
                    <a:pt x="1060" y="256"/>
                  </a:cubicBezTo>
                  <a:cubicBezTo>
                    <a:pt x="1175" y="256"/>
                    <a:pt x="1299" y="346"/>
                    <a:pt x="1311" y="489"/>
                  </a:cubicBezTo>
                  <a:cubicBezTo>
                    <a:pt x="1329" y="683"/>
                    <a:pt x="1186" y="853"/>
                    <a:pt x="993" y="870"/>
                  </a:cubicBezTo>
                  <a:cubicBezTo>
                    <a:pt x="979" y="871"/>
                    <a:pt x="965" y="872"/>
                    <a:pt x="951" y="872"/>
                  </a:cubicBezTo>
                  <a:cubicBezTo>
                    <a:pt x="710" y="872"/>
                    <a:pt x="505" y="688"/>
                    <a:pt x="483" y="444"/>
                  </a:cubicBezTo>
                  <a:cubicBezTo>
                    <a:pt x="477" y="377"/>
                    <a:pt x="422" y="327"/>
                    <a:pt x="358" y="327"/>
                  </a:cubicBezTo>
                  <a:cubicBezTo>
                    <a:pt x="353" y="327"/>
                    <a:pt x="349" y="327"/>
                    <a:pt x="345" y="328"/>
                  </a:cubicBezTo>
                  <a:cubicBezTo>
                    <a:pt x="275" y="334"/>
                    <a:pt x="222" y="396"/>
                    <a:pt x="228" y="466"/>
                  </a:cubicBezTo>
                  <a:cubicBezTo>
                    <a:pt x="239" y="589"/>
                    <a:pt x="281" y="703"/>
                    <a:pt x="346" y="800"/>
                  </a:cubicBezTo>
                  <a:cubicBezTo>
                    <a:pt x="98" y="910"/>
                    <a:pt x="1" y="1177"/>
                    <a:pt x="66" y="1422"/>
                  </a:cubicBezTo>
                  <a:cubicBezTo>
                    <a:pt x="82" y="1479"/>
                    <a:pt x="133" y="1516"/>
                    <a:pt x="189" y="1516"/>
                  </a:cubicBezTo>
                  <a:cubicBezTo>
                    <a:pt x="200" y="1516"/>
                    <a:pt x="212" y="1515"/>
                    <a:pt x="223" y="1511"/>
                  </a:cubicBezTo>
                  <a:cubicBezTo>
                    <a:pt x="292" y="1493"/>
                    <a:pt x="332" y="1423"/>
                    <a:pt x="313" y="1354"/>
                  </a:cubicBezTo>
                  <a:cubicBezTo>
                    <a:pt x="264" y="1182"/>
                    <a:pt x="363" y="1019"/>
                    <a:pt x="556" y="1011"/>
                  </a:cubicBezTo>
                  <a:cubicBezTo>
                    <a:pt x="681" y="1093"/>
                    <a:pt x="815" y="1129"/>
                    <a:pt x="942" y="1129"/>
                  </a:cubicBezTo>
                  <a:cubicBezTo>
                    <a:pt x="1294" y="1129"/>
                    <a:pt x="1600" y="851"/>
                    <a:pt x="1566" y="467"/>
                  </a:cubicBezTo>
                  <a:cubicBezTo>
                    <a:pt x="1540" y="188"/>
                    <a:pt x="1300" y="1"/>
                    <a:pt x="10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6"/>
            <p:cNvSpPr/>
            <p:nvPr/>
          </p:nvSpPr>
          <p:spPr>
            <a:xfrm>
              <a:off x="945222" y="4018122"/>
              <a:ext cx="68610" cy="64848"/>
            </a:xfrm>
            <a:custGeom>
              <a:rect b="b" l="l" r="r" t="t"/>
              <a:pathLst>
                <a:path extrusionOk="0" h="1517" w="1605">
                  <a:moveTo>
                    <a:pt x="544" y="0"/>
                  </a:moveTo>
                  <a:cubicBezTo>
                    <a:pt x="302" y="0"/>
                    <a:pt x="61" y="186"/>
                    <a:pt x="35" y="467"/>
                  </a:cubicBezTo>
                  <a:cubicBezTo>
                    <a:pt x="0" y="852"/>
                    <a:pt x="306" y="1130"/>
                    <a:pt x="659" y="1130"/>
                  </a:cubicBezTo>
                  <a:cubicBezTo>
                    <a:pt x="786" y="1130"/>
                    <a:pt x="920" y="1094"/>
                    <a:pt x="1046" y="1012"/>
                  </a:cubicBezTo>
                  <a:cubicBezTo>
                    <a:pt x="1238" y="1019"/>
                    <a:pt x="1337" y="1181"/>
                    <a:pt x="1290" y="1356"/>
                  </a:cubicBezTo>
                  <a:cubicBezTo>
                    <a:pt x="1267" y="1438"/>
                    <a:pt x="1330" y="1517"/>
                    <a:pt x="1414" y="1517"/>
                  </a:cubicBezTo>
                  <a:cubicBezTo>
                    <a:pt x="1470" y="1517"/>
                    <a:pt x="1522" y="1480"/>
                    <a:pt x="1538" y="1422"/>
                  </a:cubicBezTo>
                  <a:cubicBezTo>
                    <a:pt x="1604" y="1178"/>
                    <a:pt x="1509" y="910"/>
                    <a:pt x="1258" y="801"/>
                  </a:cubicBezTo>
                  <a:cubicBezTo>
                    <a:pt x="1322" y="703"/>
                    <a:pt x="1363" y="590"/>
                    <a:pt x="1375" y="466"/>
                  </a:cubicBezTo>
                  <a:cubicBezTo>
                    <a:pt x="1382" y="396"/>
                    <a:pt x="1330" y="334"/>
                    <a:pt x="1259" y="328"/>
                  </a:cubicBezTo>
                  <a:cubicBezTo>
                    <a:pt x="1255" y="327"/>
                    <a:pt x="1251" y="327"/>
                    <a:pt x="1248" y="327"/>
                  </a:cubicBezTo>
                  <a:cubicBezTo>
                    <a:pt x="1183" y="327"/>
                    <a:pt x="1127" y="378"/>
                    <a:pt x="1121" y="444"/>
                  </a:cubicBezTo>
                  <a:cubicBezTo>
                    <a:pt x="1097" y="688"/>
                    <a:pt x="891" y="873"/>
                    <a:pt x="649" y="873"/>
                  </a:cubicBezTo>
                  <a:cubicBezTo>
                    <a:pt x="635" y="873"/>
                    <a:pt x="622" y="872"/>
                    <a:pt x="608" y="871"/>
                  </a:cubicBezTo>
                  <a:cubicBezTo>
                    <a:pt x="414" y="854"/>
                    <a:pt x="273" y="683"/>
                    <a:pt x="290" y="490"/>
                  </a:cubicBezTo>
                  <a:cubicBezTo>
                    <a:pt x="303" y="348"/>
                    <a:pt x="428" y="257"/>
                    <a:pt x="543" y="257"/>
                  </a:cubicBezTo>
                  <a:cubicBezTo>
                    <a:pt x="576" y="257"/>
                    <a:pt x="608" y="264"/>
                    <a:pt x="637" y="280"/>
                  </a:cubicBezTo>
                  <a:cubicBezTo>
                    <a:pt x="656" y="291"/>
                    <a:pt x="677" y="296"/>
                    <a:pt x="698" y="296"/>
                  </a:cubicBezTo>
                  <a:cubicBezTo>
                    <a:pt x="744" y="296"/>
                    <a:pt x="788" y="272"/>
                    <a:pt x="811" y="229"/>
                  </a:cubicBezTo>
                  <a:cubicBezTo>
                    <a:pt x="845" y="168"/>
                    <a:pt x="823" y="90"/>
                    <a:pt x="761" y="55"/>
                  </a:cubicBezTo>
                  <a:cubicBezTo>
                    <a:pt x="693" y="18"/>
                    <a:pt x="618" y="0"/>
                    <a:pt x="5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6"/>
            <p:cNvSpPr/>
            <p:nvPr/>
          </p:nvSpPr>
          <p:spPr>
            <a:xfrm>
              <a:off x="736871" y="3910954"/>
              <a:ext cx="375494" cy="373228"/>
            </a:xfrm>
            <a:custGeom>
              <a:rect b="b" l="l" r="r" t="t"/>
              <a:pathLst>
                <a:path extrusionOk="0" h="8731" w="8784">
                  <a:moveTo>
                    <a:pt x="4402" y="1"/>
                  </a:moveTo>
                  <a:cubicBezTo>
                    <a:pt x="3668" y="1"/>
                    <a:pt x="2935" y="13"/>
                    <a:pt x="2206" y="38"/>
                  </a:cubicBezTo>
                  <a:cubicBezTo>
                    <a:pt x="2134" y="40"/>
                    <a:pt x="2080" y="99"/>
                    <a:pt x="2082" y="169"/>
                  </a:cubicBezTo>
                  <a:cubicBezTo>
                    <a:pt x="2085" y="238"/>
                    <a:pt x="2140" y="293"/>
                    <a:pt x="2208" y="293"/>
                  </a:cubicBezTo>
                  <a:cubicBezTo>
                    <a:pt x="2210" y="293"/>
                    <a:pt x="2212" y="293"/>
                    <a:pt x="2213" y="293"/>
                  </a:cubicBezTo>
                  <a:cubicBezTo>
                    <a:pt x="2931" y="269"/>
                    <a:pt x="3652" y="257"/>
                    <a:pt x="4374" y="257"/>
                  </a:cubicBezTo>
                  <a:cubicBezTo>
                    <a:pt x="5442" y="257"/>
                    <a:pt x="6511" y="283"/>
                    <a:pt x="7571" y="334"/>
                  </a:cubicBezTo>
                  <a:cubicBezTo>
                    <a:pt x="8034" y="356"/>
                    <a:pt x="8400" y="723"/>
                    <a:pt x="8423" y="1186"/>
                  </a:cubicBezTo>
                  <a:cubicBezTo>
                    <a:pt x="8526" y="3296"/>
                    <a:pt x="8526" y="5435"/>
                    <a:pt x="8423" y="7544"/>
                  </a:cubicBezTo>
                  <a:cubicBezTo>
                    <a:pt x="8400" y="8007"/>
                    <a:pt x="8034" y="8374"/>
                    <a:pt x="7571" y="8396"/>
                  </a:cubicBezTo>
                  <a:cubicBezTo>
                    <a:pt x="6516" y="8448"/>
                    <a:pt x="5454" y="8473"/>
                    <a:pt x="4391" y="8473"/>
                  </a:cubicBezTo>
                  <a:cubicBezTo>
                    <a:pt x="3329" y="8473"/>
                    <a:pt x="2267" y="8448"/>
                    <a:pt x="1213" y="8396"/>
                  </a:cubicBezTo>
                  <a:cubicBezTo>
                    <a:pt x="750" y="8374"/>
                    <a:pt x="383" y="8007"/>
                    <a:pt x="361" y="7544"/>
                  </a:cubicBezTo>
                  <a:cubicBezTo>
                    <a:pt x="258" y="5434"/>
                    <a:pt x="258" y="3295"/>
                    <a:pt x="361" y="1186"/>
                  </a:cubicBezTo>
                  <a:cubicBezTo>
                    <a:pt x="383" y="723"/>
                    <a:pt x="750" y="356"/>
                    <a:pt x="1213" y="334"/>
                  </a:cubicBezTo>
                  <a:cubicBezTo>
                    <a:pt x="1378" y="326"/>
                    <a:pt x="1541" y="318"/>
                    <a:pt x="1701" y="312"/>
                  </a:cubicBezTo>
                  <a:cubicBezTo>
                    <a:pt x="1772" y="309"/>
                    <a:pt x="1826" y="250"/>
                    <a:pt x="1823" y="178"/>
                  </a:cubicBezTo>
                  <a:cubicBezTo>
                    <a:pt x="1821" y="109"/>
                    <a:pt x="1763" y="55"/>
                    <a:pt x="1696" y="55"/>
                  </a:cubicBezTo>
                  <a:cubicBezTo>
                    <a:pt x="1694" y="55"/>
                    <a:pt x="1692" y="55"/>
                    <a:pt x="1690" y="56"/>
                  </a:cubicBezTo>
                  <a:cubicBezTo>
                    <a:pt x="1530" y="62"/>
                    <a:pt x="1364" y="70"/>
                    <a:pt x="1200" y="78"/>
                  </a:cubicBezTo>
                  <a:cubicBezTo>
                    <a:pt x="603" y="107"/>
                    <a:pt x="133" y="578"/>
                    <a:pt x="103" y="1174"/>
                  </a:cubicBezTo>
                  <a:cubicBezTo>
                    <a:pt x="1" y="3292"/>
                    <a:pt x="1" y="5440"/>
                    <a:pt x="103" y="7557"/>
                  </a:cubicBezTo>
                  <a:cubicBezTo>
                    <a:pt x="133" y="8153"/>
                    <a:pt x="603" y="8624"/>
                    <a:pt x="1200" y="8653"/>
                  </a:cubicBezTo>
                  <a:cubicBezTo>
                    <a:pt x="2259" y="8704"/>
                    <a:pt x="3325" y="8730"/>
                    <a:pt x="4391" y="8730"/>
                  </a:cubicBezTo>
                  <a:cubicBezTo>
                    <a:pt x="5458" y="8730"/>
                    <a:pt x="6524" y="8704"/>
                    <a:pt x="7583" y="8653"/>
                  </a:cubicBezTo>
                  <a:cubicBezTo>
                    <a:pt x="8179" y="8624"/>
                    <a:pt x="8649" y="8153"/>
                    <a:pt x="8679" y="7557"/>
                  </a:cubicBezTo>
                  <a:cubicBezTo>
                    <a:pt x="8783" y="5440"/>
                    <a:pt x="8783" y="3292"/>
                    <a:pt x="8680" y="1174"/>
                  </a:cubicBezTo>
                  <a:cubicBezTo>
                    <a:pt x="8651" y="578"/>
                    <a:pt x="8180" y="107"/>
                    <a:pt x="7584" y="78"/>
                  </a:cubicBezTo>
                  <a:cubicBezTo>
                    <a:pt x="6529" y="27"/>
                    <a:pt x="5465" y="1"/>
                    <a:pt x="44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6"/>
            <p:cNvSpPr/>
            <p:nvPr/>
          </p:nvSpPr>
          <p:spPr>
            <a:xfrm>
              <a:off x="1006778" y="3944169"/>
              <a:ext cx="71816" cy="32787"/>
            </a:xfrm>
            <a:custGeom>
              <a:rect b="b" l="l" r="r" t="t"/>
              <a:pathLst>
                <a:path extrusionOk="0" h="767" w="1680">
                  <a:moveTo>
                    <a:pt x="1279" y="254"/>
                  </a:moveTo>
                  <a:cubicBezTo>
                    <a:pt x="1345" y="254"/>
                    <a:pt x="1404" y="302"/>
                    <a:pt x="1411" y="366"/>
                  </a:cubicBezTo>
                  <a:cubicBezTo>
                    <a:pt x="1422" y="444"/>
                    <a:pt x="1362" y="511"/>
                    <a:pt x="1284" y="511"/>
                  </a:cubicBezTo>
                  <a:lnTo>
                    <a:pt x="398" y="511"/>
                  </a:lnTo>
                  <a:cubicBezTo>
                    <a:pt x="333" y="511"/>
                    <a:pt x="274" y="463"/>
                    <a:pt x="266" y="398"/>
                  </a:cubicBezTo>
                  <a:cubicBezTo>
                    <a:pt x="257" y="321"/>
                    <a:pt x="318" y="254"/>
                    <a:pt x="393" y="254"/>
                  </a:cubicBezTo>
                  <a:close/>
                  <a:moveTo>
                    <a:pt x="401" y="0"/>
                  </a:moveTo>
                  <a:cubicBezTo>
                    <a:pt x="193" y="0"/>
                    <a:pt x="14" y="161"/>
                    <a:pt x="8" y="369"/>
                  </a:cubicBezTo>
                  <a:cubicBezTo>
                    <a:pt x="0" y="587"/>
                    <a:pt x="176" y="766"/>
                    <a:pt x="392" y="766"/>
                  </a:cubicBezTo>
                  <a:lnTo>
                    <a:pt x="1278" y="766"/>
                  </a:lnTo>
                  <a:cubicBezTo>
                    <a:pt x="1486" y="766"/>
                    <a:pt x="1664" y="606"/>
                    <a:pt x="1671" y="397"/>
                  </a:cubicBezTo>
                  <a:cubicBezTo>
                    <a:pt x="1679" y="180"/>
                    <a:pt x="1504" y="0"/>
                    <a:pt x="1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6"/>
            <p:cNvSpPr/>
            <p:nvPr/>
          </p:nvSpPr>
          <p:spPr>
            <a:xfrm>
              <a:off x="1039694" y="3987857"/>
              <a:ext cx="38900" cy="32787"/>
            </a:xfrm>
            <a:custGeom>
              <a:rect b="b" l="l" r="r" t="t"/>
              <a:pathLst>
                <a:path extrusionOk="0" h="767" w="910">
                  <a:moveTo>
                    <a:pt x="513" y="256"/>
                  </a:moveTo>
                  <a:cubicBezTo>
                    <a:pt x="579" y="256"/>
                    <a:pt x="637" y="303"/>
                    <a:pt x="645" y="368"/>
                  </a:cubicBezTo>
                  <a:cubicBezTo>
                    <a:pt x="655" y="446"/>
                    <a:pt x="594" y="512"/>
                    <a:pt x="519" y="512"/>
                  </a:cubicBezTo>
                  <a:lnTo>
                    <a:pt x="397" y="512"/>
                  </a:lnTo>
                  <a:cubicBezTo>
                    <a:pt x="331" y="512"/>
                    <a:pt x="273" y="465"/>
                    <a:pt x="266" y="399"/>
                  </a:cubicBezTo>
                  <a:cubicBezTo>
                    <a:pt x="256" y="322"/>
                    <a:pt x="317" y="256"/>
                    <a:pt x="392" y="256"/>
                  </a:cubicBezTo>
                  <a:close/>
                  <a:moveTo>
                    <a:pt x="402" y="1"/>
                  </a:moveTo>
                  <a:cubicBezTo>
                    <a:pt x="193" y="1"/>
                    <a:pt x="14" y="161"/>
                    <a:pt x="8" y="370"/>
                  </a:cubicBezTo>
                  <a:cubicBezTo>
                    <a:pt x="1" y="587"/>
                    <a:pt x="176" y="767"/>
                    <a:pt x="392" y="767"/>
                  </a:cubicBezTo>
                  <a:lnTo>
                    <a:pt x="509" y="767"/>
                  </a:lnTo>
                  <a:cubicBezTo>
                    <a:pt x="718" y="767"/>
                    <a:pt x="895" y="605"/>
                    <a:pt x="903" y="397"/>
                  </a:cubicBezTo>
                  <a:cubicBezTo>
                    <a:pt x="909" y="180"/>
                    <a:pt x="735" y="1"/>
                    <a:pt x="5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6"/>
            <p:cNvSpPr/>
            <p:nvPr/>
          </p:nvSpPr>
          <p:spPr>
            <a:xfrm>
              <a:off x="770898" y="4201338"/>
              <a:ext cx="60530" cy="49587"/>
            </a:xfrm>
            <a:custGeom>
              <a:rect b="b" l="l" r="r" t="t"/>
              <a:pathLst>
                <a:path extrusionOk="0" h="1160" w="1416">
                  <a:moveTo>
                    <a:pt x="924" y="257"/>
                  </a:moveTo>
                  <a:cubicBezTo>
                    <a:pt x="1052" y="257"/>
                    <a:pt x="1159" y="362"/>
                    <a:pt x="1159" y="493"/>
                  </a:cubicBezTo>
                  <a:lnTo>
                    <a:pt x="1159" y="668"/>
                  </a:lnTo>
                  <a:cubicBezTo>
                    <a:pt x="1159" y="799"/>
                    <a:pt x="1053" y="904"/>
                    <a:pt x="924" y="904"/>
                  </a:cubicBezTo>
                  <a:lnTo>
                    <a:pt x="492" y="904"/>
                  </a:lnTo>
                  <a:cubicBezTo>
                    <a:pt x="361" y="904"/>
                    <a:pt x="256" y="799"/>
                    <a:pt x="256" y="668"/>
                  </a:cubicBezTo>
                  <a:lnTo>
                    <a:pt x="256" y="493"/>
                  </a:lnTo>
                  <a:cubicBezTo>
                    <a:pt x="256" y="362"/>
                    <a:pt x="361" y="257"/>
                    <a:pt x="492" y="257"/>
                  </a:cubicBezTo>
                  <a:close/>
                  <a:moveTo>
                    <a:pt x="492" y="0"/>
                  </a:moveTo>
                  <a:cubicBezTo>
                    <a:pt x="220" y="0"/>
                    <a:pt x="0" y="221"/>
                    <a:pt x="0" y="493"/>
                  </a:cubicBezTo>
                  <a:lnTo>
                    <a:pt x="0" y="668"/>
                  </a:lnTo>
                  <a:cubicBezTo>
                    <a:pt x="0" y="939"/>
                    <a:pt x="220" y="1160"/>
                    <a:pt x="492" y="1160"/>
                  </a:cubicBezTo>
                  <a:lnTo>
                    <a:pt x="924" y="1160"/>
                  </a:lnTo>
                  <a:cubicBezTo>
                    <a:pt x="1195" y="1160"/>
                    <a:pt x="1415" y="939"/>
                    <a:pt x="1415" y="668"/>
                  </a:cubicBezTo>
                  <a:lnTo>
                    <a:pt x="1415" y="493"/>
                  </a:lnTo>
                  <a:cubicBezTo>
                    <a:pt x="1415" y="221"/>
                    <a:pt x="1195" y="0"/>
                    <a:pt x="9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6"/>
            <p:cNvSpPr/>
            <p:nvPr/>
          </p:nvSpPr>
          <p:spPr>
            <a:xfrm>
              <a:off x="1028922" y="4201765"/>
              <a:ext cx="49416" cy="49459"/>
            </a:xfrm>
            <a:custGeom>
              <a:rect b="b" l="l" r="r" t="t"/>
              <a:pathLst>
                <a:path extrusionOk="0" h="1157" w="1156">
                  <a:moveTo>
                    <a:pt x="578" y="257"/>
                  </a:moveTo>
                  <a:cubicBezTo>
                    <a:pt x="756" y="257"/>
                    <a:pt x="899" y="401"/>
                    <a:pt x="899" y="579"/>
                  </a:cubicBezTo>
                  <a:cubicBezTo>
                    <a:pt x="899" y="757"/>
                    <a:pt x="755" y="901"/>
                    <a:pt x="578" y="901"/>
                  </a:cubicBezTo>
                  <a:cubicBezTo>
                    <a:pt x="401" y="901"/>
                    <a:pt x="256" y="757"/>
                    <a:pt x="256" y="579"/>
                  </a:cubicBezTo>
                  <a:cubicBezTo>
                    <a:pt x="256" y="402"/>
                    <a:pt x="400" y="257"/>
                    <a:pt x="578" y="257"/>
                  </a:cubicBezTo>
                  <a:close/>
                  <a:moveTo>
                    <a:pt x="578" y="1"/>
                  </a:moveTo>
                  <a:cubicBezTo>
                    <a:pt x="260" y="1"/>
                    <a:pt x="1" y="259"/>
                    <a:pt x="1" y="579"/>
                  </a:cubicBezTo>
                  <a:cubicBezTo>
                    <a:pt x="1" y="898"/>
                    <a:pt x="259" y="1156"/>
                    <a:pt x="578" y="1156"/>
                  </a:cubicBezTo>
                  <a:cubicBezTo>
                    <a:pt x="896" y="1156"/>
                    <a:pt x="1156" y="898"/>
                    <a:pt x="1156" y="579"/>
                  </a:cubicBezTo>
                  <a:cubicBezTo>
                    <a:pt x="1156" y="259"/>
                    <a:pt x="896" y="1"/>
                    <a:pt x="57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6"/>
            <p:cNvSpPr/>
            <p:nvPr/>
          </p:nvSpPr>
          <p:spPr>
            <a:xfrm>
              <a:off x="770983" y="3943869"/>
              <a:ext cx="49416" cy="49416"/>
            </a:xfrm>
            <a:custGeom>
              <a:rect b="b" l="l" r="r" t="t"/>
              <a:pathLst>
                <a:path extrusionOk="0" h="1156" w="1156">
                  <a:moveTo>
                    <a:pt x="579" y="256"/>
                  </a:moveTo>
                  <a:cubicBezTo>
                    <a:pt x="756" y="256"/>
                    <a:pt x="901" y="400"/>
                    <a:pt x="901" y="578"/>
                  </a:cubicBezTo>
                  <a:cubicBezTo>
                    <a:pt x="901" y="755"/>
                    <a:pt x="755" y="900"/>
                    <a:pt x="579" y="900"/>
                  </a:cubicBezTo>
                  <a:cubicBezTo>
                    <a:pt x="402" y="900"/>
                    <a:pt x="256" y="756"/>
                    <a:pt x="256" y="578"/>
                  </a:cubicBezTo>
                  <a:cubicBezTo>
                    <a:pt x="256" y="402"/>
                    <a:pt x="400" y="256"/>
                    <a:pt x="579" y="256"/>
                  </a:cubicBezTo>
                  <a:close/>
                  <a:moveTo>
                    <a:pt x="579" y="1"/>
                  </a:moveTo>
                  <a:cubicBezTo>
                    <a:pt x="260" y="1"/>
                    <a:pt x="1" y="259"/>
                    <a:pt x="1" y="578"/>
                  </a:cubicBezTo>
                  <a:cubicBezTo>
                    <a:pt x="1" y="896"/>
                    <a:pt x="259" y="1155"/>
                    <a:pt x="579" y="1155"/>
                  </a:cubicBezTo>
                  <a:cubicBezTo>
                    <a:pt x="896" y="1155"/>
                    <a:pt x="1156" y="897"/>
                    <a:pt x="1156" y="578"/>
                  </a:cubicBezTo>
                  <a:cubicBezTo>
                    <a:pt x="1156" y="260"/>
                    <a:pt x="896" y="1"/>
                    <a:pt x="5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 name="Google Shape;488;p36"/>
          <p:cNvSpPr/>
          <p:nvPr/>
        </p:nvSpPr>
        <p:spPr>
          <a:xfrm>
            <a:off x="8239125" y="24720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36" title="Screenshot 2025-12-01 at 10.40.21 PM.png"/>
          <p:cNvPicPr preferRelativeResize="0"/>
          <p:nvPr/>
        </p:nvPicPr>
        <p:blipFill>
          <a:blip r:embed="rId3">
            <a:alphaModFix/>
          </a:blip>
          <a:stretch>
            <a:fillRect/>
          </a:stretch>
        </p:blipFill>
        <p:spPr>
          <a:xfrm>
            <a:off x="6093500" y="2101425"/>
            <a:ext cx="2867100" cy="1219638"/>
          </a:xfrm>
          <a:prstGeom prst="rect">
            <a:avLst/>
          </a:prstGeom>
          <a:noFill/>
          <a:ln>
            <a:noFill/>
          </a:ln>
        </p:spPr>
      </p:pic>
      <p:pic>
        <p:nvPicPr>
          <p:cNvPr id="490" name="Google Shape;490;p36" title="istockphoto-1419518978-612x612.jpg"/>
          <p:cNvPicPr preferRelativeResize="0"/>
          <p:nvPr/>
        </p:nvPicPr>
        <p:blipFill rotWithShape="1">
          <a:blip r:embed="rId4">
            <a:alphaModFix/>
          </a:blip>
          <a:srcRect b="27723" l="17973" r="17973" t="27611"/>
          <a:stretch/>
        </p:blipFill>
        <p:spPr>
          <a:xfrm>
            <a:off x="7292500" y="3924650"/>
            <a:ext cx="1513051" cy="10550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7"/>
          <p:cNvSpPr txBox="1"/>
          <p:nvPr>
            <p:ph type="title"/>
          </p:nvPr>
        </p:nvSpPr>
        <p:spPr>
          <a:xfrm>
            <a:off x="234500" y="1805250"/>
            <a:ext cx="6613200" cy="212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IMPLEMENTATION</a:t>
            </a:r>
            <a:endParaRPr/>
          </a:p>
          <a:p>
            <a:pPr indent="0" lvl="0" marL="0" rtl="0" algn="l">
              <a:spcBef>
                <a:spcPts val="0"/>
              </a:spcBef>
              <a:spcAft>
                <a:spcPts val="0"/>
              </a:spcAft>
              <a:buNone/>
            </a:pPr>
            <a:r>
              <a:rPr lang="en"/>
              <a:t>&amp;</a:t>
            </a:r>
            <a:endParaRPr/>
          </a:p>
          <a:p>
            <a:pPr indent="0" lvl="0" marL="0" rtl="0" algn="l">
              <a:spcBef>
                <a:spcPts val="0"/>
              </a:spcBef>
              <a:spcAft>
                <a:spcPts val="0"/>
              </a:spcAft>
              <a:buNone/>
            </a:pPr>
            <a:r>
              <a:rPr lang="en">
                <a:solidFill>
                  <a:schemeClr val="accent6"/>
                </a:solidFill>
              </a:rPr>
              <a:t>EVALUATION</a:t>
            </a:r>
            <a:endParaRPr>
              <a:solidFill>
                <a:schemeClr val="accent6"/>
              </a:solidFill>
            </a:endParaRPr>
          </a:p>
        </p:txBody>
      </p:sp>
      <p:sp>
        <p:nvSpPr>
          <p:cNvPr id="496" name="Google Shape;496;p37"/>
          <p:cNvSpPr/>
          <p:nvPr/>
        </p:nvSpPr>
        <p:spPr>
          <a:xfrm>
            <a:off x="3731763" y="6924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7"/>
          <p:cNvSpPr/>
          <p:nvPr/>
        </p:nvSpPr>
        <p:spPr>
          <a:xfrm rot="-1106097">
            <a:off x="4729559" y="1814175"/>
            <a:ext cx="67357" cy="67357"/>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8" name="Google Shape;498;p37"/>
          <p:cNvGrpSpPr/>
          <p:nvPr/>
        </p:nvGrpSpPr>
        <p:grpSpPr>
          <a:xfrm rot="-1099900">
            <a:off x="3204187" y="597874"/>
            <a:ext cx="1817261" cy="1121137"/>
            <a:chOff x="4501725" y="479127"/>
            <a:chExt cx="1817361" cy="1121198"/>
          </a:xfrm>
        </p:grpSpPr>
        <p:sp>
          <p:nvSpPr>
            <p:cNvPr id="499" name="Google Shape;499;p37"/>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7"/>
            <p:cNvSpPr/>
            <p:nvPr/>
          </p:nvSpPr>
          <p:spPr>
            <a:xfrm>
              <a:off x="6251886" y="61226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7"/>
            <p:cNvSpPr/>
            <p:nvPr/>
          </p:nvSpPr>
          <p:spPr>
            <a:xfrm>
              <a:off x="4501725" y="13267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2" name="Google Shape;502;p37"/>
            <p:cNvCxnSpPr>
              <a:stCxn id="499" idx="2"/>
              <a:endCxn id="501" idx="6"/>
            </p:cNvCxnSpPr>
            <p:nvPr/>
          </p:nvCxnSpPr>
          <p:spPr>
            <a:xfrm flipH="1" rot="1099349">
              <a:off x="4636774" y="1303316"/>
              <a:ext cx="676602" cy="195619"/>
            </a:xfrm>
            <a:prstGeom prst="straightConnector1">
              <a:avLst/>
            </a:prstGeom>
            <a:noFill/>
            <a:ln cap="flat" cmpd="sng" w="9525">
              <a:solidFill>
                <a:schemeClr val="accent1"/>
              </a:solidFill>
              <a:prstDash val="solid"/>
              <a:round/>
              <a:headEnd len="med" w="med" type="none"/>
              <a:tailEnd len="med" w="med" type="none"/>
            </a:ln>
          </p:spPr>
        </p:cxnSp>
        <p:cxnSp>
          <p:nvCxnSpPr>
            <p:cNvPr id="503" name="Google Shape;503;p37"/>
            <p:cNvCxnSpPr>
              <a:stCxn id="500" idx="3"/>
              <a:endCxn id="499" idx="7"/>
            </p:cNvCxnSpPr>
            <p:nvPr/>
          </p:nvCxnSpPr>
          <p:spPr>
            <a:xfrm flipH="1" rot="1099102">
              <a:off x="5519919" y="550003"/>
              <a:ext cx="606115" cy="960448"/>
            </a:xfrm>
            <a:prstGeom prst="straightConnector1">
              <a:avLst/>
            </a:prstGeom>
            <a:noFill/>
            <a:ln cap="flat" cmpd="sng" w="9525">
              <a:solidFill>
                <a:schemeClr val="accent1"/>
              </a:solidFill>
              <a:prstDash val="solid"/>
              <a:round/>
              <a:headEnd len="med" w="med" type="none"/>
              <a:tailEnd len="med" w="med" type="none"/>
            </a:ln>
          </p:spPr>
        </p:cxnSp>
      </p:grpSp>
      <p:pic>
        <p:nvPicPr>
          <p:cNvPr id="504" name="Google Shape;504;p37"/>
          <p:cNvPicPr preferRelativeResize="0"/>
          <p:nvPr>
            <p:ph idx="2" type="pic"/>
          </p:nvPr>
        </p:nvPicPr>
        <p:blipFill rotWithShape="1">
          <a:blip r:embed="rId3">
            <a:alphaModFix/>
          </a:blip>
          <a:srcRect b="33707" l="0" r="0" t="6580"/>
          <a:stretch/>
        </p:blipFill>
        <p:spPr>
          <a:xfrm>
            <a:off x="3574900" y="73200"/>
            <a:ext cx="5453701" cy="2170500"/>
          </a:xfrm>
          <a:prstGeom prst="rect">
            <a:avLst/>
          </a:prstGeom>
          <a:noFill/>
          <a:ln>
            <a:noFill/>
          </a:ln>
        </p:spPr>
      </p:pic>
      <p:pic>
        <p:nvPicPr>
          <p:cNvPr id="505" name="Google Shape;505;p37" title="9139399.png"/>
          <p:cNvPicPr preferRelativeResize="0"/>
          <p:nvPr/>
        </p:nvPicPr>
        <p:blipFill>
          <a:blip r:embed="rId4">
            <a:alphaModFix/>
          </a:blip>
          <a:stretch>
            <a:fillRect/>
          </a:stretch>
        </p:blipFill>
        <p:spPr>
          <a:xfrm>
            <a:off x="6590975" y="2425900"/>
            <a:ext cx="2437626" cy="24376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AI</a:t>
            </a:r>
            <a:r>
              <a:rPr lang="en" sz="4000">
                <a:solidFill>
                  <a:schemeClr val="accent6"/>
                </a:solidFill>
              </a:rPr>
              <a:t> Model</a:t>
            </a:r>
            <a:endParaRPr sz="4000">
              <a:solidFill>
                <a:schemeClr val="accent6"/>
              </a:solidFill>
            </a:endParaRPr>
          </a:p>
        </p:txBody>
      </p:sp>
      <p:sp>
        <p:nvSpPr>
          <p:cNvPr id="511" name="Google Shape;511;p38"/>
          <p:cNvSpPr txBox="1"/>
          <p:nvPr>
            <p:ph idx="2" type="title"/>
          </p:nvPr>
        </p:nvSpPr>
        <p:spPr>
          <a:xfrm>
            <a:off x="720000" y="1361100"/>
            <a:ext cx="2301900" cy="458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Model</a:t>
            </a:r>
            <a:endParaRPr sz="2000"/>
          </a:p>
        </p:txBody>
      </p:sp>
      <p:sp>
        <p:nvSpPr>
          <p:cNvPr id="512" name="Google Shape;512;p38"/>
          <p:cNvSpPr txBox="1"/>
          <p:nvPr>
            <p:ph idx="1" type="subTitle"/>
          </p:nvPr>
        </p:nvSpPr>
        <p:spPr>
          <a:xfrm>
            <a:off x="720000" y="1735000"/>
            <a:ext cx="2301900" cy="41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3D ResNet-18 (MONIA)</a:t>
            </a:r>
            <a:endParaRPr sz="1500"/>
          </a:p>
          <a:p>
            <a:pPr indent="0" lvl="0" marL="0" rtl="0" algn="ctr">
              <a:spcBef>
                <a:spcPts val="0"/>
              </a:spcBef>
              <a:spcAft>
                <a:spcPts val="0"/>
              </a:spcAft>
              <a:buNone/>
            </a:pPr>
            <a:r>
              <a:t/>
            </a:r>
            <a:endParaRPr sz="1500"/>
          </a:p>
        </p:txBody>
      </p:sp>
      <p:sp>
        <p:nvSpPr>
          <p:cNvPr id="513" name="Google Shape;513;p38"/>
          <p:cNvSpPr txBox="1"/>
          <p:nvPr>
            <p:ph idx="3" type="title"/>
          </p:nvPr>
        </p:nvSpPr>
        <p:spPr>
          <a:xfrm>
            <a:off x="3421047" y="3083350"/>
            <a:ext cx="2301900" cy="458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Output</a:t>
            </a:r>
            <a:endParaRPr sz="2000"/>
          </a:p>
        </p:txBody>
      </p:sp>
      <p:sp>
        <p:nvSpPr>
          <p:cNvPr id="514" name="Google Shape;514;p38"/>
          <p:cNvSpPr txBox="1"/>
          <p:nvPr>
            <p:ph idx="4" type="subTitle"/>
          </p:nvPr>
        </p:nvSpPr>
        <p:spPr>
          <a:xfrm>
            <a:off x="3607975" y="3541450"/>
            <a:ext cx="23019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2-class probability (Class 0: Healthy, Class 1: Aneurysm)</a:t>
            </a:r>
            <a:endParaRPr sz="1500"/>
          </a:p>
          <a:p>
            <a:pPr indent="0" lvl="0" marL="0" rtl="0" algn="ctr">
              <a:spcBef>
                <a:spcPts val="1600"/>
              </a:spcBef>
              <a:spcAft>
                <a:spcPts val="1600"/>
              </a:spcAft>
              <a:buNone/>
            </a:pPr>
            <a:r>
              <a:t/>
            </a:r>
            <a:endParaRPr sz="1500"/>
          </a:p>
        </p:txBody>
      </p:sp>
      <p:sp>
        <p:nvSpPr>
          <p:cNvPr id="515" name="Google Shape;515;p38"/>
          <p:cNvSpPr txBox="1"/>
          <p:nvPr>
            <p:ph idx="5" type="title"/>
          </p:nvPr>
        </p:nvSpPr>
        <p:spPr>
          <a:xfrm>
            <a:off x="731175" y="2571750"/>
            <a:ext cx="2301900" cy="73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Why ResNet-18 with MONAI?</a:t>
            </a:r>
            <a:endParaRPr sz="2000"/>
          </a:p>
        </p:txBody>
      </p:sp>
      <p:sp>
        <p:nvSpPr>
          <p:cNvPr id="516" name="Google Shape;516;p38"/>
          <p:cNvSpPr txBox="1"/>
          <p:nvPr>
            <p:ph idx="6" type="subTitle"/>
          </p:nvPr>
        </p:nvSpPr>
        <p:spPr>
          <a:xfrm>
            <a:off x="731175" y="3392750"/>
            <a:ext cx="2737500" cy="1417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3D Neural Network with 18 layers.</a:t>
            </a:r>
            <a:endParaRPr sz="1500"/>
          </a:p>
          <a:p>
            <a:pPr indent="-323850" lvl="0" marL="457200" rtl="0" algn="l">
              <a:spcBef>
                <a:spcPts val="0"/>
              </a:spcBef>
              <a:spcAft>
                <a:spcPts val="0"/>
              </a:spcAft>
              <a:buSzPts val="1500"/>
              <a:buChar char="●"/>
            </a:pPr>
            <a:r>
              <a:rPr lang="en" sz="1500"/>
              <a:t>Specialized deep learning architecture for medical imaging</a:t>
            </a:r>
            <a:endParaRPr sz="1500"/>
          </a:p>
          <a:p>
            <a:pPr indent="-323850" lvl="0" marL="457200" rtl="0" algn="ctr">
              <a:spcBef>
                <a:spcPts val="0"/>
              </a:spcBef>
              <a:spcAft>
                <a:spcPts val="0"/>
              </a:spcAft>
              <a:buSzPts val="1500"/>
              <a:buChar char="●"/>
            </a:pPr>
            <a:r>
              <a:t/>
            </a:r>
            <a:endParaRPr sz="1500"/>
          </a:p>
        </p:txBody>
      </p:sp>
      <p:sp>
        <p:nvSpPr>
          <p:cNvPr id="517" name="Google Shape;517;p38"/>
          <p:cNvSpPr txBox="1"/>
          <p:nvPr>
            <p:ph idx="7" type="title"/>
          </p:nvPr>
        </p:nvSpPr>
        <p:spPr>
          <a:xfrm>
            <a:off x="6393147" y="1286238"/>
            <a:ext cx="2301900" cy="458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Processing</a:t>
            </a:r>
            <a:endParaRPr sz="2000"/>
          </a:p>
        </p:txBody>
      </p:sp>
      <p:sp>
        <p:nvSpPr>
          <p:cNvPr id="518" name="Google Shape;518;p38"/>
          <p:cNvSpPr txBox="1"/>
          <p:nvPr>
            <p:ph idx="8" type="subTitle"/>
          </p:nvPr>
        </p:nvSpPr>
        <p:spPr>
          <a:xfrm>
            <a:off x="5790250" y="1749700"/>
            <a:ext cx="3497700" cy="1609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3</a:t>
            </a:r>
            <a:r>
              <a:rPr lang="en" sz="1400"/>
              <a:t>D Convolutional Layers with Batch Normalization &amp; ReLU activation.</a:t>
            </a:r>
            <a:endParaRPr sz="1400"/>
          </a:p>
          <a:p>
            <a:pPr indent="-317500" lvl="0" marL="457200" rtl="0" algn="l">
              <a:spcBef>
                <a:spcPts val="0"/>
              </a:spcBef>
              <a:spcAft>
                <a:spcPts val="0"/>
              </a:spcAft>
              <a:buSzPts val="1400"/>
              <a:buChar char="●"/>
            </a:pPr>
            <a:r>
              <a:rPr lang="en" sz="1400"/>
              <a:t>Max Pooling for downsampling</a:t>
            </a:r>
            <a:endParaRPr sz="1400"/>
          </a:p>
          <a:p>
            <a:pPr indent="-317500" lvl="0" marL="457200" rtl="0" algn="l">
              <a:spcBef>
                <a:spcPts val="0"/>
              </a:spcBef>
              <a:spcAft>
                <a:spcPts val="0"/>
              </a:spcAft>
              <a:buSzPts val="1400"/>
              <a:buChar char="●"/>
            </a:pPr>
            <a:r>
              <a:rPr lang="en" sz="1400"/>
              <a:t>ResNet Blocks (18 layers) with skip connections help model train deep</a:t>
            </a:r>
            <a:endParaRPr sz="1400"/>
          </a:p>
          <a:p>
            <a:pPr indent="-317500" lvl="0" marL="457200" rtl="0" algn="l">
              <a:spcBef>
                <a:spcPts val="0"/>
              </a:spcBef>
              <a:spcAft>
                <a:spcPts val="0"/>
              </a:spcAft>
              <a:buSzPts val="1400"/>
              <a:buChar char="●"/>
            </a:pPr>
            <a:r>
              <a:rPr lang="en" sz="1400"/>
              <a:t>Global Average Pooling</a:t>
            </a:r>
            <a:endParaRPr sz="1400"/>
          </a:p>
          <a:p>
            <a:pPr indent="-317500" lvl="0" marL="457200" rtl="0" algn="l">
              <a:spcBef>
                <a:spcPts val="0"/>
              </a:spcBef>
              <a:spcAft>
                <a:spcPts val="0"/>
              </a:spcAft>
              <a:buSzPts val="1400"/>
              <a:buChar char="●"/>
            </a:pPr>
            <a:r>
              <a:rPr lang="en" sz="1400"/>
              <a:t>Fully Connected Layer</a:t>
            </a:r>
            <a:endParaRPr sz="1400"/>
          </a:p>
        </p:txBody>
      </p:sp>
      <p:sp>
        <p:nvSpPr>
          <p:cNvPr id="519" name="Google Shape;519;p38"/>
          <p:cNvSpPr txBox="1"/>
          <p:nvPr>
            <p:ph idx="9" type="title"/>
          </p:nvPr>
        </p:nvSpPr>
        <p:spPr>
          <a:xfrm>
            <a:off x="3079875" y="1303625"/>
            <a:ext cx="2961900" cy="73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Architecture </a:t>
            </a:r>
            <a:endParaRPr sz="2000"/>
          </a:p>
          <a:p>
            <a:pPr indent="0" lvl="0" marL="0" rtl="0" algn="ctr">
              <a:spcBef>
                <a:spcPts val="0"/>
              </a:spcBef>
              <a:spcAft>
                <a:spcPts val="0"/>
              </a:spcAft>
              <a:buNone/>
            </a:pPr>
            <a:r>
              <a:rPr lang="en" sz="2000"/>
              <a:t>Flow</a:t>
            </a:r>
            <a:endParaRPr sz="2000"/>
          </a:p>
        </p:txBody>
      </p:sp>
      <p:sp>
        <p:nvSpPr>
          <p:cNvPr id="520" name="Google Shape;520;p38"/>
          <p:cNvSpPr txBox="1"/>
          <p:nvPr>
            <p:ph idx="13" type="subTitle"/>
          </p:nvPr>
        </p:nvSpPr>
        <p:spPr>
          <a:xfrm>
            <a:off x="3607975" y="2040725"/>
            <a:ext cx="2301900" cy="86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Input: 64×64×64×1 grayscale volume (3D MRA scan)</a:t>
            </a:r>
            <a:endParaRPr sz="1500"/>
          </a:p>
          <a:p>
            <a:pPr indent="0" lvl="0" marL="0" rtl="0" algn="ctr">
              <a:spcBef>
                <a:spcPts val="1600"/>
              </a:spcBef>
              <a:spcAft>
                <a:spcPts val="1600"/>
              </a:spcAft>
              <a:buNone/>
            </a:pPr>
            <a:r>
              <a:t/>
            </a:r>
            <a:endParaRPr sz="1500"/>
          </a:p>
        </p:txBody>
      </p:sp>
      <p:sp>
        <p:nvSpPr>
          <p:cNvPr id="521" name="Google Shape;521;p38"/>
          <p:cNvSpPr txBox="1"/>
          <p:nvPr>
            <p:ph idx="14" type="title"/>
          </p:nvPr>
        </p:nvSpPr>
        <p:spPr>
          <a:xfrm>
            <a:off x="6210728" y="3809850"/>
            <a:ext cx="2301900" cy="458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000"/>
              <a:t>Algorithm Type</a:t>
            </a:r>
            <a:endParaRPr sz="2000"/>
          </a:p>
        </p:txBody>
      </p:sp>
      <p:sp>
        <p:nvSpPr>
          <p:cNvPr id="522" name="Google Shape;522;p38"/>
          <p:cNvSpPr txBox="1"/>
          <p:nvPr>
            <p:ph idx="15" type="subTitle"/>
          </p:nvPr>
        </p:nvSpPr>
        <p:spPr>
          <a:xfrm>
            <a:off x="6255378" y="4267950"/>
            <a:ext cx="2301900" cy="90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Supervised Learning (Deep Learning CNN)</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9"/>
          <p:cNvSpPr txBox="1"/>
          <p:nvPr>
            <p:ph type="title"/>
          </p:nvPr>
        </p:nvSpPr>
        <p:spPr>
          <a:xfrm>
            <a:off x="464700" y="546638"/>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Training </a:t>
            </a:r>
            <a:r>
              <a:rPr lang="en">
                <a:solidFill>
                  <a:schemeClr val="accent6"/>
                </a:solidFill>
              </a:rPr>
              <a:t>Outcome</a:t>
            </a:r>
            <a:endParaRPr>
              <a:solidFill>
                <a:schemeClr val="accent6"/>
              </a:solidFill>
            </a:endParaRPr>
          </a:p>
        </p:txBody>
      </p:sp>
      <p:grpSp>
        <p:nvGrpSpPr>
          <p:cNvPr id="528" name="Google Shape;528;p39"/>
          <p:cNvGrpSpPr/>
          <p:nvPr/>
        </p:nvGrpSpPr>
        <p:grpSpPr>
          <a:xfrm>
            <a:off x="502968" y="1880648"/>
            <a:ext cx="190600" cy="190600"/>
            <a:chOff x="8565775" y="671075"/>
            <a:chExt cx="441000" cy="441000"/>
          </a:xfrm>
        </p:grpSpPr>
        <p:sp>
          <p:nvSpPr>
            <p:cNvPr id="529" name="Google Shape;529;p39"/>
            <p:cNvSpPr/>
            <p:nvPr/>
          </p:nvSpPr>
          <p:spPr>
            <a:xfrm>
              <a:off x="8565775" y="671075"/>
              <a:ext cx="441000" cy="441000"/>
            </a:xfrm>
            <a:prstGeom prst="ellipse">
              <a:avLst/>
            </a:prstGeom>
            <a:noFill/>
            <a:ln cap="flat" cmpd="sng" w="19375">
              <a:solidFill>
                <a:schemeClr val="accent6"/>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sp>
          <p:nvSpPr>
            <p:cNvPr id="530" name="Google Shape;530;p39"/>
            <p:cNvSpPr/>
            <p:nvPr/>
          </p:nvSpPr>
          <p:spPr>
            <a:xfrm>
              <a:off x="8706625" y="811925"/>
              <a:ext cx="159300" cy="159300"/>
            </a:xfrm>
            <a:prstGeom prst="ellipse">
              <a:avLst/>
            </a:prstGeom>
            <a:noFill/>
            <a:ln cap="flat" cmpd="sng" w="19375">
              <a:solidFill>
                <a:schemeClr val="accent6"/>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grpSp>
      <p:sp>
        <p:nvSpPr>
          <p:cNvPr id="531" name="Google Shape;531;p39"/>
          <p:cNvSpPr txBox="1"/>
          <p:nvPr/>
        </p:nvSpPr>
        <p:spPr>
          <a:xfrm>
            <a:off x="766030" y="4244582"/>
            <a:ext cx="2107200" cy="831600"/>
          </a:xfrm>
          <a:prstGeom prst="rect">
            <a:avLst/>
          </a:prstGeom>
          <a:noFill/>
          <a:ln>
            <a:noFill/>
          </a:ln>
        </p:spPr>
        <p:txBody>
          <a:bodyPr anchorCtr="0" anchor="ctr" bIns="92925" lIns="92925" spcFirstLastPara="1" rIns="92925" wrap="square" tIns="92925">
            <a:noAutofit/>
          </a:bodyPr>
          <a:lstStyle/>
          <a:p>
            <a:pPr indent="0" lvl="0" marL="0" rtl="0" algn="l">
              <a:spcBef>
                <a:spcPts val="0"/>
              </a:spcBef>
              <a:spcAft>
                <a:spcPts val="0"/>
              </a:spcAft>
              <a:buNone/>
            </a:pPr>
            <a:r>
              <a:rPr lang="en" sz="1219">
                <a:solidFill>
                  <a:schemeClr val="dk1"/>
                </a:solidFill>
                <a:latin typeface="Raleway"/>
                <a:ea typeface="Raleway"/>
                <a:cs typeface="Raleway"/>
                <a:sym typeface="Raleway"/>
              </a:rPr>
              <a:t>V5: Class Weight 7.5, Threshold 0.55</a:t>
            </a:r>
            <a:endParaRPr sz="1219">
              <a:solidFill>
                <a:schemeClr val="dk1"/>
              </a:solidFill>
              <a:latin typeface="Raleway"/>
              <a:ea typeface="Raleway"/>
              <a:cs typeface="Raleway"/>
              <a:sym typeface="Raleway"/>
            </a:endParaRPr>
          </a:p>
        </p:txBody>
      </p:sp>
      <p:sp>
        <p:nvSpPr>
          <p:cNvPr id="532" name="Google Shape;532;p39"/>
          <p:cNvSpPr txBox="1"/>
          <p:nvPr/>
        </p:nvSpPr>
        <p:spPr>
          <a:xfrm>
            <a:off x="766030" y="3520674"/>
            <a:ext cx="2107200" cy="831600"/>
          </a:xfrm>
          <a:prstGeom prst="rect">
            <a:avLst/>
          </a:prstGeom>
          <a:noFill/>
          <a:ln>
            <a:noFill/>
          </a:ln>
        </p:spPr>
        <p:txBody>
          <a:bodyPr anchorCtr="0" anchor="ctr" bIns="92925" lIns="92925" spcFirstLastPara="1" rIns="92925" wrap="square" tIns="92925">
            <a:noAutofit/>
          </a:bodyPr>
          <a:lstStyle/>
          <a:p>
            <a:pPr indent="0" lvl="0" marL="0" rtl="0" algn="l">
              <a:spcBef>
                <a:spcPts val="0"/>
              </a:spcBef>
              <a:spcAft>
                <a:spcPts val="0"/>
              </a:spcAft>
              <a:buNone/>
            </a:pPr>
            <a:r>
              <a:rPr lang="en" sz="1219">
                <a:solidFill>
                  <a:schemeClr val="dk1"/>
                </a:solidFill>
                <a:latin typeface="Raleway"/>
                <a:ea typeface="Raleway"/>
                <a:cs typeface="Raleway"/>
                <a:sym typeface="Raleway"/>
              </a:rPr>
              <a:t>V4: Class Weight 8.5, Threshold 0.25</a:t>
            </a:r>
            <a:endParaRPr sz="1219">
              <a:solidFill>
                <a:schemeClr val="dk1"/>
              </a:solidFill>
              <a:latin typeface="Raleway"/>
              <a:ea typeface="Raleway"/>
              <a:cs typeface="Raleway"/>
              <a:sym typeface="Raleway"/>
            </a:endParaRPr>
          </a:p>
        </p:txBody>
      </p:sp>
      <p:sp>
        <p:nvSpPr>
          <p:cNvPr id="533" name="Google Shape;533;p39"/>
          <p:cNvSpPr txBox="1"/>
          <p:nvPr/>
        </p:nvSpPr>
        <p:spPr>
          <a:xfrm>
            <a:off x="766030" y="2091321"/>
            <a:ext cx="2107200" cy="374700"/>
          </a:xfrm>
          <a:prstGeom prst="rect">
            <a:avLst/>
          </a:prstGeom>
          <a:noFill/>
          <a:ln>
            <a:noFill/>
          </a:ln>
        </p:spPr>
        <p:txBody>
          <a:bodyPr anchorCtr="0" anchor="ctr" bIns="92925" lIns="92925" spcFirstLastPara="1" rIns="92925" wrap="square" tIns="92925">
            <a:noAutofit/>
          </a:bodyPr>
          <a:lstStyle/>
          <a:p>
            <a:pPr indent="0" lvl="0" marL="0" rtl="0" algn="l">
              <a:spcBef>
                <a:spcPts val="0"/>
              </a:spcBef>
              <a:spcAft>
                <a:spcPts val="0"/>
              </a:spcAft>
              <a:buNone/>
            </a:pPr>
            <a:r>
              <a:rPr lang="en" sz="1219">
                <a:solidFill>
                  <a:schemeClr val="dk1"/>
                </a:solidFill>
                <a:latin typeface="Raleway"/>
                <a:ea typeface="Raleway"/>
                <a:cs typeface="Raleway"/>
                <a:sym typeface="Raleway"/>
              </a:rPr>
              <a:t>V1: Class Weight 8.0, Threshold 0.35</a:t>
            </a:r>
            <a:endParaRPr sz="1219">
              <a:solidFill>
                <a:schemeClr val="dk1"/>
              </a:solidFill>
              <a:latin typeface="Raleway"/>
              <a:ea typeface="Raleway"/>
              <a:cs typeface="Raleway"/>
              <a:sym typeface="Raleway"/>
            </a:endParaRPr>
          </a:p>
          <a:p>
            <a:pPr indent="0" lvl="0" marL="0" rtl="0" algn="l">
              <a:spcBef>
                <a:spcPts val="0"/>
              </a:spcBef>
              <a:spcAft>
                <a:spcPts val="0"/>
              </a:spcAft>
              <a:buNone/>
            </a:pPr>
            <a:r>
              <a:t/>
            </a:r>
            <a:endParaRPr sz="1219">
              <a:solidFill>
                <a:schemeClr val="dk1"/>
              </a:solidFill>
              <a:latin typeface="Raleway"/>
              <a:ea typeface="Raleway"/>
              <a:cs typeface="Raleway"/>
              <a:sym typeface="Raleway"/>
            </a:endParaRPr>
          </a:p>
          <a:p>
            <a:pPr indent="0" lvl="0" marL="0" rtl="0" algn="l">
              <a:spcBef>
                <a:spcPts val="0"/>
              </a:spcBef>
              <a:spcAft>
                <a:spcPts val="0"/>
              </a:spcAft>
              <a:buNone/>
            </a:pPr>
            <a:r>
              <a:t/>
            </a:r>
            <a:endParaRPr sz="1219">
              <a:solidFill>
                <a:schemeClr val="dk1"/>
              </a:solidFill>
              <a:latin typeface="Raleway"/>
              <a:ea typeface="Raleway"/>
              <a:cs typeface="Raleway"/>
              <a:sym typeface="Raleway"/>
            </a:endParaRPr>
          </a:p>
          <a:p>
            <a:pPr indent="0" lvl="0" marL="0" rtl="0" algn="l">
              <a:spcBef>
                <a:spcPts val="0"/>
              </a:spcBef>
              <a:spcAft>
                <a:spcPts val="0"/>
              </a:spcAft>
              <a:buNone/>
            </a:pPr>
            <a:r>
              <a:t/>
            </a:r>
            <a:endParaRPr sz="1219">
              <a:solidFill>
                <a:schemeClr val="dk1"/>
              </a:solidFill>
              <a:latin typeface="Raleway"/>
              <a:ea typeface="Raleway"/>
              <a:cs typeface="Raleway"/>
              <a:sym typeface="Raleway"/>
            </a:endParaRPr>
          </a:p>
        </p:txBody>
      </p:sp>
      <p:grpSp>
        <p:nvGrpSpPr>
          <p:cNvPr id="534" name="Google Shape;534;p39"/>
          <p:cNvGrpSpPr/>
          <p:nvPr/>
        </p:nvGrpSpPr>
        <p:grpSpPr>
          <a:xfrm>
            <a:off x="502968" y="2466029"/>
            <a:ext cx="190600" cy="190600"/>
            <a:chOff x="8565775" y="671075"/>
            <a:chExt cx="441000" cy="441000"/>
          </a:xfrm>
        </p:grpSpPr>
        <p:sp>
          <p:nvSpPr>
            <p:cNvPr id="535" name="Google Shape;535;p39"/>
            <p:cNvSpPr/>
            <p:nvPr/>
          </p:nvSpPr>
          <p:spPr>
            <a:xfrm>
              <a:off x="8565775" y="671075"/>
              <a:ext cx="441000" cy="441000"/>
            </a:xfrm>
            <a:prstGeom prst="ellipse">
              <a:avLst/>
            </a:prstGeom>
            <a:noFill/>
            <a:ln cap="flat" cmpd="sng" w="19375">
              <a:solidFill>
                <a:schemeClr val="dk1"/>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sp>
          <p:nvSpPr>
            <p:cNvPr id="536" name="Google Shape;536;p39"/>
            <p:cNvSpPr/>
            <p:nvPr/>
          </p:nvSpPr>
          <p:spPr>
            <a:xfrm>
              <a:off x="8706625" y="811925"/>
              <a:ext cx="159300" cy="159300"/>
            </a:xfrm>
            <a:prstGeom prst="ellipse">
              <a:avLst/>
            </a:prstGeom>
            <a:noFill/>
            <a:ln cap="flat" cmpd="sng" w="19375">
              <a:solidFill>
                <a:schemeClr val="dk1"/>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grpSp>
      <p:sp>
        <p:nvSpPr>
          <p:cNvPr id="537" name="Google Shape;537;p39"/>
          <p:cNvSpPr/>
          <p:nvPr/>
        </p:nvSpPr>
        <p:spPr>
          <a:xfrm rot="7925646">
            <a:off x="8663343" y="768041"/>
            <a:ext cx="121509" cy="121509"/>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9"/>
          <p:cNvSpPr/>
          <p:nvPr/>
        </p:nvSpPr>
        <p:spPr>
          <a:xfrm rot="7926085">
            <a:off x="8890069" y="1402771"/>
            <a:ext cx="67120" cy="6712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9"/>
          <p:cNvSpPr/>
          <p:nvPr/>
        </p:nvSpPr>
        <p:spPr>
          <a:xfrm rot="5185420">
            <a:off x="7546684" y="907643"/>
            <a:ext cx="67331" cy="67331"/>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0" name="Google Shape;540;p39"/>
          <p:cNvCxnSpPr>
            <a:stCxn id="537" idx="5"/>
            <a:endCxn id="539" idx="0"/>
          </p:cNvCxnSpPr>
          <p:nvPr/>
        </p:nvCxnSpPr>
        <p:spPr>
          <a:xfrm flipH="1">
            <a:off x="7614021" y="831875"/>
            <a:ext cx="1049400" cy="107400"/>
          </a:xfrm>
          <a:prstGeom prst="straightConnector1">
            <a:avLst/>
          </a:prstGeom>
          <a:noFill/>
          <a:ln cap="flat" cmpd="sng" w="9525">
            <a:solidFill>
              <a:schemeClr val="accent1"/>
            </a:solidFill>
            <a:prstDash val="solid"/>
            <a:round/>
            <a:headEnd len="med" w="med" type="none"/>
            <a:tailEnd len="med" w="med" type="none"/>
          </a:ln>
        </p:spPr>
      </p:cxnSp>
      <p:cxnSp>
        <p:nvCxnSpPr>
          <p:cNvPr id="541" name="Google Shape;541;p39"/>
          <p:cNvCxnSpPr>
            <a:stCxn id="537" idx="7"/>
            <a:endCxn id="538" idx="3"/>
          </p:cNvCxnSpPr>
          <p:nvPr/>
        </p:nvCxnSpPr>
        <p:spPr>
          <a:xfrm>
            <a:off x="8727177" y="889472"/>
            <a:ext cx="194700" cy="513300"/>
          </a:xfrm>
          <a:prstGeom prst="straightConnector1">
            <a:avLst/>
          </a:prstGeom>
          <a:noFill/>
          <a:ln cap="flat" cmpd="sng" w="9525">
            <a:solidFill>
              <a:schemeClr val="accent1"/>
            </a:solidFill>
            <a:prstDash val="solid"/>
            <a:round/>
            <a:headEnd len="med" w="med" type="none"/>
            <a:tailEnd len="med" w="med" type="none"/>
          </a:ln>
        </p:spPr>
      </p:cxnSp>
      <p:pic>
        <p:nvPicPr>
          <p:cNvPr id="542" name="Google Shape;542;p39" title="Screenshot 2025-12-01 at 11.41.50 PM.png"/>
          <p:cNvPicPr preferRelativeResize="0"/>
          <p:nvPr/>
        </p:nvPicPr>
        <p:blipFill>
          <a:blip r:embed="rId3">
            <a:alphaModFix/>
          </a:blip>
          <a:stretch>
            <a:fillRect/>
          </a:stretch>
        </p:blipFill>
        <p:spPr>
          <a:xfrm>
            <a:off x="3130575" y="1823888"/>
            <a:ext cx="5840451" cy="3135225"/>
          </a:xfrm>
          <a:prstGeom prst="rect">
            <a:avLst/>
          </a:prstGeom>
          <a:noFill/>
          <a:ln>
            <a:noFill/>
          </a:ln>
        </p:spPr>
      </p:pic>
      <p:sp>
        <p:nvSpPr>
          <p:cNvPr id="543" name="Google Shape;543;p39"/>
          <p:cNvSpPr txBox="1"/>
          <p:nvPr/>
        </p:nvSpPr>
        <p:spPr>
          <a:xfrm>
            <a:off x="766030" y="2308732"/>
            <a:ext cx="2107200" cy="679800"/>
          </a:xfrm>
          <a:prstGeom prst="rect">
            <a:avLst/>
          </a:prstGeom>
          <a:noFill/>
          <a:ln>
            <a:noFill/>
          </a:ln>
        </p:spPr>
        <p:txBody>
          <a:bodyPr anchorCtr="0" anchor="ctr" bIns="92925" lIns="92925" spcFirstLastPara="1" rIns="92925" wrap="square" tIns="92925">
            <a:noAutofit/>
          </a:bodyPr>
          <a:lstStyle/>
          <a:p>
            <a:pPr indent="0" lvl="0" marL="0" rtl="0" algn="l">
              <a:spcBef>
                <a:spcPts val="0"/>
              </a:spcBef>
              <a:spcAft>
                <a:spcPts val="0"/>
              </a:spcAft>
              <a:buNone/>
            </a:pPr>
            <a:r>
              <a:rPr lang="en" sz="1219">
                <a:solidFill>
                  <a:schemeClr val="dk1"/>
                </a:solidFill>
                <a:latin typeface="Raleway"/>
                <a:ea typeface="Raleway"/>
                <a:cs typeface="Raleway"/>
                <a:sym typeface="Raleway"/>
              </a:rPr>
              <a:t>V</a:t>
            </a:r>
            <a:r>
              <a:rPr lang="en" sz="1219">
                <a:solidFill>
                  <a:schemeClr val="dk1"/>
                </a:solidFill>
                <a:latin typeface="Raleway"/>
                <a:ea typeface="Raleway"/>
                <a:cs typeface="Raleway"/>
                <a:sym typeface="Raleway"/>
              </a:rPr>
              <a:t>2: Class Weight 12.0, Threshold 0.55</a:t>
            </a:r>
            <a:endParaRPr sz="1219">
              <a:solidFill>
                <a:schemeClr val="dk1"/>
              </a:solidFill>
              <a:latin typeface="Raleway"/>
              <a:ea typeface="Raleway"/>
              <a:cs typeface="Raleway"/>
              <a:sym typeface="Raleway"/>
            </a:endParaRPr>
          </a:p>
        </p:txBody>
      </p:sp>
      <p:sp>
        <p:nvSpPr>
          <p:cNvPr id="544" name="Google Shape;544;p39"/>
          <p:cNvSpPr txBox="1"/>
          <p:nvPr/>
        </p:nvSpPr>
        <p:spPr>
          <a:xfrm>
            <a:off x="790042" y="3123811"/>
            <a:ext cx="2107200" cy="374700"/>
          </a:xfrm>
          <a:prstGeom prst="rect">
            <a:avLst/>
          </a:prstGeom>
          <a:noFill/>
          <a:ln>
            <a:noFill/>
          </a:ln>
        </p:spPr>
        <p:txBody>
          <a:bodyPr anchorCtr="0" anchor="ctr" bIns="92925" lIns="92925" spcFirstLastPara="1" rIns="92925" wrap="square" tIns="92925">
            <a:noAutofit/>
          </a:bodyPr>
          <a:lstStyle/>
          <a:p>
            <a:pPr indent="0" lvl="0" marL="0" rtl="0" algn="l">
              <a:spcBef>
                <a:spcPts val="0"/>
              </a:spcBef>
              <a:spcAft>
                <a:spcPts val="0"/>
              </a:spcAft>
              <a:buNone/>
            </a:pPr>
            <a:r>
              <a:rPr lang="en" sz="1219">
                <a:solidFill>
                  <a:schemeClr val="dk1"/>
                </a:solidFill>
                <a:latin typeface="Raleway"/>
                <a:ea typeface="Raleway"/>
                <a:cs typeface="Raleway"/>
                <a:sym typeface="Raleway"/>
              </a:rPr>
              <a:t>V3: Class Weight 9.5, Threshold 0.35</a:t>
            </a:r>
            <a:endParaRPr sz="1219">
              <a:solidFill>
                <a:schemeClr val="dk1"/>
              </a:solidFill>
              <a:latin typeface="Raleway"/>
              <a:ea typeface="Raleway"/>
              <a:cs typeface="Raleway"/>
              <a:sym typeface="Raleway"/>
            </a:endParaRPr>
          </a:p>
          <a:p>
            <a:pPr indent="0" lvl="0" marL="0" rtl="0" algn="l">
              <a:spcBef>
                <a:spcPts val="0"/>
              </a:spcBef>
              <a:spcAft>
                <a:spcPts val="0"/>
              </a:spcAft>
              <a:buNone/>
            </a:pPr>
            <a:r>
              <a:t/>
            </a:r>
            <a:endParaRPr sz="1219">
              <a:solidFill>
                <a:schemeClr val="dk1"/>
              </a:solidFill>
              <a:latin typeface="Raleway"/>
              <a:ea typeface="Raleway"/>
              <a:cs typeface="Raleway"/>
              <a:sym typeface="Raleway"/>
            </a:endParaRPr>
          </a:p>
        </p:txBody>
      </p:sp>
      <p:grpSp>
        <p:nvGrpSpPr>
          <p:cNvPr id="545" name="Google Shape;545;p39"/>
          <p:cNvGrpSpPr/>
          <p:nvPr/>
        </p:nvGrpSpPr>
        <p:grpSpPr>
          <a:xfrm>
            <a:off x="502968" y="4518761"/>
            <a:ext cx="190600" cy="190600"/>
            <a:chOff x="8565775" y="671075"/>
            <a:chExt cx="441000" cy="441000"/>
          </a:xfrm>
        </p:grpSpPr>
        <p:sp>
          <p:nvSpPr>
            <p:cNvPr id="546" name="Google Shape;546;p39"/>
            <p:cNvSpPr/>
            <p:nvPr/>
          </p:nvSpPr>
          <p:spPr>
            <a:xfrm>
              <a:off x="8565775" y="671075"/>
              <a:ext cx="441000" cy="441000"/>
            </a:xfrm>
            <a:prstGeom prst="ellipse">
              <a:avLst/>
            </a:prstGeom>
            <a:noFill/>
            <a:ln cap="flat" cmpd="sng" w="19375">
              <a:solidFill>
                <a:schemeClr val="dk1"/>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sp>
          <p:nvSpPr>
            <p:cNvPr id="547" name="Google Shape;547;p39"/>
            <p:cNvSpPr/>
            <p:nvPr/>
          </p:nvSpPr>
          <p:spPr>
            <a:xfrm>
              <a:off x="8706625" y="811925"/>
              <a:ext cx="159300" cy="159300"/>
            </a:xfrm>
            <a:prstGeom prst="ellipse">
              <a:avLst/>
            </a:prstGeom>
            <a:noFill/>
            <a:ln cap="flat" cmpd="sng" w="19375">
              <a:solidFill>
                <a:schemeClr val="dk1"/>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grpSp>
      <p:grpSp>
        <p:nvGrpSpPr>
          <p:cNvPr id="548" name="Google Shape;548;p39"/>
          <p:cNvGrpSpPr/>
          <p:nvPr/>
        </p:nvGrpSpPr>
        <p:grpSpPr>
          <a:xfrm>
            <a:off x="502968" y="3123778"/>
            <a:ext cx="190600" cy="190600"/>
            <a:chOff x="8565775" y="671075"/>
            <a:chExt cx="441000" cy="441000"/>
          </a:xfrm>
        </p:grpSpPr>
        <p:sp>
          <p:nvSpPr>
            <p:cNvPr id="549" name="Google Shape;549;p39"/>
            <p:cNvSpPr/>
            <p:nvPr/>
          </p:nvSpPr>
          <p:spPr>
            <a:xfrm>
              <a:off x="8565775" y="671075"/>
              <a:ext cx="441000" cy="441000"/>
            </a:xfrm>
            <a:prstGeom prst="ellipse">
              <a:avLst/>
            </a:prstGeom>
            <a:noFill/>
            <a:ln cap="flat" cmpd="sng" w="19375">
              <a:solidFill>
                <a:schemeClr val="accent3"/>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sp>
          <p:nvSpPr>
            <p:cNvPr id="550" name="Google Shape;550;p39"/>
            <p:cNvSpPr/>
            <p:nvPr/>
          </p:nvSpPr>
          <p:spPr>
            <a:xfrm>
              <a:off x="8706625" y="811925"/>
              <a:ext cx="159300" cy="159300"/>
            </a:xfrm>
            <a:prstGeom prst="ellipse">
              <a:avLst/>
            </a:prstGeom>
            <a:noFill/>
            <a:ln cap="flat" cmpd="sng" w="19375">
              <a:solidFill>
                <a:schemeClr val="accent3"/>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grpSp>
      <p:grpSp>
        <p:nvGrpSpPr>
          <p:cNvPr id="551" name="Google Shape;551;p39"/>
          <p:cNvGrpSpPr/>
          <p:nvPr/>
        </p:nvGrpSpPr>
        <p:grpSpPr>
          <a:xfrm>
            <a:off x="502968" y="3781515"/>
            <a:ext cx="190600" cy="190600"/>
            <a:chOff x="8565775" y="671075"/>
            <a:chExt cx="441000" cy="441000"/>
          </a:xfrm>
        </p:grpSpPr>
        <p:sp>
          <p:nvSpPr>
            <p:cNvPr id="552" name="Google Shape;552;p39"/>
            <p:cNvSpPr/>
            <p:nvPr/>
          </p:nvSpPr>
          <p:spPr>
            <a:xfrm>
              <a:off x="8565775" y="671075"/>
              <a:ext cx="441000" cy="441000"/>
            </a:xfrm>
            <a:prstGeom prst="ellipse">
              <a:avLst/>
            </a:prstGeom>
            <a:noFill/>
            <a:ln cap="flat" cmpd="sng" w="19375">
              <a:solidFill>
                <a:schemeClr val="accent6"/>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sp>
          <p:nvSpPr>
            <p:cNvPr id="553" name="Google Shape;553;p39"/>
            <p:cNvSpPr/>
            <p:nvPr/>
          </p:nvSpPr>
          <p:spPr>
            <a:xfrm>
              <a:off x="8706625" y="811925"/>
              <a:ext cx="159300" cy="159300"/>
            </a:xfrm>
            <a:prstGeom prst="ellipse">
              <a:avLst/>
            </a:prstGeom>
            <a:noFill/>
            <a:ln cap="flat" cmpd="sng" w="19375">
              <a:solidFill>
                <a:schemeClr val="accent6"/>
              </a:solidFill>
              <a:prstDash val="solid"/>
              <a:round/>
              <a:headEnd len="sm" w="sm" type="none"/>
              <a:tailEnd len="sm" w="sm" type="none"/>
            </a:ln>
          </p:spPr>
          <p:txBody>
            <a:bodyPr anchorCtr="0" anchor="ctr" bIns="92925" lIns="92925" spcFirstLastPara="1" rIns="92925" wrap="square" tIns="92925">
              <a:noAutofit/>
            </a:bodyPr>
            <a:lstStyle/>
            <a:p>
              <a:pPr indent="0" lvl="0" marL="0" rtl="0" algn="l">
                <a:spcBef>
                  <a:spcPts val="0"/>
                </a:spcBef>
                <a:spcAft>
                  <a:spcPts val="0"/>
                </a:spcAft>
                <a:buNone/>
              </a:pPr>
              <a:r>
                <a:t/>
              </a:r>
              <a:endParaRPr/>
            </a:p>
          </p:txBody>
        </p:sp>
      </p:grpSp>
      <p:sp>
        <p:nvSpPr>
          <p:cNvPr id="554" name="Google Shape;554;p39"/>
          <p:cNvSpPr txBox="1"/>
          <p:nvPr/>
        </p:nvSpPr>
        <p:spPr>
          <a:xfrm>
            <a:off x="338425" y="1101925"/>
            <a:ext cx="6537000" cy="5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aleway"/>
                <a:ea typeface="Raleway"/>
                <a:cs typeface="Raleway"/>
                <a:sym typeface="Raleway"/>
              </a:rPr>
              <a:t>To address the severe class imbalance, we trained 5 different model versions, each with different penalties for missing aneurysms:</a:t>
            </a:r>
            <a:endParaRPr>
              <a:solidFill>
                <a:schemeClr val="dk1"/>
              </a:solidFill>
            </a:endParaRPr>
          </a:p>
          <a:p>
            <a:pPr indent="0" lvl="0" marL="0" rtl="0" algn="l">
              <a:spcBef>
                <a:spcPts val="0"/>
              </a:spcBef>
              <a:spcAft>
                <a:spcPts val="0"/>
              </a:spcAft>
              <a:buNone/>
            </a:pPr>
            <a:r>
              <a:t/>
            </a:r>
            <a:endParaRPr sz="1100">
              <a:solidFill>
                <a:srgbClr val="1A1A1A"/>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0"/>
          <p:cNvSpPr txBox="1"/>
          <p:nvPr>
            <p:ph type="title"/>
          </p:nvPr>
        </p:nvSpPr>
        <p:spPr>
          <a:xfrm>
            <a:off x="336700" y="9055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a:t>
            </a:r>
            <a:r>
              <a:rPr lang="en">
                <a:solidFill>
                  <a:schemeClr val="accent6"/>
                </a:solidFill>
              </a:rPr>
              <a:t>Results</a:t>
            </a:r>
            <a:endParaRPr>
              <a:solidFill>
                <a:schemeClr val="accent6"/>
              </a:solidFill>
            </a:endParaRPr>
          </a:p>
        </p:txBody>
      </p:sp>
      <p:graphicFrame>
        <p:nvGraphicFramePr>
          <p:cNvPr id="560" name="Google Shape;560;p40"/>
          <p:cNvGraphicFramePr/>
          <p:nvPr/>
        </p:nvGraphicFramePr>
        <p:xfrm>
          <a:off x="159500" y="1835925"/>
          <a:ext cx="3000000" cy="3000000"/>
        </p:xfrm>
        <a:graphic>
          <a:graphicData uri="http://schemas.openxmlformats.org/drawingml/2006/table">
            <a:tbl>
              <a:tblPr>
                <a:noFill/>
                <a:tableStyleId>{FC355999-3DA7-49AD-9D86-4FAB414BE1D7}</a:tableStyleId>
              </a:tblPr>
              <a:tblGrid>
                <a:gridCol w="770675"/>
                <a:gridCol w="1146825"/>
                <a:gridCol w="880775"/>
                <a:gridCol w="980300"/>
                <a:gridCol w="759225"/>
              </a:tblGrid>
              <a:tr h="458850">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Model</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Accuracy</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Recall</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Precision</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Missed</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51525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V1 (8.0)</a:t>
                      </a:r>
                      <a:endParaRPr b="1" sz="1000">
                        <a:solidFill>
                          <a:schemeClr val="dk1"/>
                        </a:solidFill>
                        <a:latin typeface="Raleway"/>
                        <a:ea typeface="Raleway"/>
                        <a:cs typeface="Raleway"/>
                        <a:sym typeface="Raleway"/>
                      </a:endParaRPr>
                    </a:p>
                    <a:p>
                      <a:pPr indent="0" lvl="0" marL="0" rtl="0" algn="ctr">
                        <a:lnSpc>
                          <a:spcPct val="100000"/>
                        </a:lnSpc>
                        <a:spcBef>
                          <a:spcPts val="0"/>
                        </a:spcBef>
                        <a:spcAft>
                          <a:spcPts val="0"/>
                        </a:spcAft>
                        <a:buNone/>
                      </a:pPr>
                      <a:r>
                        <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86.65%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44.87%</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73875">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V2(12.0)</a:t>
                      </a:r>
                      <a:endParaRPr b="1" sz="1000">
                        <a:solidFill>
                          <a:schemeClr val="dk1"/>
                        </a:solidFill>
                        <a:latin typeface="Raleway"/>
                        <a:ea typeface="Raleway"/>
                        <a:cs typeface="Raleway"/>
                        <a:sym typeface="Raleway"/>
                      </a:endParaRPr>
                    </a:p>
                    <a:p>
                      <a:pPr indent="0" lvl="0" marL="0" rtl="0" algn="ctr">
                        <a:lnSpc>
                          <a:spcPct val="100000"/>
                        </a:lnSpc>
                        <a:spcBef>
                          <a:spcPts val="0"/>
                        </a:spcBef>
                        <a:spcAft>
                          <a:spcPts val="0"/>
                        </a:spcAft>
                        <a:buNone/>
                      </a:pPr>
                      <a:r>
                        <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89.53%</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83.72%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52.17%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6570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V3(9.0)</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90.58%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55.56%</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5580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V4(8.5)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84.82%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41.18%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75625">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V5(7.5)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90.05%</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83.72%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53.73%</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bl>
          </a:graphicData>
        </a:graphic>
      </p:graphicFrame>
      <p:sp>
        <p:nvSpPr>
          <p:cNvPr id="561" name="Google Shape;561;p40"/>
          <p:cNvSpPr/>
          <p:nvPr/>
        </p:nvSpPr>
        <p:spPr>
          <a:xfrm flipH="1" rot="-918282">
            <a:off x="8307180" y="851779"/>
            <a:ext cx="121613" cy="121613"/>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2" name="Google Shape;562;p40" title="Screenshot 2025-12-01 at 11.08.47 PM.png"/>
          <p:cNvPicPr preferRelativeResize="0"/>
          <p:nvPr/>
        </p:nvPicPr>
        <p:blipFill rotWithShape="1">
          <a:blip r:embed="rId3">
            <a:alphaModFix/>
          </a:blip>
          <a:srcRect b="0" l="447" r="0" t="0"/>
          <a:stretch/>
        </p:blipFill>
        <p:spPr>
          <a:xfrm>
            <a:off x="4820550" y="290475"/>
            <a:ext cx="3974901" cy="2569546"/>
          </a:xfrm>
          <a:prstGeom prst="rect">
            <a:avLst/>
          </a:prstGeom>
          <a:noFill/>
          <a:ln>
            <a:noFill/>
          </a:ln>
        </p:spPr>
      </p:pic>
      <p:sp>
        <p:nvSpPr>
          <p:cNvPr id="563" name="Google Shape;563;p40"/>
          <p:cNvSpPr txBox="1"/>
          <p:nvPr/>
        </p:nvSpPr>
        <p:spPr>
          <a:xfrm flipH="1">
            <a:off x="4820550" y="2860025"/>
            <a:ext cx="4242000" cy="18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Why We Chose V5:</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Tied for best recall (83.72%)</a:t>
            </a:r>
            <a:r>
              <a:rPr lang="en" sz="1300">
                <a:solidFill>
                  <a:schemeClr val="dk1"/>
                </a:solidFill>
              </a:rPr>
              <a:t> - catches the most aneurysms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Only 7 missed aneurysms</a:t>
            </a:r>
            <a:r>
              <a:rPr lang="en" sz="1300">
                <a:solidFill>
                  <a:schemeClr val="dk1"/>
                </a:solidFill>
              </a:rPr>
              <a:t> (fewest false negatives)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Strong precision (53.73%)</a:t>
            </a:r>
            <a:r>
              <a:rPr lang="en" sz="1300">
                <a:solidFill>
                  <a:schemeClr val="dk1"/>
                </a:solidFill>
              </a:rPr>
              <a:t> - balanced false alarm rate</a:t>
            </a:r>
            <a:endParaRPr sz="1300">
              <a:solidFill>
                <a:schemeClr val="dk1"/>
              </a:solidFill>
            </a:endParaRPr>
          </a:p>
          <a:p>
            <a:pPr indent="0" lvl="0" marL="457200" rtl="0" algn="l">
              <a:lnSpc>
                <a:spcPct val="115000"/>
              </a:lnSpc>
              <a:spcBef>
                <a:spcPts val="1200"/>
              </a:spcBef>
              <a:spcAft>
                <a:spcPts val="0"/>
              </a:spcAft>
              <a:buNone/>
            </a:pPr>
            <a:r>
              <a:t/>
            </a:r>
            <a:endParaRPr b="1" sz="1300">
              <a:solidFill>
                <a:schemeClr val="dk1"/>
              </a:solidFill>
            </a:endParaRPr>
          </a:p>
          <a:p>
            <a:pPr indent="0" lvl="0" marL="0" rtl="0" algn="l">
              <a:spcBef>
                <a:spcPts val="1200"/>
              </a:spcBef>
              <a:spcAft>
                <a:spcPts val="0"/>
              </a:spcAft>
              <a:buNone/>
            </a:pPr>
            <a:r>
              <a:t/>
            </a:r>
            <a:endParaRPr sz="1300">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1"/>
          <p:cNvSpPr txBox="1"/>
          <p:nvPr>
            <p:ph type="title"/>
          </p:nvPr>
        </p:nvSpPr>
        <p:spPr>
          <a:xfrm>
            <a:off x="989050" y="640475"/>
            <a:ext cx="4476900" cy="101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6"/>
                </a:solidFill>
              </a:rPr>
              <a:t>Bias </a:t>
            </a:r>
            <a:r>
              <a:rPr lang="en"/>
              <a:t> Mitigation</a:t>
            </a:r>
            <a:endParaRPr/>
          </a:p>
        </p:txBody>
      </p:sp>
      <p:sp>
        <p:nvSpPr>
          <p:cNvPr id="569" name="Google Shape;569;p41"/>
          <p:cNvSpPr txBox="1"/>
          <p:nvPr>
            <p:ph idx="1" type="subTitle"/>
          </p:nvPr>
        </p:nvSpPr>
        <p:spPr>
          <a:xfrm>
            <a:off x="1339950" y="2052678"/>
            <a:ext cx="5827800" cy="2824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 Transparent Evaluation - Tested 5 models, reported all metrics (not just accuracy)</a:t>
            </a:r>
            <a:endParaRPr sz="1500"/>
          </a:p>
          <a:p>
            <a:pPr indent="-323850" lvl="0" marL="457200" rtl="0" algn="l">
              <a:spcBef>
                <a:spcPts val="0"/>
              </a:spcBef>
              <a:spcAft>
                <a:spcPts val="0"/>
              </a:spcAft>
              <a:buSzPts val="1500"/>
              <a:buChar char="●"/>
            </a:pPr>
            <a:r>
              <a:rPr lang="en" sz="1500"/>
              <a:t>✓ Prioritized Patient Safety - High recall (83.72%) reduces missed life-threatening cases</a:t>
            </a:r>
            <a:endParaRPr sz="1500"/>
          </a:p>
          <a:p>
            <a:pPr indent="-323850" lvl="0" marL="457200" rtl="0" algn="l">
              <a:spcBef>
                <a:spcPts val="0"/>
              </a:spcBef>
              <a:spcAft>
                <a:spcPts val="0"/>
              </a:spcAft>
              <a:buSzPts val="1500"/>
              <a:buChar char="●"/>
            </a:pPr>
            <a:r>
              <a:rPr lang="en" sz="1500"/>
              <a:t>✓ Documented Limitations - Clearly stated dataset biases and generalization concerns</a:t>
            </a:r>
            <a:endParaRPr sz="1500"/>
          </a:p>
          <a:p>
            <a:pPr indent="-323850" lvl="0" marL="457200" rtl="0" algn="l">
              <a:spcBef>
                <a:spcPts val="0"/>
              </a:spcBef>
              <a:spcAft>
                <a:spcPts val="0"/>
              </a:spcAft>
              <a:buSzPts val="1500"/>
              <a:buChar char="●"/>
            </a:pPr>
            <a:r>
              <a:rPr lang="en" sz="1500"/>
              <a:t>✓ Designed as Assistive Tool - Supports (not replaces) radiologists' judgment</a:t>
            </a:r>
            <a:endParaRPr sz="1500"/>
          </a:p>
          <a:p>
            <a:pPr indent="-323850" lvl="0" marL="457200" rtl="0" algn="l">
              <a:spcBef>
                <a:spcPts val="0"/>
              </a:spcBef>
              <a:spcAft>
                <a:spcPts val="0"/>
              </a:spcAft>
              <a:buSzPts val="1500"/>
              <a:buChar char="●"/>
            </a:pPr>
            <a:r>
              <a:rPr lang="en" sz="1500"/>
              <a:t>✓ Systematic Approach - Used class weights and data augmentation to address imbalance</a:t>
            </a:r>
            <a:endParaRPr sz="1500"/>
          </a:p>
          <a:p>
            <a:pPr indent="-323850" lvl="0" marL="457200" rtl="0" algn="ctr">
              <a:spcBef>
                <a:spcPts val="0"/>
              </a:spcBef>
              <a:spcAft>
                <a:spcPts val="0"/>
              </a:spcAft>
              <a:buSzPts val="1500"/>
              <a:buChar char="●"/>
            </a:pPr>
            <a:r>
              <a:t/>
            </a:r>
            <a:endParaRPr sz="1500"/>
          </a:p>
        </p:txBody>
      </p:sp>
      <p:sp>
        <p:nvSpPr>
          <p:cNvPr id="570" name="Google Shape;570;p41"/>
          <p:cNvSpPr/>
          <p:nvPr/>
        </p:nvSpPr>
        <p:spPr>
          <a:xfrm>
            <a:off x="6987900" y="401988"/>
            <a:ext cx="1841204" cy="4339516"/>
          </a:xfrm>
          <a:custGeom>
            <a:rect b="b" l="l" r="r" t="t"/>
            <a:pathLst>
              <a:path extrusionOk="0" h="53293" w="23637">
                <a:moveTo>
                  <a:pt x="11871" y="0"/>
                </a:moveTo>
                <a:cubicBezTo>
                  <a:pt x="11838" y="0"/>
                  <a:pt x="11819" y="1"/>
                  <a:pt x="11818" y="1"/>
                </a:cubicBezTo>
                <a:cubicBezTo>
                  <a:pt x="11817" y="1"/>
                  <a:pt x="11800" y="1"/>
                  <a:pt x="11770" y="1"/>
                </a:cubicBezTo>
                <a:cubicBezTo>
                  <a:pt x="11437" y="1"/>
                  <a:pt x="9479" y="120"/>
                  <a:pt x="9694" y="3003"/>
                </a:cubicBezTo>
                <a:cubicBezTo>
                  <a:pt x="9653" y="2978"/>
                  <a:pt x="9603" y="2963"/>
                  <a:pt x="9555" y="2963"/>
                </a:cubicBezTo>
                <a:cubicBezTo>
                  <a:pt x="9523" y="2963"/>
                  <a:pt x="9491" y="2969"/>
                  <a:pt x="9463" y="2982"/>
                </a:cubicBezTo>
                <a:cubicBezTo>
                  <a:pt x="9392" y="3016"/>
                  <a:pt x="9335" y="3078"/>
                  <a:pt x="9299" y="3148"/>
                </a:cubicBezTo>
                <a:cubicBezTo>
                  <a:pt x="9229" y="3281"/>
                  <a:pt x="9226" y="3438"/>
                  <a:pt x="9249" y="3586"/>
                </a:cubicBezTo>
                <a:cubicBezTo>
                  <a:pt x="9274" y="3733"/>
                  <a:pt x="9323" y="3876"/>
                  <a:pt x="9358" y="4019"/>
                </a:cubicBezTo>
                <a:cubicBezTo>
                  <a:pt x="9377" y="4102"/>
                  <a:pt x="9393" y="4184"/>
                  <a:pt x="9421" y="4263"/>
                </a:cubicBezTo>
                <a:cubicBezTo>
                  <a:pt x="9449" y="4341"/>
                  <a:pt x="9494" y="4418"/>
                  <a:pt x="9559" y="4468"/>
                </a:cubicBezTo>
                <a:cubicBezTo>
                  <a:pt x="9642" y="4531"/>
                  <a:pt x="9748" y="4549"/>
                  <a:pt x="9854" y="4549"/>
                </a:cubicBezTo>
                <a:cubicBezTo>
                  <a:pt x="9888" y="4549"/>
                  <a:pt x="9922" y="4547"/>
                  <a:pt x="9956" y="4544"/>
                </a:cubicBezTo>
                <a:cubicBezTo>
                  <a:pt x="10129" y="4885"/>
                  <a:pt x="10028" y="5304"/>
                  <a:pt x="10204" y="5643"/>
                </a:cubicBezTo>
                <a:cubicBezTo>
                  <a:pt x="10204" y="5643"/>
                  <a:pt x="10270" y="7072"/>
                  <a:pt x="10197" y="7409"/>
                </a:cubicBezTo>
                <a:cubicBezTo>
                  <a:pt x="9490" y="7935"/>
                  <a:pt x="8665" y="8365"/>
                  <a:pt x="7819" y="8613"/>
                </a:cubicBezTo>
                <a:cubicBezTo>
                  <a:pt x="7377" y="8742"/>
                  <a:pt x="6919" y="8833"/>
                  <a:pt x="6513" y="9052"/>
                </a:cubicBezTo>
                <a:cubicBezTo>
                  <a:pt x="6152" y="9248"/>
                  <a:pt x="5850" y="9537"/>
                  <a:pt x="5588" y="9854"/>
                </a:cubicBezTo>
                <a:cubicBezTo>
                  <a:pt x="5096" y="10447"/>
                  <a:pt x="4805" y="11109"/>
                  <a:pt x="4762" y="11956"/>
                </a:cubicBezTo>
                <a:cubicBezTo>
                  <a:pt x="4733" y="12544"/>
                  <a:pt x="4631" y="13127"/>
                  <a:pt x="4640" y="13716"/>
                </a:cubicBezTo>
                <a:cubicBezTo>
                  <a:pt x="4329" y="14186"/>
                  <a:pt x="4231" y="14830"/>
                  <a:pt x="4135" y="15384"/>
                </a:cubicBezTo>
                <a:cubicBezTo>
                  <a:pt x="4041" y="15938"/>
                  <a:pt x="3978" y="16503"/>
                  <a:pt x="3791" y="17034"/>
                </a:cubicBezTo>
                <a:cubicBezTo>
                  <a:pt x="3381" y="18198"/>
                  <a:pt x="2898" y="19361"/>
                  <a:pt x="2664" y="20571"/>
                </a:cubicBezTo>
                <a:cubicBezTo>
                  <a:pt x="2423" y="21811"/>
                  <a:pt x="2228" y="23092"/>
                  <a:pt x="1600" y="24187"/>
                </a:cubicBezTo>
                <a:cubicBezTo>
                  <a:pt x="1433" y="24476"/>
                  <a:pt x="1048" y="24570"/>
                  <a:pt x="794" y="24787"/>
                </a:cubicBezTo>
                <a:cubicBezTo>
                  <a:pt x="560" y="24985"/>
                  <a:pt x="410" y="25264"/>
                  <a:pt x="308" y="25554"/>
                </a:cubicBezTo>
                <a:cubicBezTo>
                  <a:pt x="206" y="25842"/>
                  <a:pt x="147" y="26145"/>
                  <a:pt x="65" y="26438"/>
                </a:cubicBezTo>
                <a:cubicBezTo>
                  <a:pt x="37" y="26537"/>
                  <a:pt x="7" y="26651"/>
                  <a:pt x="64" y="26738"/>
                </a:cubicBezTo>
                <a:cubicBezTo>
                  <a:pt x="120" y="26825"/>
                  <a:pt x="233" y="26841"/>
                  <a:pt x="340" y="26841"/>
                </a:cubicBezTo>
                <a:cubicBezTo>
                  <a:pt x="356" y="26841"/>
                  <a:pt x="372" y="26841"/>
                  <a:pt x="388" y="26840"/>
                </a:cubicBezTo>
                <a:lnTo>
                  <a:pt x="388" y="26840"/>
                </a:lnTo>
                <a:cubicBezTo>
                  <a:pt x="294" y="27525"/>
                  <a:pt x="0" y="28193"/>
                  <a:pt x="49" y="28882"/>
                </a:cubicBezTo>
                <a:cubicBezTo>
                  <a:pt x="53" y="28943"/>
                  <a:pt x="60" y="29007"/>
                  <a:pt x="88" y="29062"/>
                </a:cubicBezTo>
                <a:cubicBezTo>
                  <a:pt x="117" y="29118"/>
                  <a:pt x="169" y="29164"/>
                  <a:pt x="232" y="29170"/>
                </a:cubicBezTo>
                <a:cubicBezTo>
                  <a:pt x="237" y="29170"/>
                  <a:pt x="241" y="29170"/>
                  <a:pt x="246" y="29170"/>
                </a:cubicBezTo>
                <a:cubicBezTo>
                  <a:pt x="332" y="29170"/>
                  <a:pt x="401" y="29093"/>
                  <a:pt x="445" y="29016"/>
                </a:cubicBezTo>
                <a:cubicBezTo>
                  <a:pt x="613" y="28712"/>
                  <a:pt x="598" y="28327"/>
                  <a:pt x="789" y="28037"/>
                </a:cubicBezTo>
                <a:lnTo>
                  <a:pt x="789" y="28037"/>
                </a:lnTo>
                <a:cubicBezTo>
                  <a:pt x="746" y="28442"/>
                  <a:pt x="709" y="28853"/>
                  <a:pt x="666" y="29259"/>
                </a:cubicBezTo>
                <a:cubicBezTo>
                  <a:pt x="654" y="29372"/>
                  <a:pt x="644" y="29495"/>
                  <a:pt x="705" y="29591"/>
                </a:cubicBezTo>
                <a:cubicBezTo>
                  <a:pt x="751" y="29667"/>
                  <a:pt x="840" y="29713"/>
                  <a:pt x="929" y="29713"/>
                </a:cubicBezTo>
                <a:cubicBezTo>
                  <a:pt x="943" y="29713"/>
                  <a:pt x="957" y="29712"/>
                  <a:pt x="971" y="29709"/>
                </a:cubicBezTo>
                <a:cubicBezTo>
                  <a:pt x="1071" y="29690"/>
                  <a:pt x="1156" y="29607"/>
                  <a:pt x="1178" y="29507"/>
                </a:cubicBezTo>
                <a:cubicBezTo>
                  <a:pt x="1213" y="29531"/>
                  <a:pt x="1259" y="29543"/>
                  <a:pt x="1305" y="29543"/>
                </a:cubicBezTo>
                <a:cubicBezTo>
                  <a:pt x="1349" y="29543"/>
                  <a:pt x="1393" y="29533"/>
                  <a:pt x="1428" y="29513"/>
                </a:cubicBezTo>
                <a:cubicBezTo>
                  <a:pt x="1500" y="29473"/>
                  <a:pt x="1553" y="29405"/>
                  <a:pt x="1595" y="29335"/>
                </a:cubicBezTo>
                <a:cubicBezTo>
                  <a:pt x="1806" y="28997"/>
                  <a:pt x="1849" y="28583"/>
                  <a:pt x="1954" y="28198"/>
                </a:cubicBezTo>
                <a:cubicBezTo>
                  <a:pt x="2026" y="27928"/>
                  <a:pt x="2131" y="27665"/>
                  <a:pt x="2265" y="27418"/>
                </a:cubicBezTo>
                <a:lnTo>
                  <a:pt x="2265" y="27418"/>
                </a:lnTo>
                <a:cubicBezTo>
                  <a:pt x="2222" y="27844"/>
                  <a:pt x="2192" y="28256"/>
                  <a:pt x="2149" y="28681"/>
                </a:cubicBezTo>
                <a:cubicBezTo>
                  <a:pt x="2144" y="28737"/>
                  <a:pt x="2139" y="28793"/>
                  <a:pt x="2152" y="28846"/>
                </a:cubicBezTo>
                <a:cubicBezTo>
                  <a:pt x="2163" y="28900"/>
                  <a:pt x="2198" y="28953"/>
                  <a:pt x="2250" y="28971"/>
                </a:cubicBezTo>
                <a:cubicBezTo>
                  <a:pt x="2266" y="28977"/>
                  <a:pt x="2282" y="28980"/>
                  <a:pt x="2299" y="28980"/>
                </a:cubicBezTo>
                <a:cubicBezTo>
                  <a:pt x="2334" y="28980"/>
                  <a:pt x="2371" y="28967"/>
                  <a:pt x="2402" y="28949"/>
                </a:cubicBezTo>
                <a:cubicBezTo>
                  <a:pt x="2514" y="28885"/>
                  <a:pt x="2581" y="28761"/>
                  <a:pt x="2610" y="28634"/>
                </a:cubicBezTo>
                <a:cubicBezTo>
                  <a:pt x="2640" y="28508"/>
                  <a:pt x="2641" y="28376"/>
                  <a:pt x="2658" y="28250"/>
                </a:cubicBezTo>
                <a:cubicBezTo>
                  <a:pt x="2699" y="27954"/>
                  <a:pt x="2828" y="27681"/>
                  <a:pt x="2935" y="27403"/>
                </a:cubicBezTo>
                <a:cubicBezTo>
                  <a:pt x="3163" y="26812"/>
                  <a:pt x="3301" y="26186"/>
                  <a:pt x="3341" y="25556"/>
                </a:cubicBezTo>
                <a:cubicBezTo>
                  <a:pt x="3357" y="25304"/>
                  <a:pt x="3316" y="25081"/>
                  <a:pt x="3338" y="24828"/>
                </a:cubicBezTo>
                <a:cubicBezTo>
                  <a:pt x="3359" y="24578"/>
                  <a:pt x="3425" y="24324"/>
                  <a:pt x="3564" y="24114"/>
                </a:cubicBezTo>
                <a:cubicBezTo>
                  <a:pt x="4181" y="23181"/>
                  <a:pt x="4736" y="22276"/>
                  <a:pt x="5281" y="21299"/>
                </a:cubicBezTo>
                <a:cubicBezTo>
                  <a:pt x="5824" y="20322"/>
                  <a:pt x="6243" y="19236"/>
                  <a:pt x="6211" y="18118"/>
                </a:cubicBezTo>
                <a:cubicBezTo>
                  <a:pt x="6185" y="17126"/>
                  <a:pt x="7084" y="16364"/>
                  <a:pt x="7268" y="15391"/>
                </a:cubicBezTo>
                <a:lnTo>
                  <a:pt x="7268" y="15391"/>
                </a:lnTo>
                <a:cubicBezTo>
                  <a:pt x="7247" y="16160"/>
                  <a:pt x="7474" y="16917"/>
                  <a:pt x="7642" y="17668"/>
                </a:cubicBezTo>
                <a:cubicBezTo>
                  <a:pt x="7810" y="18420"/>
                  <a:pt x="7934" y="19209"/>
                  <a:pt x="7746" y="19955"/>
                </a:cubicBezTo>
                <a:cubicBezTo>
                  <a:pt x="7553" y="20721"/>
                  <a:pt x="7334" y="21501"/>
                  <a:pt x="7472" y="22281"/>
                </a:cubicBezTo>
                <a:cubicBezTo>
                  <a:pt x="7650" y="23293"/>
                  <a:pt x="7302" y="24329"/>
                  <a:pt x="7082" y="25335"/>
                </a:cubicBezTo>
                <a:cubicBezTo>
                  <a:pt x="6655" y="27287"/>
                  <a:pt x="6598" y="29321"/>
                  <a:pt x="6918" y="31294"/>
                </a:cubicBezTo>
                <a:cubicBezTo>
                  <a:pt x="7219" y="33155"/>
                  <a:pt x="7728" y="34961"/>
                  <a:pt x="8345" y="36742"/>
                </a:cubicBezTo>
                <a:lnTo>
                  <a:pt x="8363" y="36857"/>
                </a:lnTo>
                <a:cubicBezTo>
                  <a:pt x="8513" y="38132"/>
                  <a:pt x="8406" y="39421"/>
                  <a:pt x="8390" y="40705"/>
                </a:cubicBezTo>
                <a:cubicBezTo>
                  <a:pt x="8375" y="41990"/>
                  <a:pt x="8459" y="43305"/>
                  <a:pt x="8964" y="44486"/>
                </a:cubicBezTo>
                <a:cubicBezTo>
                  <a:pt x="9357" y="45405"/>
                  <a:pt x="9419" y="46455"/>
                  <a:pt x="9451" y="47455"/>
                </a:cubicBezTo>
                <a:cubicBezTo>
                  <a:pt x="9476" y="48271"/>
                  <a:pt x="9371" y="49091"/>
                  <a:pt x="9474" y="49899"/>
                </a:cubicBezTo>
                <a:cubicBezTo>
                  <a:pt x="9508" y="50172"/>
                  <a:pt x="9325" y="50418"/>
                  <a:pt x="9254" y="50683"/>
                </a:cubicBezTo>
                <a:cubicBezTo>
                  <a:pt x="9195" y="50896"/>
                  <a:pt x="9135" y="51112"/>
                  <a:pt x="9014" y="51299"/>
                </a:cubicBezTo>
                <a:cubicBezTo>
                  <a:pt x="8879" y="51508"/>
                  <a:pt x="8671" y="51674"/>
                  <a:pt x="8587" y="51909"/>
                </a:cubicBezTo>
                <a:cubicBezTo>
                  <a:pt x="8524" y="52083"/>
                  <a:pt x="8536" y="52279"/>
                  <a:pt x="8471" y="52453"/>
                </a:cubicBezTo>
                <a:cubicBezTo>
                  <a:pt x="8443" y="52527"/>
                  <a:pt x="8401" y="52593"/>
                  <a:pt x="8372" y="52668"/>
                </a:cubicBezTo>
                <a:cubicBezTo>
                  <a:pt x="8342" y="52742"/>
                  <a:pt x="8327" y="52823"/>
                  <a:pt x="8354" y="52898"/>
                </a:cubicBezTo>
                <a:cubicBezTo>
                  <a:pt x="8378" y="52964"/>
                  <a:pt x="8442" y="53017"/>
                  <a:pt x="8509" y="53017"/>
                </a:cubicBezTo>
                <a:cubicBezTo>
                  <a:pt x="8518" y="53017"/>
                  <a:pt x="8527" y="53016"/>
                  <a:pt x="8536" y="53014"/>
                </a:cubicBezTo>
                <a:cubicBezTo>
                  <a:pt x="8675" y="53094"/>
                  <a:pt x="8831" y="53111"/>
                  <a:pt x="8993" y="53111"/>
                </a:cubicBezTo>
                <a:cubicBezTo>
                  <a:pt x="9113" y="53111"/>
                  <a:pt x="9235" y="53102"/>
                  <a:pt x="9356" y="53102"/>
                </a:cubicBezTo>
                <a:cubicBezTo>
                  <a:pt x="9468" y="53102"/>
                  <a:pt x="9579" y="53110"/>
                  <a:pt x="9684" y="53141"/>
                </a:cubicBezTo>
                <a:cubicBezTo>
                  <a:pt x="9825" y="53183"/>
                  <a:pt x="9953" y="53268"/>
                  <a:pt x="10101" y="53288"/>
                </a:cubicBezTo>
                <a:cubicBezTo>
                  <a:pt x="10124" y="53291"/>
                  <a:pt x="10147" y="53293"/>
                  <a:pt x="10169" y="53293"/>
                </a:cubicBezTo>
                <a:cubicBezTo>
                  <a:pt x="10383" y="53293"/>
                  <a:pt x="10584" y="53159"/>
                  <a:pt x="10737" y="53004"/>
                </a:cubicBezTo>
                <a:cubicBezTo>
                  <a:pt x="11185" y="52551"/>
                  <a:pt x="11380" y="51867"/>
                  <a:pt x="11244" y="51245"/>
                </a:cubicBezTo>
                <a:cubicBezTo>
                  <a:pt x="11198" y="51039"/>
                  <a:pt x="11120" y="50810"/>
                  <a:pt x="11223" y="50626"/>
                </a:cubicBezTo>
                <a:cubicBezTo>
                  <a:pt x="11282" y="50520"/>
                  <a:pt x="11390" y="50451"/>
                  <a:pt x="11477" y="50366"/>
                </a:cubicBezTo>
                <a:cubicBezTo>
                  <a:pt x="11691" y="50159"/>
                  <a:pt x="11780" y="49829"/>
                  <a:pt x="11698" y="49543"/>
                </a:cubicBezTo>
                <a:cubicBezTo>
                  <a:pt x="11501" y="49405"/>
                  <a:pt x="11458" y="49128"/>
                  <a:pt x="11451" y="48888"/>
                </a:cubicBezTo>
                <a:cubicBezTo>
                  <a:pt x="11444" y="48647"/>
                  <a:pt x="11494" y="48409"/>
                  <a:pt x="11487" y="48168"/>
                </a:cubicBezTo>
                <a:cubicBezTo>
                  <a:pt x="11480" y="47872"/>
                  <a:pt x="11387" y="47579"/>
                  <a:pt x="11223" y="47336"/>
                </a:cubicBezTo>
                <a:cubicBezTo>
                  <a:pt x="10799" y="46702"/>
                  <a:pt x="11169" y="45607"/>
                  <a:pt x="11242" y="44879"/>
                </a:cubicBezTo>
                <a:cubicBezTo>
                  <a:pt x="11390" y="43424"/>
                  <a:pt x="11723" y="41953"/>
                  <a:pt x="11517" y="40506"/>
                </a:cubicBezTo>
                <a:cubicBezTo>
                  <a:pt x="11395" y="39653"/>
                  <a:pt x="11120" y="38805"/>
                  <a:pt x="11203" y="37946"/>
                </a:cubicBezTo>
                <a:cubicBezTo>
                  <a:pt x="11347" y="36469"/>
                  <a:pt x="11292" y="35004"/>
                  <a:pt x="11348" y="33521"/>
                </a:cubicBezTo>
                <a:cubicBezTo>
                  <a:pt x="11383" y="32586"/>
                  <a:pt x="11535" y="31659"/>
                  <a:pt x="11587" y="30725"/>
                </a:cubicBezTo>
                <a:cubicBezTo>
                  <a:pt x="11660" y="29421"/>
                  <a:pt x="11544" y="28113"/>
                  <a:pt x="11427" y="26813"/>
                </a:cubicBezTo>
                <a:lnTo>
                  <a:pt x="12210" y="26813"/>
                </a:lnTo>
                <a:cubicBezTo>
                  <a:pt x="12093" y="28115"/>
                  <a:pt x="11976" y="29421"/>
                  <a:pt x="12050" y="30725"/>
                </a:cubicBezTo>
                <a:cubicBezTo>
                  <a:pt x="12104" y="31659"/>
                  <a:pt x="12254" y="32586"/>
                  <a:pt x="12288" y="33521"/>
                </a:cubicBezTo>
                <a:cubicBezTo>
                  <a:pt x="12344" y="35004"/>
                  <a:pt x="12290" y="36469"/>
                  <a:pt x="12433" y="37946"/>
                </a:cubicBezTo>
                <a:cubicBezTo>
                  <a:pt x="12517" y="38805"/>
                  <a:pt x="12242" y="39652"/>
                  <a:pt x="12120" y="40506"/>
                </a:cubicBezTo>
                <a:cubicBezTo>
                  <a:pt x="11915" y="41953"/>
                  <a:pt x="12247" y="43425"/>
                  <a:pt x="12394" y="44879"/>
                </a:cubicBezTo>
                <a:cubicBezTo>
                  <a:pt x="12469" y="45607"/>
                  <a:pt x="12838" y="46702"/>
                  <a:pt x="12414" y="47336"/>
                </a:cubicBezTo>
                <a:cubicBezTo>
                  <a:pt x="12250" y="47580"/>
                  <a:pt x="12156" y="47872"/>
                  <a:pt x="12149" y="48168"/>
                </a:cubicBezTo>
                <a:cubicBezTo>
                  <a:pt x="12143" y="48407"/>
                  <a:pt x="12192" y="48646"/>
                  <a:pt x="12185" y="48888"/>
                </a:cubicBezTo>
                <a:cubicBezTo>
                  <a:pt x="12179" y="49128"/>
                  <a:pt x="12136" y="49405"/>
                  <a:pt x="11938" y="49543"/>
                </a:cubicBezTo>
                <a:cubicBezTo>
                  <a:pt x="11858" y="49829"/>
                  <a:pt x="11947" y="50159"/>
                  <a:pt x="12159" y="50366"/>
                </a:cubicBezTo>
                <a:cubicBezTo>
                  <a:pt x="12247" y="50451"/>
                  <a:pt x="12355" y="50520"/>
                  <a:pt x="12414" y="50626"/>
                </a:cubicBezTo>
                <a:cubicBezTo>
                  <a:pt x="12517" y="50810"/>
                  <a:pt x="12439" y="51039"/>
                  <a:pt x="12393" y="51245"/>
                </a:cubicBezTo>
                <a:cubicBezTo>
                  <a:pt x="12256" y="51866"/>
                  <a:pt x="12452" y="52549"/>
                  <a:pt x="12899" y="53004"/>
                </a:cubicBezTo>
                <a:cubicBezTo>
                  <a:pt x="13052" y="53159"/>
                  <a:pt x="13254" y="53293"/>
                  <a:pt x="13467" y="53293"/>
                </a:cubicBezTo>
                <a:cubicBezTo>
                  <a:pt x="13490" y="53293"/>
                  <a:pt x="13513" y="53291"/>
                  <a:pt x="13537" y="53288"/>
                </a:cubicBezTo>
                <a:cubicBezTo>
                  <a:pt x="13683" y="53268"/>
                  <a:pt x="13811" y="53183"/>
                  <a:pt x="13952" y="53141"/>
                </a:cubicBezTo>
                <a:cubicBezTo>
                  <a:pt x="14059" y="53109"/>
                  <a:pt x="14170" y="53101"/>
                  <a:pt x="14283" y="53101"/>
                </a:cubicBezTo>
                <a:cubicBezTo>
                  <a:pt x="14404" y="53101"/>
                  <a:pt x="14526" y="53111"/>
                  <a:pt x="14645" y="53111"/>
                </a:cubicBezTo>
                <a:cubicBezTo>
                  <a:pt x="14806" y="53111"/>
                  <a:pt x="14961" y="53094"/>
                  <a:pt x="15100" y="53014"/>
                </a:cubicBezTo>
                <a:cubicBezTo>
                  <a:pt x="15109" y="53016"/>
                  <a:pt x="15118" y="53017"/>
                  <a:pt x="15127" y="53017"/>
                </a:cubicBezTo>
                <a:cubicBezTo>
                  <a:pt x="15194" y="53017"/>
                  <a:pt x="15258" y="52964"/>
                  <a:pt x="15282" y="52898"/>
                </a:cubicBezTo>
                <a:cubicBezTo>
                  <a:pt x="15309" y="52824"/>
                  <a:pt x="15293" y="52742"/>
                  <a:pt x="15265" y="52668"/>
                </a:cubicBezTo>
                <a:cubicBezTo>
                  <a:pt x="15235" y="52593"/>
                  <a:pt x="15194" y="52527"/>
                  <a:pt x="15166" y="52453"/>
                </a:cubicBezTo>
                <a:cubicBezTo>
                  <a:pt x="15100" y="52280"/>
                  <a:pt x="15114" y="52084"/>
                  <a:pt x="15050" y="51909"/>
                </a:cubicBezTo>
                <a:cubicBezTo>
                  <a:pt x="14965" y="51674"/>
                  <a:pt x="14758" y="51508"/>
                  <a:pt x="14622" y="51299"/>
                </a:cubicBezTo>
                <a:cubicBezTo>
                  <a:pt x="14503" y="51114"/>
                  <a:pt x="14443" y="50896"/>
                  <a:pt x="14384" y="50683"/>
                </a:cubicBezTo>
                <a:cubicBezTo>
                  <a:pt x="14311" y="50419"/>
                  <a:pt x="14128" y="50172"/>
                  <a:pt x="14164" y="49899"/>
                </a:cubicBezTo>
                <a:cubicBezTo>
                  <a:pt x="14268" y="49091"/>
                  <a:pt x="14160" y="48271"/>
                  <a:pt x="14186" y="47455"/>
                </a:cubicBezTo>
                <a:cubicBezTo>
                  <a:pt x="14217" y="46455"/>
                  <a:pt x="14281" y="45406"/>
                  <a:pt x="14673" y="44486"/>
                </a:cubicBezTo>
                <a:cubicBezTo>
                  <a:pt x="15178" y="43305"/>
                  <a:pt x="15261" y="41990"/>
                  <a:pt x="15247" y="40705"/>
                </a:cubicBezTo>
                <a:cubicBezTo>
                  <a:pt x="15232" y="39421"/>
                  <a:pt x="15124" y="38132"/>
                  <a:pt x="15275" y="36857"/>
                </a:cubicBezTo>
                <a:lnTo>
                  <a:pt x="15292" y="36742"/>
                </a:lnTo>
                <a:cubicBezTo>
                  <a:pt x="15909" y="34961"/>
                  <a:pt x="16418" y="33153"/>
                  <a:pt x="16719" y="31294"/>
                </a:cubicBezTo>
                <a:cubicBezTo>
                  <a:pt x="17039" y="29320"/>
                  <a:pt x="16982" y="27287"/>
                  <a:pt x="16554" y="25335"/>
                </a:cubicBezTo>
                <a:cubicBezTo>
                  <a:pt x="16334" y="24329"/>
                  <a:pt x="15987" y="23293"/>
                  <a:pt x="16166" y="22281"/>
                </a:cubicBezTo>
                <a:cubicBezTo>
                  <a:pt x="16302" y="21503"/>
                  <a:pt x="16084" y="20722"/>
                  <a:pt x="15891" y="19955"/>
                </a:cubicBezTo>
                <a:cubicBezTo>
                  <a:pt x="15703" y="19208"/>
                  <a:pt x="15827" y="18420"/>
                  <a:pt x="15995" y="17668"/>
                </a:cubicBezTo>
                <a:cubicBezTo>
                  <a:pt x="16162" y="16917"/>
                  <a:pt x="16390" y="16160"/>
                  <a:pt x="16370" y="15391"/>
                </a:cubicBezTo>
                <a:lnTo>
                  <a:pt x="16370" y="15391"/>
                </a:lnTo>
                <a:cubicBezTo>
                  <a:pt x="16553" y="16364"/>
                  <a:pt x="17453" y="17126"/>
                  <a:pt x="17426" y="18118"/>
                </a:cubicBezTo>
                <a:cubicBezTo>
                  <a:pt x="17395" y="19236"/>
                  <a:pt x="17813" y="20322"/>
                  <a:pt x="18356" y="21299"/>
                </a:cubicBezTo>
                <a:cubicBezTo>
                  <a:pt x="18900" y="22276"/>
                  <a:pt x="19456" y="23181"/>
                  <a:pt x="20073" y="24114"/>
                </a:cubicBezTo>
                <a:cubicBezTo>
                  <a:pt x="20212" y="24324"/>
                  <a:pt x="20278" y="24576"/>
                  <a:pt x="20299" y="24828"/>
                </a:cubicBezTo>
                <a:cubicBezTo>
                  <a:pt x="20321" y="25080"/>
                  <a:pt x="20279" y="25304"/>
                  <a:pt x="20295" y="25556"/>
                </a:cubicBezTo>
                <a:cubicBezTo>
                  <a:pt x="20336" y="26189"/>
                  <a:pt x="20474" y="26813"/>
                  <a:pt x="20702" y="27403"/>
                </a:cubicBezTo>
                <a:cubicBezTo>
                  <a:pt x="20809" y="27681"/>
                  <a:pt x="20938" y="27954"/>
                  <a:pt x="20979" y="28250"/>
                </a:cubicBezTo>
                <a:cubicBezTo>
                  <a:pt x="20996" y="28378"/>
                  <a:pt x="20997" y="28508"/>
                  <a:pt x="21027" y="28634"/>
                </a:cubicBezTo>
                <a:cubicBezTo>
                  <a:pt x="21056" y="28761"/>
                  <a:pt x="21122" y="28885"/>
                  <a:pt x="21234" y="28949"/>
                </a:cubicBezTo>
                <a:cubicBezTo>
                  <a:pt x="21266" y="28967"/>
                  <a:pt x="21302" y="28980"/>
                  <a:pt x="21338" y="28980"/>
                </a:cubicBezTo>
                <a:cubicBezTo>
                  <a:pt x="21354" y="28980"/>
                  <a:pt x="21371" y="28977"/>
                  <a:pt x="21387" y="28971"/>
                </a:cubicBezTo>
                <a:cubicBezTo>
                  <a:pt x="21438" y="28953"/>
                  <a:pt x="21473" y="28900"/>
                  <a:pt x="21486" y="28846"/>
                </a:cubicBezTo>
                <a:cubicBezTo>
                  <a:pt x="21497" y="28793"/>
                  <a:pt x="21492" y="28736"/>
                  <a:pt x="21487" y="28681"/>
                </a:cubicBezTo>
                <a:cubicBezTo>
                  <a:pt x="21444" y="28255"/>
                  <a:pt x="21415" y="27843"/>
                  <a:pt x="21372" y="27418"/>
                </a:cubicBezTo>
                <a:lnTo>
                  <a:pt x="21372" y="27418"/>
                </a:lnTo>
                <a:cubicBezTo>
                  <a:pt x="21506" y="27665"/>
                  <a:pt x="21610" y="27928"/>
                  <a:pt x="21683" y="28198"/>
                </a:cubicBezTo>
                <a:cubicBezTo>
                  <a:pt x="21786" y="28583"/>
                  <a:pt x="21830" y="28996"/>
                  <a:pt x="22042" y="29335"/>
                </a:cubicBezTo>
                <a:cubicBezTo>
                  <a:pt x="22086" y="29405"/>
                  <a:pt x="22138" y="29473"/>
                  <a:pt x="22209" y="29513"/>
                </a:cubicBezTo>
                <a:cubicBezTo>
                  <a:pt x="22244" y="29533"/>
                  <a:pt x="22288" y="29543"/>
                  <a:pt x="22332" y="29543"/>
                </a:cubicBezTo>
                <a:cubicBezTo>
                  <a:pt x="22378" y="29543"/>
                  <a:pt x="22424" y="29531"/>
                  <a:pt x="22458" y="29507"/>
                </a:cubicBezTo>
                <a:cubicBezTo>
                  <a:pt x="22479" y="29607"/>
                  <a:pt x="22564" y="29691"/>
                  <a:pt x="22666" y="29709"/>
                </a:cubicBezTo>
                <a:cubicBezTo>
                  <a:pt x="22680" y="29712"/>
                  <a:pt x="22695" y="29713"/>
                  <a:pt x="22709" y="29713"/>
                </a:cubicBezTo>
                <a:cubicBezTo>
                  <a:pt x="22797" y="29713"/>
                  <a:pt x="22885" y="29666"/>
                  <a:pt x="22933" y="29591"/>
                </a:cubicBezTo>
                <a:cubicBezTo>
                  <a:pt x="22993" y="29495"/>
                  <a:pt x="22983" y="29371"/>
                  <a:pt x="22971" y="29259"/>
                </a:cubicBezTo>
                <a:cubicBezTo>
                  <a:pt x="22928" y="28855"/>
                  <a:pt x="22891" y="28443"/>
                  <a:pt x="22848" y="28037"/>
                </a:cubicBezTo>
                <a:lnTo>
                  <a:pt x="22848" y="28037"/>
                </a:lnTo>
                <a:cubicBezTo>
                  <a:pt x="23038" y="28327"/>
                  <a:pt x="23024" y="28712"/>
                  <a:pt x="23192" y="29016"/>
                </a:cubicBezTo>
                <a:cubicBezTo>
                  <a:pt x="23236" y="29093"/>
                  <a:pt x="23304" y="29170"/>
                  <a:pt x="23391" y="29170"/>
                </a:cubicBezTo>
                <a:cubicBezTo>
                  <a:pt x="23396" y="29170"/>
                  <a:pt x="23400" y="29170"/>
                  <a:pt x="23405" y="29170"/>
                </a:cubicBezTo>
                <a:cubicBezTo>
                  <a:pt x="23466" y="29164"/>
                  <a:pt x="23520" y="29118"/>
                  <a:pt x="23548" y="29062"/>
                </a:cubicBezTo>
                <a:cubicBezTo>
                  <a:pt x="23577" y="29007"/>
                  <a:pt x="23584" y="28943"/>
                  <a:pt x="23589" y="28882"/>
                </a:cubicBezTo>
                <a:cubicBezTo>
                  <a:pt x="23637" y="28192"/>
                  <a:pt x="23343" y="27525"/>
                  <a:pt x="23249" y="26840"/>
                </a:cubicBezTo>
                <a:lnTo>
                  <a:pt x="23249" y="26840"/>
                </a:lnTo>
                <a:cubicBezTo>
                  <a:pt x="23265" y="26841"/>
                  <a:pt x="23281" y="26841"/>
                  <a:pt x="23297" y="26841"/>
                </a:cubicBezTo>
                <a:cubicBezTo>
                  <a:pt x="23403" y="26841"/>
                  <a:pt x="23516" y="26825"/>
                  <a:pt x="23572" y="26738"/>
                </a:cubicBezTo>
                <a:cubicBezTo>
                  <a:pt x="23628" y="26652"/>
                  <a:pt x="23599" y="26537"/>
                  <a:pt x="23571" y="26438"/>
                </a:cubicBezTo>
                <a:cubicBezTo>
                  <a:pt x="23487" y="26145"/>
                  <a:pt x="23429" y="25842"/>
                  <a:pt x="23327" y="25554"/>
                </a:cubicBezTo>
                <a:cubicBezTo>
                  <a:pt x="23225" y="25265"/>
                  <a:pt x="23074" y="24985"/>
                  <a:pt x="22842" y="24787"/>
                </a:cubicBezTo>
                <a:cubicBezTo>
                  <a:pt x="22587" y="24570"/>
                  <a:pt x="22202" y="24476"/>
                  <a:pt x="22036" y="24187"/>
                </a:cubicBezTo>
                <a:cubicBezTo>
                  <a:pt x="21409" y="23092"/>
                  <a:pt x="21212" y="21811"/>
                  <a:pt x="20971" y="20571"/>
                </a:cubicBezTo>
                <a:cubicBezTo>
                  <a:pt x="20737" y="19361"/>
                  <a:pt x="20254" y="18198"/>
                  <a:pt x="19844" y="17034"/>
                </a:cubicBezTo>
                <a:cubicBezTo>
                  <a:pt x="19656" y="16505"/>
                  <a:pt x="19595" y="15939"/>
                  <a:pt x="19500" y="15384"/>
                </a:cubicBezTo>
                <a:cubicBezTo>
                  <a:pt x="19404" y="14830"/>
                  <a:pt x="19305" y="14184"/>
                  <a:pt x="18995" y="13716"/>
                </a:cubicBezTo>
                <a:cubicBezTo>
                  <a:pt x="19005" y="13127"/>
                  <a:pt x="18904" y="12544"/>
                  <a:pt x="18873" y="11956"/>
                </a:cubicBezTo>
                <a:cubicBezTo>
                  <a:pt x="18830" y="11107"/>
                  <a:pt x="18539" y="10447"/>
                  <a:pt x="18047" y="9854"/>
                </a:cubicBezTo>
                <a:cubicBezTo>
                  <a:pt x="17786" y="9537"/>
                  <a:pt x="17483" y="9248"/>
                  <a:pt x="17122" y="9052"/>
                </a:cubicBezTo>
                <a:cubicBezTo>
                  <a:pt x="16718" y="8833"/>
                  <a:pt x="16258" y="8742"/>
                  <a:pt x="15817" y="8613"/>
                </a:cubicBezTo>
                <a:cubicBezTo>
                  <a:pt x="14971" y="8365"/>
                  <a:pt x="14146" y="7935"/>
                  <a:pt x="13439" y="7409"/>
                </a:cubicBezTo>
                <a:cubicBezTo>
                  <a:pt x="13365" y="7072"/>
                  <a:pt x="13431" y="5643"/>
                  <a:pt x="13431" y="5643"/>
                </a:cubicBezTo>
                <a:cubicBezTo>
                  <a:pt x="13607" y="5304"/>
                  <a:pt x="13506" y="4885"/>
                  <a:pt x="13680" y="4544"/>
                </a:cubicBezTo>
                <a:cubicBezTo>
                  <a:pt x="13714" y="4547"/>
                  <a:pt x="13749" y="4549"/>
                  <a:pt x="13784" y="4549"/>
                </a:cubicBezTo>
                <a:cubicBezTo>
                  <a:pt x="13889" y="4549"/>
                  <a:pt x="13994" y="4532"/>
                  <a:pt x="14076" y="4468"/>
                </a:cubicBezTo>
                <a:cubicBezTo>
                  <a:pt x="14143" y="4418"/>
                  <a:pt x="14186" y="4343"/>
                  <a:pt x="14214" y="4263"/>
                </a:cubicBezTo>
                <a:cubicBezTo>
                  <a:pt x="14242" y="4184"/>
                  <a:pt x="14257" y="4102"/>
                  <a:pt x="14277" y="4019"/>
                </a:cubicBezTo>
                <a:cubicBezTo>
                  <a:pt x="14312" y="3875"/>
                  <a:pt x="14362" y="3733"/>
                  <a:pt x="14386" y="3586"/>
                </a:cubicBezTo>
                <a:cubicBezTo>
                  <a:pt x="14410" y="3438"/>
                  <a:pt x="14405" y="3279"/>
                  <a:pt x="14336" y="3148"/>
                </a:cubicBezTo>
                <a:cubicBezTo>
                  <a:pt x="14300" y="3078"/>
                  <a:pt x="14244" y="3016"/>
                  <a:pt x="14172" y="2982"/>
                </a:cubicBezTo>
                <a:cubicBezTo>
                  <a:pt x="14144" y="2969"/>
                  <a:pt x="14113" y="2963"/>
                  <a:pt x="14081" y="2963"/>
                </a:cubicBezTo>
                <a:cubicBezTo>
                  <a:pt x="14032" y="2963"/>
                  <a:pt x="13982" y="2978"/>
                  <a:pt x="13941" y="3003"/>
                </a:cubicBezTo>
                <a:cubicBezTo>
                  <a:pt x="14155" y="135"/>
                  <a:pt x="12220" y="0"/>
                  <a:pt x="11871" y="0"/>
                </a:cubicBezTo>
                <a:close/>
              </a:path>
            </a:pathLst>
          </a:custGeom>
          <a:solidFill>
            <a:srgbClr val="00FFFD">
              <a:alpha val="487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1" name="Google Shape;571;p41"/>
          <p:cNvGrpSpPr/>
          <p:nvPr/>
        </p:nvGrpSpPr>
        <p:grpSpPr>
          <a:xfrm>
            <a:off x="6495069" y="412602"/>
            <a:ext cx="294829" cy="305388"/>
            <a:chOff x="1417003" y="1771128"/>
            <a:chExt cx="395850" cy="410027"/>
          </a:xfrm>
        </p:grpSpPr>
        <p:sp>
          <p:nvSpPr>
            <p:cNvPr id="572" name="Google Shape;572;p41"/>
            <p:cNvSpPr/>
            <p:nvPr/>
          </p:nvSpPr>
          <p:spPr>
            <a:xfrm flipH="1">
              <a:off x="1417003" y="1771128"/>
              <a:ext cx="395850" cy="410027"/>
            </a:xfrm>
            <a:custGeom>
              <a:rect b="b" l="l" r="r" t="t"/>
              <a:pathLst>
                <a:path extrusionOk="0" h="7578" w="7316">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487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1"/>
            <p:cNvSpPr/>
            <p:nvPr/>
          </p:nvSpPr>
          <p:spPr>
            <a:xfrm flipH="1">
              <a:off x="1513585" y="1870686"/>
              <a:ext cx="217025" cy="226602"/>
            </a:xfrm>
            <a:custGeom>
              <a:rect b="b" l="l" r="r" t="t"/>
              <a:pathLst>
                <a:path extrusionOk="0" h="4188" w="4011">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487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1"/>
            <p:cNvSpPr/>
            <p:nvPr/>
          </p:nvSpPr>
          <p:spPr>
            <a:xfrm flipH="1">
              <a:off x="1567368" y="1951144"/>
              <a:ext cx="97935" cy="54162"/>
            </a:xfrm>
            <a:custGeom>
              <a:rect b="b" l="l" r="r" t="t"/>
              <a:pathLst>
                <a:path extrusionOk="0" h="1001" w="1810">
                  <a:moveTo>
                    <a:pt x="671" y="999"/>
                  </a:moveTo>
                  <a:cubicBezTo>
                    <a:pt x="1326" y="993"/>
                    <a:pt x="1809" y="245"/>
                    <a:pt x="995" y="54"/>
                  </a:cubicBezTo>
                  <a:cubicBezTo>
                    <a:pt x="772" y="0"/>
                    <a:pt x="484" y="9"/>
                    <a:pt x="313" y="185"/>
                  </a:cubicBezTo>
                  <a:cubicBezTo>
                    <a:pt x="0" y="506"/>
                    <a:pt x="239" y="1001"/>
                    <a:pt x="671" y="999"/>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41"/>
          <p:cNvGrpSpPr/>
          <p:nvPr/>
        </p:nvGrpSpPr>
        <p:grpSpPr>
          <a:xfrm>
            <a:off x="3428150" y="292200"/>
            <a:ext cx="2037800" cy="1029000"/>
            <a:chOff x="4425525" y="419225"/>
            <a:chExt cx="2037800" cy="1029000"/>
          </a:xfrm>
        </p:grpSpPr>
        <p:sp>
          <p:nvSpPr>
            <p:cNvPr id="576" name="Google Shape;576;p41"/>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1"/>
            <p:cNvSpPr/>
            <p:nvPr/>
          </p:nvSpPr>
          <p:spPr>
            <a:xfrm>
              <a:off x="6396125" y="4192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1"/>
            <p:cNvSpPr/>
            <p:nvPr/>
          </p:nvSpPr>
          <p:spPr>
            <a:xfrm>
              <a:off x="4425525" y="1021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9" name="Google Shape;579;p41"/>
            <p:cNvCxnSpPr>
              <a:stCxn id="576" idx="2"/>
              <a:endCxn id="578" idx="5"/>
            </p:cNvCxnSpPr>
            <p:nvPr/>
          </p:nvCxnSpPr>
          <p:spPr>
            <a:xfrm rot="10800000">
              <a:off x="4529275" y="1125725"/>
              <a:ext cx="797700" cy="288900"/>
            </a:xfrm>
            <a:prstGeom prst="straightConnector1">
              <a:avLst/>
            </a:prstGeom>
            <a:noFill/>
            <a:ln cap="flat" cmpd="sng" w="9525">
              <a:solidFill>
                <a:schemeClr val="accent1"/>
              </a:solidFill>
              <a:prstDash val="solid"/>
              <a:round/>
              <a:headEnd len="med" w="med" type="none"/>
              <a:tailEnd len="med" w="med" type="none"/>
            </a:ln>
          </p:spPr>
        </p:cxnSp>
        <p:cxnSp>
          <p:nvCxnSpPr>
            <p:cNvPr id="580" name="Google Shape;580;p41"/>
            <p:cNvCxnSpPr>
              <a:stCxn id="577" idx="3"/>
              <a:endCxn id="576" idx="7"/>
            </p:cNvCxnSpPr>
            <p:nvPr/>
          </p:nvCxnSpPr>
          <p:spPr>
            <a:xfrm flipH="1">
              <a:off x="5384466" y="476584"/>
              <a:ext cx="1021500" cy="914400"/>
            </a:xfrm>
            <a:prstGeom prst="straightConnector1">
              <a:avLst/>
            </a:prstGeom>
            <a:noFill/>
            <a:ln cap="flat" cmpd="sng" w="9525">
              <a:solidFill>
                <a:schemeClr val="accent1"/>
              </a:solidFill>
              <a:prstDash val="solid"/>
              <a:round/>
              <a:headEnd len="med" w="med" type="none"/>
              <a:tailEnd len="med" w="med" type="none"/>
            </a:ln>
          </p:spPr>
        </p:cxnSp>
      </p:grpSp>
      <p:sp>
        <p:nvSpPr>
          <p:cNvPr id="581" name="Google Shape;581;p41"/>
          <p:cNvSpPr/>
          <p:nvPr/>
        </p:nvSpPr>
        <p:spPr>
          <a:xfrm>
            <a:off x="5717300" y="42157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1"/>
          <p:cNvSpPr/>
          <p:nvPr/>
        </p:nvSpPr>
        <p:spPr>
          <a:xfrm>
            <a:off x="7723400" y="33856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1"/>
          <p:cNvSpPr/>
          <p:nvPr/>
        </p:nvSpPr>
        <p:spPr>
          <a:xfrm>
            <a:off x="5191125" y="361507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4" name="Google Shape;584;p41"/>
          <p:cNvGrpSpPr/>
          <p:nvPr/>
        </p:nvGrpSpPr>
        <p:grpSpPr>
          <a:xfrm>
            <a:off x="417613" y="3528450"/>
            <a:ext cx="795275" cy="714400"/>
            <a:chOff x="7864625" y="364925"/>
            <a:chExt cx="795275" cy="714400"/>
          </a:xfrm>
        </p:grpSpPr>
        <p:cxnSp>
          <p:nvCxnSpPr>
            <p:cNvPr id="585" name="Google Shape;585;p41"/>
            <p:cNvCxnSpPr>
              <a:stCxn id="586" idx="1"/>
              <a:endCxn id="587"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586" name="Google Shape;586;p41"/>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1"/>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 name="Google Shape;588;p41"/>
          <p:cNvSpPr/>
          <p:nvPr/>
        </p:nvSpPr>
        <p:spPr>
          <a:xfrm>
            <a:off x="1062900" y="10017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1"/>
          <p:cNvSpPr/>
          <p:nvPr/>
        </p:nvSpPr>
        <p:spPr>
          <a:xfrm>
            <a:off x="2207463" y="47521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1"/>
          <p:cNvSpPr/>
          <p:nvPr/>
        </p:nvSpPr>
        <p:spPr>
          <a:xfrm>
            <a:off x="3569038" y="42157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1" name="Google Shape;591;p41"/>
          <p:cNvCxnSpPr>
            <a:stCxn id="590" idx="2"/>
            <a:endCxn id="589" idx="6"/>
          </p:cNvCxnSpPr>
          <p:nvPr/>
        </p:nvCxnSpPr>
        <p:spPr>
          <a:xfrm flipH="1">
            <a:off x="2274538" y="4276450"/>
            <a:ext cx="1294500" cy="509400"/>
          </a:xfrm>
          <a:prstGeom prst="straightConnector1">
            <a:avLst/>
          </a:prstGeom>
          <a:noFill/>
          <a:ln cap="flat" cmpd="sng" w="9525">
            <a:solidFill>
              <a:schemeClr val="accent1"/>
            </a:solidFill>
            <a:prstDash val="solid"/>
            <a:round/>
            <a:headEnd len="med" w="med" type="none"/>
            <a:tailEnd len="med" w="med" type="none"/>
          </a:ln>
        </p:spPr>
      </p:cxnSp>
      <p:pic>
        <p:nvPicPr>
          <p:cNvPr id="592" name="Google Shape;592;p41" title="18570333.png"/>
          <p:cNvPicPr preferRelativeResize="0"/>
          <p:nvPr/>
        </p:nvPicPr>
        <p:blipFill>
          <a:blip r:embed="rId3">
            <a:alphaModFix/>
          </a:blip>
          <a:stretch>
            <a:fillRect/>
          </a:stretch>
        </p:blipFill>
        <p:spPr>
          <a:xfrm>
            <a:off x="5036738" y="408263"/>
            <a:ext cx="1482625" cy="1482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2"/>
          <p:cNvSpPr txBox="1"/>
          <p:nvPr>
            <p:ph type="title"/>
          </p:nvPr>
        </p:nvSpPr>
        <p:spPr>
          <a:xfrm>
            <a:off x="929550" y="1890450"/>
            <a:ext cx="5983500" cy="177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DEPLOYMENT</a:t>
            </a:r>
            <a:endParaRPr>
              <a:solidFill>
                <a:schemeClr val="accent6"/>
              </a:solidFill>
            </a:endParaRPr>
          </a:p>
        </p:txBody>
      </p:sp>
      <p:sp>
        <p:nvSpPr>
          <p:cNvPr id="598" name="Google Shape;598;p42"/>
          <p:cNvSpPr/>
          <p:nvPr/>
        </p:nvSpPr>
        <p:spPr>
          <a:xfrm>
            <a:off x="929550" y="505800"/>
            <a:ext cx="1305900" cy="1305300"/>
          </a:xfrm>
          <a:prstGeom prst="ellipse">
            <a:avLst/>
          </a:prstGeom>
          <a:solidFill>
            <a:srgbClr val="FF003A">
              <a:alpha val="481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599" name="Google Shape;599;p42"/>
          <p:cNvSpPr txBox="1"/>
          <p:nvPr>
            <p:ph idx="2" type="title"/>
          </p:nvPr>
        </p:nvSpPr>
        <p:spPr>
          <a:xfrm>
            <a:off x="1183801" y="546600"/>
            <a:ext cx="797400" cy="122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600" name="Google Shape;600;p42"/>
          <p:cNvSpPr/>
          <p:nvPr/>
        </p:nvSpPr>
        <p:spPr>
          <a:xfrm>
            <a:off x="3731763" y="692450"/>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2"/>
          <p:cNvSpPr/>
          <p:nvPr/>
        </p:nvSpPr>
        <p:spPr>
          <a:xfrm rot="-1106097">
            <a:off x="4729559" y="1814175"/>
            <a:ext cx="67357" cy="67357"/>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2" name="Google Shape;602;p42"/>
          <p:cNvGrpSpPr/>
          <p:nvPr/>
        </p:nvGrpSpPr>
        <p:grpSpPr>
          <a:xfrm rot="-1099900">
            <a:off x="3204187" y="597874"/>
            <a:ext cx="1817261" cy="1121137"/>
            <a:chOff x="4501725" y="479127"/>
            <a:chExt cx="1817361" cy="1121198"/>
          </a:xfrm>
        </p:grpSpPr>
        <p:sp>
          <p:nvSpPr>
            <p:cNvPr id="603" name="Google Shape;603;p42"/>
            <p:cNvSpPr/>
            <p:nvPr/>
          </p:nvSpPr>
          <p:spPr>
            <a:xfrm>
              <a:off x="5326975" y="13810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2"/>
            <p:cNvSpPr/>
            <p:nvPr/>
          </p:nvSpPr>
          <p:spPr>
            <a:xfrm>
              <a:off x="6251886" y="61226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2"/>
            <p:cNvSpPr/>
            <p:nvPr/>
          </p:nvSpPr>
          <p:spPr>
            <a:xfrm>
              <a:off x="4501725" y="13267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6" name="Google Shape;606;p42"/>
            <p:cNvCxnSpPr>
              <a:stCxn id="603" idx="2"/>
              <a:endCxn id="605" idx="6"/>
            </p:cNvCxnSpPr>
            <p:nvPr/>
          </p:nvCxnSpPr>
          <p:spPr>
            <a:xfrm flipH="1" rot="1099349">
              <a:off x="4636774" y="1303316"/>
              <a:ext cx="676602" cy="195619"/>
            </a:xfrm>
            <a:prstGeom prst="straightConnector1">
              <a:avLst/>
            </a:prstGeom>
            <a:noFill/>
            <a:ln cap="flat" cmpd="sng" w="9525">
              <a:solidFill>
                <a:schemeClr val="accent1"/>
              </a:solidFill>
              <a:prstDash val="solid"/>
              <a:round/>
              <a:headEnd len="med" w="med" type="none"/>
              <a:tailEnd len="med" w="med" type="none"/>
            </a:ln>
          </p:spPr>
        </p:cxnSp>
        <p:cxnSp>
          <p:nvCxnSpPr>
            <p:cNvPr id="607" name="Google Shape;607;p42"/>
            <p:cNvCxnSpPr>
              <a:stCxn id="604" idx="3"/>
              <a:endCxn id="603" idx="7"/>
            </p:cNvCxnSpPr>
            <p:nvPr/>
          </p:nvCxnSpPr>
          <p:spPr>
            <a:xfrm flipH="1" rot="1099102">
              <a:off x="5519919" y="550003"/>
              <a:ext cx="606115" cy="960448"/>
            </a:xfrm>
            <a:prstGeom prst="straightConnector1">
              <a:avLst/>
            </a:prstGeom>
            <a:noFill/>
            <a:ln cap="flat" cmpd="sng" w="9525">
              <a:solidFill>
                <a:schemeClr val="accent1"/>
              </a:solidFill>
              <a:prstDash val="solid"/>
              <a:round/>
              <a:headEnd len="med" w="med" type="none"/>
              <a:tailEnd len="med" w="med" type="none"/>
            </a:ln>
          </p:spPr>
        </p:cxnSp>
      </p:grpSp>
      <p:pic>
        <p:nvPicPr>
          <p:cNvPr id="608" name="Google Shape;608;p42"/>
          <p:cNvPicPr preferRelativeResize="0"/>
          <p:nvPr>
            <p:ph idx="3" type="pic"/>
          </p:nvPr>
        </p:nvPicPr>
        <p:blipFill rotWithShape="1">
          <a:blip r:embed="rId3">
            <a:alphaModFix/>
          </a:blip>
          <a:srcRect b="3651" l="0" r="0" t="0"/>
          <a:stretch/>
        </p:blipFill>
        <p:spPr>
          <a:xfrm>
            <a:off x="5586000" y="0"/>
            <a:ext cx="3557999" cy="5143501"/>
          </a:xfrm>
          <a:prstGeom prst="rect">
            <a:avLst/>
          </a:prstGeom>
        </p:spPr>
      </p:pic>
      <p:pic>
        <p:nvPicPr>
          <p:cNvPr id="609" name="Google Shape;609;p42" title="11068830.png"/>
          <p:cNvPicPr preferRelativeResize="0"/>
          <p:nvPr/>
        </p:nvPicPr>
        <p:blipFill>
          <a:blip r:embed="rId4">
            <a:alphaModFix/>
          </a:blip>
          <a:stretch>
            <a:fillRect/>
          </a:stretch>
        </p:blipFill>
        <p:spPr>
          <a:xfrm>
            <a:off x="2235450" y="3475325"/>
            <a:ext cx="1402350" cy="1402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3"/>
          <p:cNvSpPr txBox="1"/>
          <p:nvPr>
            <p:ph type="title"/>
          </p:nvPr>
        </p:nvSpPr>
        <p:spPr>
          <a:xfrm>
            <a:off x="336700" y="9055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Model </a:t>
            </a:r>
            <a:r>
              <a:rPr lang="en">
                <a:solidFill>
                  <a:schemeClr val="accent6"/>
                </a:solidFill>
              </a:rPr>
              <a:t>Results</a:t>
            </a:r>
            <a:endParaRPr>
              <a:solidFill>
                <a:schemeClr val="accent6"/>
              </a:solidFill>
            </a:endParaRPr>
          </a:p>
        </p:txBody>
      </p:sp>
      <p:graphicFrame>
        <p:nvGraphicFramePr>
          <p:cNvPr id="615" name="Google Shape;615;p43"/>
          <p:cNvGraphicFramePr/>
          <p:nvPr/>
        </p:nvGraphicFramePr>
        <p:xfrm>
          <a:off x="159500" y="1835925"/>
          <a:ext cx="3000000" cy="3000000"/>
        </p:xfrm>
        <a:graphic>
          <a:graphicData uri="http://schemas.openxmlformats.org/drawingml/2006/table">
            <a:tbl>
              <a:tblPr>
                <a:noFill/>
                <a:tableStyleId>{FC355999-3DA7-49AD-9D86-4FAB414BE1D7}</a:tableStyleId>
              </a:tblPr>
              <a:tblGrid>
                <a:gridCol w="770675"/>
                <a:gridCol w="1146825"/>
                <a:gridCol w="880775"/>
                <a:gridCol w="980300"/>
                <a:gridCol w="759225"/>
              </a:tblGrid>
              <a:tr h="458850">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Model</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Accuracy</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Recall</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Precision</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200">
                          <a:solidFill>
                            <a:schemeClr val="dk1"/>
                          </a:solidFill>
                          <a:latin typeface="Raleway"/>
                          <a:ea typeface="Raleway"/>
                          <a:cs typeface="Raleway"/>
                          <a:sym typeface="Raleway"/>
                        </a:rPr>
                        <a:t>Missed</a:t>
                      </a:r>
                      <a:endParaRPr b="1" sz="12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51525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V1 (8.0)</a:t>
                      </a:r>
                      <a:endParaRPr b="1" sz="1000">
                        <a:solidFill>
                          <a:schemeClr val="dk1"/>
                        </a:solidFill>
                        <a:latin typeface="Raleway"/>
                        <a:ea typeface="Raleway"/>
                        <a:cs typeface="Raleway"/>
                        <a:sym typeface="Raleway"/>
                      </a:endParaRPr>
                    </a:p>
                    <a:p>
                      <a:pPr indent="0" lvl="0" marL="0" rtl="0" algn="ctr">
                        <a:lnSpc>
                          <a:spcPct val="100000"/>
                        </a:lnSpc>
                        <a:spcBef>
                          <a:spcPts val="0"/>
                        </a:spcBef>
                        <a:spcAft>
                          <a:spcPts val="0"/>
                        </a:spcAft>
                        <a:buNone/>
                      </a:pPr>
                      <a:r>
                        <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86.65%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44.87%</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73875">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V2(12.0)</a:t>
                      </a:r>
                      <a:endParaRPr b="1" sz="1000">
                        <a:solidFill>
                          <a:schemeClr val="dk1"/>
                        </a:solidFill>
                        <a:latin typeface="Raleway"/>
                        <a:ea typeface="Raleway"/>
                        <a:cs typeface="Raleway"/>
                        <a:sym typeface="Raleway"/>
                      </a:endParaRPr>
                    </a:p>
                    <a:p>
                      <a:pPr indent="0" lvl="0" marL="0" rtl="0" algn="ctr">
                        <a:lnSpc>
                          <a:spcPct val="100000"/>
                        </a:lnSpc>
                        <a:spcBef>
                          <a:spcPts val="0"/>
                        </a:spcBef>
                        <a:spcAft>
                          <a:spcPts val="0"/>
                        </a:spcAft>
                        <a:buNone/>
                      </a:pPr>
                      <a:r>
                        <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89.53%</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83.72%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52.17%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6570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V3(9.0)</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90.58%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55.56%</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55800">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V4(8.5)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84.82%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81.40%</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41.18%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8</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r h="475625">
                <a:tc>
                  <a:txBody>
                    <a:bodyPr/>
                    <a:lstStyle/>
                    <a:p>
                      <a:pPr indent="0" lvl="0" marL="0" rtl="0" algn="ctr">
                        <a:spcBef>
                          <a:spcPts val="0"/>
                        </a:spcBef>
                        <a:spcAft>
                          <a:spcPts val="0"/>
                        </a:spcAft>
                        <a:buNone/>
                      </a:pPr>
                      <a:r>
                        <a:rPr b="1" lang="en" sz="1000">
                          <a:solidFill>
                            <a:schemeClr val="dk1"/>
                          </a:solidFill>
                          <a:latin typeface="Raleway"/>
                          <a:ea typeface="Raleway"/>
                          <a:cs typeface="Raleway"/>
                          <a:sym typeface="Raleway"/>
                        </a:rPr>
                        <a:t>V5(7.5)</a:t>
                      </a:r>
                      <a:endParaRPr b="1" sz="1000">
                        <a:solidFill>
                          <a:schemeClr val="dk1"/>
                        </a:solidFill>
                        <a:latin typeface="Raleway"/>
                        <a:ea typeface="Raleway"/>
                        <a:cs typeface="Raleway"/>
                        <a:sym typeface="Raleway"/>
                      </a:endParaRPr>
                    </a:p>
                  </a:txBody>
                  <a:tcPr marT="45700" marB="45700" marR="45700" marL="45700" anchor="ctr">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90.05%</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83.72%</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53.73%</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000">
                          <a:solidFill>
                            <a:schemeClr val="dk1"/>
                          </a:solidFill>
                          <a:latin typeface="Raleway"/>
                          <a:ea typeface="Raleway"/>
                          <a:cs typeface="Raleway"/>
                          <a:sym typeface="Raleway"/>
                        </a:rPr>
                        <a:t>7</a:t>
                      </a:r>
                      <a:endParaRPr b="1" sz="1000">
                        <a:solidFill>
                          <a:schemeClr val="dk1"/>
                        </a:solidFill>
                        <a:latin typeface="Raleway"/>
                        <a:ea typeface="Raleway"/>
                        <a:cs typeface="Raleway"/>
                        <a:sym typeface="Raleway"/>
                      </a:endParaRPr>
                    </a:p>
                  </a:txBody>
                  <a:tcPr marT="91425" marB="91425" marR="91425" marL="91425">
                    <a:lnL cap="flat" cmpd="sng" w="19050">
                      <a:solidFill>
                        <a:schemeClr val="accent3"/>
                      </a:solidFill>
                      <a:prstDash val="solid"/>
                      <a:round/>
                      <a:headEnd len="sm" w="sm" type="none"/>
                      <a:tailEnd len="sm" w="sm" type="none"/>
                    </a:lnL>
                    <a:lnR cap="flat" cmpd="sng" w="19050">
                      <a:solidFill>
                        <a:schemeClr val="accent3"/>
                      </a:solidFill>
                      <a:prstDash val="solid"/>
                      <a:round/>
                      <a:headEnd len="sm" w="sm" type="none"/>
                      <a:tailEnd len="sm" w="sm" type="none"/>
                    </a:lnR>
                    <a:lnT cap="flat" cmpd="sng" w="19050">
                      <a:solidFill>
                        <a:schemeClr val="accent3"/>
                      </a:solidFill>
                      <a:prstDash val="solid"/>
                      <a:round/>
                      <a:headEnd len="sm" w="sm" type="none"/>
                      <a:tailEnd len="sm" w="sm" type="none"/>
                    </a:lnT>
                    <a:lnB cap="flat" cmpd="sng" w="19050">
                      <a:solidFill>
                        <a:schemeClr val="accent3"/>
                      </a:solidFill>
                      <a:prstDash val="solid"/>
                      <a:round/>
                      <a:headEnd len="sm" w="sm" type="none"/>
                      <a:tailEnd len="sm" w="sm" type="none"/>
                    </a:lnB>
                  </a:tcPr>
                </a:tc>
              </a:tr>
            </a:tbl>
          </a:graphicData>
        </a:graphic>
      </p:graphicFrame>
      <p:sp>
        <p:nvSpPr>
          <p:cNvPr id="616" name="Google Shape;616;p43"/>
          <p:cNvSpPr/>
          <p:nvPr/>
        </p:nvSpPr>
        <p:spPr>
          <a:xfrm flipH="1" rot="-918282">
            <a:off x="8307180" y="851779"/>
            <a:ext cx="121613" cy="121613"/>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3"/>
          <p:cNvSpPr txBox="1"/>
          <p:nvPr/>
        </p:nvSpPr>
        <p:spPr>
          <a:xfrm flipH="1">
            <a:off x="4820550" y="2860025"/>
            <a:ext cx="4242000" cy="18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Why We Chose V5:</a:t>
            </a:r>
            <a:endParaRPr b="1"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 sz="1300">
                <a:solidFill>
                  <a:schemeClr val="dk1"/>
                </a:solidFill>
              </a:rPr>
              <a:t>Tied for best recall (83.72%)</a:t>
            </a:r>
            <a:r>
              <a:rPr lang="en" sz="1300">
                <a:solidFill>
                  <a:schemeClr val="dk1"/>
                </a:solidFill>
              </a:rPr>
              <a:t> - catches the most aneurysms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Only 7 missed aneurysms</a:t>
            </a:r>
            <a:r>
              <a:rPr lang="en" sz="1300">
                <a:solidFill>
                  <a:schemeClr val="dk1"/>
                </a:solidFill>
              </a:rPr>
              <a:t> (fewest false negatives)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Strong precision (53.73%)</a:t>
            </a:r>
            <a:r>
              <a:rPr lang="en" sz="1300">
                <a:solidFill>
                  <a:schemeClr val="dk1"/>
                </a:solidFill>
              </a:rPr>
              <a:t> - balanced false alarm rate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 sz="1300">
                <a:solidFill>
                  <a:schemeClr val="dk1"/>
                </a:solidFill>
              </a:rPr>
              <a:t>High overall accuracy (90.05%)</a:t>
            </a:r>
            <a:endParaRPr b="1" sz="1300">
              <a:solidFill>
                <a:schemeClr val="dk1"/>
              </a:solidFill>
            </a:endParaRPr>
          </a:p>
          <a:p>
            <a:pPr indent="0" lvl="0" marL="0" rtl="0" algn="l">
              <a:spcBef>
                <a:spcPts val="1200"/>
              </a:spcBef>
              <a:spcAft>
                <a:spcPts val="0"/>
              </a:spcAft>
              <a:buNone/>
            </a:pPr>
            <a:r>
              <a:t/>
            </a:r>
            <a:endParaRPr sz="1300">
              <a:solidFill>
                <a:schemeClr val="dk1"/>
              </a:solidFill>
              <a:latin typeface="Lato"/>
              <a:ea typeface="Lato"/>
              <a:cs typeface="Lato"/>
              <a:sym typeface="Lato"/>
            </a:endParaRPr>
          </a:p>
        </p:txBody>
      </p:sp>
      <p:pic>
        <p:nvPicPr>
          <p:cNvPr id="618" name="Google Shape;618;p43"/>
          <p:cNvPicPr preferRelativeResize="0"/>
          <p:nvPr/>
        </p:nvPicPr>
        <p:blipFill>
          <a:blip r:embed="rId3">
            <a:alphaModFix/>
          </a:blip>
          <a:stretch>
            <a:fillRect/>
          </a:stretch>
        </p:blipFill>
        <p:spPr>
          <a:xfrm>
            <a:off x="-604658" y="0"/>
            <a:ext cx="5301957" cy="2428350"/>
          </a:xfrm>
          <a:prstGeom prst="rect">
            <a:avLst/>
          </a:prstGeom>
          <a:noFill/>
          <a:ln>
            <a:noFill/>
          </a:ln>
        </p:spPr>
      </p:pic>
      <p:pic>
        <p:nvPicPr>
          <p:cNvPr id="619" name="Google Shape;619;p43"/>
          <p:cNvPicPr preferRelativeResize="0"/>
          <p:nvPr/>
        </p:nvPicPr>
        <p:blipFill>
          <a:blip r:embed="rId4">
            <a:alphaModFix/>
          </a:blip>
          <a:stretch>
            <a:fillRect/>
          </a:stretch>
        </p:blipFill>
        <p:spPr>
          <a:xfrm>
            <a:off x="-685575" y="2372638"/>
            <a:ext cx="6227952" cy="2795775"/>
          </a:xfrm>
          <a:prstGeom prst="rect">
            <a:avLst/>
          </a:prstGeom>
          <a:noFill/>
          <a:ln>
            <a:noFill/>
          </a:ln>
        </p:spPr>
      </p:pic>
      <p:pic>
        <p:nvPicPr>
          <p:cNvPr id="620" name="Google Shape;620;p43"/>
          <p:cNvPicPr preferRelativeResize="0"/>
          <p:nvPr/>
        </p:nvPicPr>
        <p:blipFill rotWithShape="1">
          <a:blip r:embed="rId5">
            <a:alphaModFix/>
          </a:blip>
          <a:srcRect b="-1980" l="3860" r="-3860" t="1980"/>
          <a:stretch/>
        </p:blipFill>
        <p:spPr>
          <a:xfrm>
            <a:off x="4406800" y="-12"/>
            <a:ext cx="5301949" cy="2946111"/>
          </a:xfrm>
          <a:prstGeom prst="rect">
            <a:avLst/>
          </a:prstGeom>
          <a:noFill/>
          <a:ln>
            <a:noFill/>
          </a:ln>
        </p:spPr>
      </p:pic>
      <p:pic>
        <p:nvPicPr>
          <p:cNvPr id="621" name="Google Shape;621;p43"/>
          <p:cNvPicPr preferRelativeResize="0"/>
          <p:nvPr/>
        </p:nvPicPr>
        <p:blipFill>
          <a:blip r:embed="rId6">
            <a:alphaModFix/>
          </a:blip>
          <a:stretch>
            <a:fillRect/>
          </a:stretch>
        </p:blipFill>
        <p:spPr>
          <a:xfrm>
            <a:off x="4014750" y="2294775"/>
            <a:ext cx="6330527" cy="2845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44"/>
          <p:cNvSpPr txBox="1"/>
          <p:nvPr>
            <p:ph type="title"/>
          </p:nvPr>
        </p:nvSpPr>
        <p:spPr>
          <a:xfrm rot="-251">
            <a:off x="4413175" y="788814"/>
            <a:ext cx="4113300" cy="2060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t>WHERE TO FIND THE PROJECT</a:t>
            </a:r>
            <a:endParaRPr sz="4500"/>
          </a:p>
        </p:txBody>
      </p:sp>
      <p:grpSp>
        <p:nvGrpSpPr>
          <p:cNvPr id="627" name="Google Shape;627;p44"/>
          <p:cNvGrpSpPr/>
          <p:nvPr/>
        </p:nvGrpSpPr>
        <p:grpSpPr>
          <a:xfrm>
            <a:off x="1485817" y="761976"/>
            <a:ext cx="2481231" cy="2114363"/>
            <a:chOff x="930854" y="1021197"/>
            <a:chExt cx="4016237" cy="3422408"/>
          </a:xfrm>
        </p:grpSpPr>
        <p:sp>
          <p:nvSpPr>
            <p:cNvPr id="628" name="Google Shape;628;p44"/>
            <p:cNvSpPr/>
            <p:nvPr/>
          </p:nvSpPr>
          <p:spPr>
            <a:xfrm flipH="1">
              <a:off x="930854" y="1021197"/>
              <a:ext cx="4016237" cy="3422408"/>
            </a:xfrm>
            <a:custGeom>
              <a:rect b="b" l="l" r="r" t="t"/>
              <a:pathLst>
                <a:path extrusionOk="0" h="63252" w="74227">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4"/>
            <p:cNvSpPr/>
            <p:nvPr/>
          </p:nvSpPr>
          <p:spPr>
            <a:xfrm flipH="1">
              <a:off x="966727" y="1056475"/>
              <a:ext cx="3944978" cy="3351960"/>
            </a:xfrm>
            <a:custGeom>
              <a:rect b="b" l="l" r="r" t="t"/>
              <a:pathLst>
                <a:path extrusionOk="0" h="61950" w="7291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4"/>
            <p:cNvSpPr/>
            <p:nvPr/>
          </p:nvSpPr>
          <p:spPr>
            <a:xfrm flipH="1">
              <a:off x="1007687" y="1076332"/>
              <a:ext cx="3826374" cy="3253484"/>
            </a:xfrm>
            <a:custGeom>
              <a:rect b="b" l="l" r="r" t="t"/>
              <a:pathLst>
                <a:path extrusionOk="0" h="60130" w="70718">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4"/>
            <p:cNvSpPr/>
            <p:nvPr/>
          </p:nvSpPr>
          <p:spPr>
            <a:xfrm flipH="1">
              <a:off x="1756101" y="1210194"/>
              <a:ext cx="2979267" cy="1743398"/>
            </a:xfrm>
            <a:custGeom>
              <a:rect b="b" l="l" r="r" t="t"/>
              <a:pathLst>
                <a:path extrusionOk="0" h="32221" w="55062">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4"/>
            <p:cNvSpPr/>
            <p:nvPr/>
          </p:nvSpPr>
          <p:spPr>
            <a:xfrm flipH="1">
              <a:off x="1136947" y="2250684"/>
              <a:ext cx="2754126" cy="1348359"/>
            </a:xfrm>
            <a:custGeom>
              <a:rect b="b" l="l" r="r" t="t"/>
              <a:pathLst>
                <a:path extrusionOk="0" h="24920" w="50901">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4"/>
            <p:cNvSpPr/>
            <p:nvPr/>
          </p:nvSpPr>
          <p:spPr>
            <a:xfrm flipH="1">
              <a:off x="2338027" y="1362616"/>
              <a:ext cx="2240429" cy="1375954"/>
            </a:xfrm>
            <a:custGeom>
              <a:rect b="b" l="l" r="r" t="t"/>
              <a:pathLst>
                <a:path extrusionOk="0" h="25430" w="41407">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4"/>
            <p:cNvSpPr/>
            <p:nvPr/>
          </p:nvSpPr>
          <p:spPr>
            <a:xfrm flipH="1">
              <a:off x="1152367" y="2357492"/>
              <a:ext cx="2446525" cy="1132632"/>
            </a:xfrm>
            <a:custGeom>
              <a:rect b="b" l="l" r="r" t="t"/>
              <a:pathLst>
                <a:path extrusionOk="0" h="20933" w="45216">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4"/>
            <p:cNvSpPr/>
            <p:nvPr/>
          </p:nvSpPr>
          <p:spPr>
            <a:xfrm flipH="1">
              <a:off x="1882655" y="1411421"/>
              <a:ext cx="1334561" cy="792026"/>
            </a:xfrm>
            <a:custGeom>
              <a:rect b="b" l="l" r="r" t="t"/>
              <a:pathLst>
                <a:path extrusionOk="0" h="14638" w="24665">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4"/>
            <p:cNvSpPr/>
            <p:nvPr/>
          </p:nvSpPr>
          <p:spPr>
            <a:xfrm flipH="1">
              <a:off x="2671597" y="2430051"/>
              <a:ext cx="747820" cy="454990"/>
            </a:xfrm>
            <a:custGeom>
              <a:rect b="b" l="l" r="r" t="t"/>
              <a:pathLst>
                <a:path extrusionOk="0" h="8409" w="13821">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FF003A">
                <a:alpha val="4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4"/>
            <p:cNvSpPr/>
            <p:nvPr/>
          </p:nvSpPr>
          <p:spPr>
            <a:xfrm flipH="1">
              <a:off x="3371372" y="1508382"/>
              <a:ext cx="1037349" cy="1000069"/>
            </a:xfrm>
            <a:custGeom>
              <a:rect b="b" l="l" r="r" t="t"/>
              <a:pathLst>
                <a:path extrusionOk="0" h="18483" w="19172">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4"/>
            <p:cNvSpPr/>
            <p:nvPr/>
          </p:nvSpPr>
          <p:spPr>
            <a:xfrm flipH="1">
              <a:off x="3841890" y="1704359"/>
              <a:ext cx="465379" cy="672989"/>
            </a:xfrm>
            <a:custGeom>
              <a:rect b="b" l="l" r="r" t="t"/>
              <a:pathLst>
                <a:path extrusionOk="0" h="12438" w="8601">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4"/>
            <p:cNvSpPr/>
            <p:nvPr/>
          </p:nvSpPr>
          <p:spPr>
            <a:xfrm flipH="1">
              <a:off x="1372260" y="2480425"/>
              <a:ext cx="1907127" cy="836718"/>
            </a:xfrm>
            <a:custGeom>
              <a:rect b="b" l="l" r="r" t="t"/>
              <a:pathLst>
                <a:path extrusionOk="0" h="15464" w="35247">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4"/>
            <p:cNvSpPr/>
            <p:nvPr/>
          </p:nvSpPr>
          <p:spPr>
            <a:xfrm flipH="1">
              <a:off x="1543779" y="2544651"/>
              <a:ext cx="963059" cy="556874"/>
            </a:xfrm>
            <a:custGeom>
              <a:rect b="b" l="l" r="r" t="t"/>
              <a:pathLst>
                <a:path extrusionOk="0" h="10292" w="17799">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4"/>
            <p:cNvSpPr/>
            <p:nvPr/>
          </p:nvSpPr>
          <p:spPr>
            <a:xfrm flipH="1">
              <a:off x="2609373" y="1877450"/>
              <a:ext cx="466353" cy="208693"/>
            </a:xfrm>
            <a:custGeom>
              <a:rect b="b" l="l" r="r" t="t"/>
              <a:pathLst>
                <a:path extrusionOk="0" h="3857" w="8619">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4"/>
            <p:cNvSpPr/>
            <p:nvPr/>
          </p:nvSpPr>
          <p:spPr>
            <a:xfrm flipH="1">
              <a:off x="1972418" y="1569144"/>
              <a:ext cx="531173" cy="388167"/>
            </a:xfrm>
            <a:custGeom>
              <a:rect b="b" l="l" r="r" t="t"/>
              <a:pathLst>
                <a:path extrusionOk="0" h="7174" w="9817">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4"/>
            <p:cNvSpPr/>
            <p:nvPr/>
          </p:nvSpPr>
          <p:spPr>
            <a:xfrm flipH="1">
              <a:off x="2456574" y="1424082"/>
              <a:ext cx="807338" cy="255387"/>
            </a:xfrm>
            <a:custGeom>
              <a:rect b="b" l="l" r="r" t="t"/>
              <a:pathLst>
                <a:path extrusionOk="0" h="4720" w="14921">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4"/>
            <p:cNvSpPr/>
            <p:nvPr/>
          </p:nvSpPr>
          <p:spPr>
            <a:xfrm flipH="1">
              <a:off x="1417003" y="1771128"/>
              <a:ext cx="395850" cy="410027"/>
            </a:xfrm>
            <a:custGeom>
              <a:rect b="b" l="l" r="r" t="t"/>
              <a:pathLst>
                <a:path extrusionOk="0" h="7578" w="7316">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4"/>
            <p:cNvSpPr/>
            <p:nvPr/>
          </p:nvSpPr>
          <p:spPr>
            <a:xfrm flipH="1">
              <a:off x="2900147" y="2573869"/>
              <a:ext cx="304896" cy="180124"/>
            </a:xfrm>
            <a:custGeom>
              <a:rect b="b" l="l" r="r" t="t"/>
              <a:pathLst>
                <a:path extrusionOk="0" h="3329" w="5635">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FF003A">
                <a:alpha val="481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4"/>
            <p:cNvSpPr/>
            <p:nvPr/>
          </p:nvSpPr>
          <p:spPr>
            <a:xfrm flipH="1">
              <a:off x="1682997" y="2632143"/>
              <a:ext cx="577002" cy="359382"/>
            </a:xfrm>
            <a:custGeom>
              <a:rect b="b" l="l" r="r" t="t"/>
              <a:pathLst>
                <a:path extrusionOk="0" h="6642" w="10664">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4"/>
            <p:cNvSpPr/>
            <p:nvPr/>
          </p:nvSpPr>
          <p:spPr>
            <a:xfrm flipH="1">
              <a:off x="3226146" y="2090363"/>
              <a:ext cx="596156" cy="492541"/>
            </a:xfrm>
            <a:custGeom>
              <a:rect b="b" l="l" r="r" t="t"/>
              <a:pathLst>
                <a:path extrusionOk="0" h="9103" w="11018">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4"/>
            <p:cNvSpPr/>
            <p:nvPr/>
          </p:nvSpPr>
          <p:spPr>
            <a:xfrm flipH="1">
              <a:off x="2755085" y="1476458"/>
              <a:ext cx="445088" cy="175687"/>
            </a:xfrm>
            <a:custGeom>
              <a:rect b="b" l="l" r="r" t="t"/>
              <a:pathLst>
                <a:path extrusionOk="0" h="3247" w="8226">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4"/>
            <p:cNvSpPr/>
            <p:nvPr/>
          </p:nvSpPr>
          <p:spPr>
            <a:xfrm flipH="1">
              <a:off x="3476285" y="1534137"/>
              <a:ext cx="344773" cy="248191"/>
            </a:xfrm>
            <a:custGeom>
              <a:rect b="b" l="l" r="r" t="t"/>
              <a:pathLst>
                <a:path extrusionOk="0" h="4587" w="6372">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4"/>
            <p:cNvSpPr/>
            <p:nvPr/>
          </p:nvSpPr>
          <p:spPr>
            <a:xfrm flipH="1">
              <a:off x="1682944" y="3477845"/>
              <a:ext cx="1055746" cy="354242"/>
            </a:xfrm>
            <a:custGeom>
              <a:rect b="b" l="l" r="r" t="t"/>
              <a:pathLst>
                <a:path extrusionOk="0" h="6547" w="19512">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4"/>
            <p:cNvSpPr/>
            <p:nvPr/>
          </p:nvSpPr>
          <p:spPr>
            <a:xfrm flipH="1">
              <a:off x="2267683" y="3818614"/>
              <a:ext cx="409377" cy="460942"/>
            </a:xfrm>
            <a:custGeom>
              <a:rect b="b" l="l" r="r" t="t"/>
              <a:pathLst>
                <a:path extrusionOk="0" h="8519" w="7566">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4"/>
            <p:cNvSpPr/>
            <p:nvPr/>
          </p:nvSpPr>
          <p:spPr>
            <a:xfrm flipH="1">
              <a:off x="1861227" y="3545804"/>
              <a:ext cx="628459" cy="207502"/>
            </a:xfrm>
            <a:custGeom>
              <a:rect b="b" l="l" r="r" t="t"/>
              <a:pathLst>
                <a:path extrusionOk="0" h="3835" w="11615">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4"/>
            <p:cNvSpPr/>
            <p:nvPr/>
          </p:nvSpPr>
          <p:spPr>
            <a:xfrm flipH="1">
              <a:off x="1513585" y="1870686"/>
              <a:ext cx="217025" cy="226602"/>
            </a:xfrm>
            <a:custGeom>
              <a:rect b="b" l="l" r="r" t="t"/>
              <a:pathLst>
                <a:path extrusionOk="0" h="4188" w="4011">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4"/>
            <p:cNvSpPr/>
            <p:nvPr/>
          </p:nvSpPr>
          <p:spPr>
            <a:xfrm flipH="1">
              <a:off x="1567368" y="1951144"/>
              <a:ext cx="97935" cy="54162"/>
            </a:xfrm>
            <a:custGeom>
              <a:rect b="b" l="l" r="r" t="t"/>
              <a:pathLst>
                <a:path extrusionOk="0" h="1001" w="181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 name="Google Shape;655;p44"/>
          <p:cNvGrpSpPr/>
          <p:nvPr/>
        </p:nvGrpSpPr>
        <p:grpSpPr>
          <a:xfrm>
            <a:off x="322363" y="885225"/>
            <a:ext cx="795275" cy="714400"/>
            <a:chOff x="7864625" y="364925"/>
            <a:chExt cx="795275" cy="714400"/>
          </a:xfrm>
        </p:grpSpPr>
        <p:cxnSp>
          <p:nvCxnSpPr>
            <p:cNvPr id="656" name="Google Shape;656;p44"/>
            <p:cNvCxnSpPr>
              <a:stCxn id="657" idx="1"/>
              <a:endCxn id="658" idx="5"/>
            </p:cNvCxnSpPr>
            <p:nvPr/>
          </p:nvCxnSpPr>
          <p:spPr>
            <a:xfrm rot="10800000">
              <a:off x="7968341" y="468766"/>
              <a:ext cx="634200" cy="553200"/>
            </a:xfrm>
            <a:prstGeom prst="straightConnector1">
              <a:avLst/>
            </a:prstGeom>
            <a:noFill/>
            <a:ln cap="flat" cmpd="sng" w="9525">
              <a:solidFill>
                <a:schemeClr val="accent1"/>
              </a:solidFill>
              <a:prstDash val="solid"/>
              <a:round/>
              <a:headEnd len="med" w="med" type="none"/>
              <a:tailEnd len="med" w="med" type="none"/>
            </a:ln>
          </p:spPr>
        </p:cxnSp>
        <p:sp>
          <p:nvSpPr>
            <p:cNvPr id="657" name="Google Shape;657;p44"/>
            <p:cNvSpPr/>
            <p:nvPr/>
          </p:nvSpPr>
          <p:spPr>
            <a:xfrm>
              <a:off x="8592700" y="1012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4"/>
            <p:cNvSpPr/>
            <p:nvPr/>
          </p:nvSpPr>
          <p:spPr>
            <a:xfrm>
              <a:off x="7864625" y="36492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 name="Google Shape;659;p44"/>
          <p:cNvSpPr/>
          <p:nvPr/>
        </p:nvSpPr>
        <p:spPr>
          <a:xfrm>
            <a:off x="7112175" y="2645988"/>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4"/>
          <p:cNvSpPr/>
          <p:nvPr/>
        </p:nvSpPr>
        <p:spPr>
          <a:xfrm>
            <a:off x="8749600" y="27674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4"/>
          <p:cNvSpPr/>
          <p:nvPr/>
        </p:nvSpPr>
        <p:spPr>
          <a:xfrm>
            <a:off x="7990513" y="2308788"/>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2" name="Google Shape;662;p44"/>
          <p:cNvCxnSpPr>
            <a:stCxn id="661" idx="2"/>
            <a:endCxn id="659" idx="7"/>
          </p:cNvCxnSpPr>
          <p:nvPr/>
        </p:nvCxnSpPr>
        <p:spPr>
          <a:xfrm flipH="1">
            <a:off x="7215913" y="2342388"/>
            <a:ext cx="774600" cy="321300"/>
          </a:xfrm>
          <a:prstGeom prst="straightConnector1">
            <a:avLst/>
          </a:prstGeom>
          <a:noFill/>
          <a:ln cap="flat" cmpd="sng" w="9525">
            <a:solidFill>
              <a:schemeClr val="accent1"/>
            </a:solidFill>
            <a:prstDash val="solid"/>
            <a:round/>
            <a:headEnd len="med" w="med" type="none"/>
            <a:tailEnd len="med" w="med" type="none"/>
          </a:ln>
        </p:spPr>
      </p:cxnSp>
      <p:cxnSp>
        <p:nvCxnSpPr>
          <p:cNvPr id="663" name="Google Shape;663;p44"/>
          <p:cNvCxnSpPr>
            <a:stCxn id="661" idx="5"/>
            <a:endCxn id="660" idx="1"/>
          </p:cNvCxnSpPr>
          <p:nvPr/>
        </p:nvCxnSpPr>
        <p:spPr>
          <a:xfrm>
            <a:off x="8047871" y="2366146"/>
            <a:ext cx="711600" cy="411300"/>
          </a:xfrm>
          <a:prstGeom prst="straightConnector1">
            <a:avLst/>
          </a:prstGeom>
          <a:noFill/>
          <a:ln cap="flat" cmpd="sng" w="9525">
            <a:solidFill>
              <a:schemeClr val="accent1"/>
            </a:solidFill>
            <a:prstDash val="solid"/>
            <a:round/>
            <a:headEnd len="med" w="med" type="none"/>
            <a:tailEnd len="med" w="med" type="none"/>
          </a:ln>
        </p:spPr>
      </p:cxnSp>
      <p:sp>
        <p:nvSpPr>
          <p:cNvPr id="664" name="Google Shape;664;p44"/>
          <p:cNvSpPr/>
          <p:nvPr/>
        </p:nvSpPr>
        <p:spPr>
          <a:xfrm>
            <a:off x="3350463" y="48381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4"/>
          <p:cNvSpPr/>
          <p:nvPr/>
        </p:nvSpPr>
        <p:spPr>
          <a:xfrm>
            <a:off x="4712038" y="43016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4"/>
          <p:cNvSpPr/>
          <p:nvPr/>
        </p:nvSpPr>
        <p:spPr>
          <a:xfrm>
            <a:off x="4413163" y="110835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4"/>
          <p:cNvSpPr/>
          <p:nvPr/>
        </p:nvSpPr>
        <p:spPr>
          <a:xfrm>
            <a:off x="782125" y="38084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4"/>
          <p:cNvSpPr/>
          <p:nvPr/>
        </p:nvSpPr>
        <p:spPr>
          <a:xfrm>
            <a:off x="396500" y="47819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 name="Google Shape;669;p44"/>
          <p:cNvCxnSpPr>
            <a:stCxn id="668" idx="0"/>
            <a:endCxn id="667" idx="4"/>
          </p:cNvCxnSpPr>
          <p:nvPr/>
        </p:nvCxnSpPr>
        <p:spPr>
          <a:xfrm flipH="1" rot="10800000">
            <a:off x="430100" y="3929975"/>
            <a:ext cx="412800" cy="852000"/>
          </a:xfrm>
          <a:prstGeom prst="straightConnector1">
            <a:avLst/>
          </a:prstGeom>
          <a:noFill/>
          <a:ln cap="flat" cmpd="sng" w="9525">
            <a:solidFill>
              <a:schemeClr val="accent1"/>
            </a:solidFill>
            <a:prstDash val="solid"/>
            <a:round/>
            <a:headEnd len="med" w="med" type="none"/>
            <a:tailEnd len="med" w="med" type="none"/>
          </a:ln>
        </p:spPr>
      </p:cxnSp>
      <p:sp>
        <p:nvSpPr>
          <p:cNvPr id="670" name="Google Shape;670;p44"/>
          <p:cNvSpPr txBox="1"/>
          <p:nvPr/>
        </p:nvSpPr>
        <p:spPr>
          <a:xfrm>
            <a:off x="1109263" y="3078275"/>
            <a:ext cx="3257100" cy="15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hlink"/>
                </a:solidFill>
                <a:hlinkClick r:id="rId3"/>
              </a:rPr>
              <a:t>GITHUB</a:t>
            </a:r>
            <a:endParaRPr b="1" sz="2000">
              <a:solidFill>
                <a:srgbClr val="1A1A1A"/>
              </a:solidFill>
            </a:endParaRPr>
          </a:p>
          <a:p>
            <a:pPr indent="0" lvl="0" marL="0" rtl="0" algn="l">
              <a:spcBef>
                <a:spcPts val="0"/>
              </a:spcBef>
              <a:spcAft>
                <a:spcPts val="0"/>
              </a:spcAft>
              <a:buNone/>
            </a:pPr>
            <a:r>
              <a:rPr b="1" lang="en" sz="2000" u="sng">
                <a:solidFill>
                  <a:schemeClr val="accent6"/>
                </a:solidFill>
                <a:hlinkClick r:id="rId4">
                  <a:extLst>
                    <a:ext uri="{A12FA001-AC4F-418D-AE19-62706E023703}">
                      <ahyp:hlinkClr val="tx"/>
                    </a:ext>
                  </a:extLst>
                </a:hlinkClick>
              </a:rPr>
              <a:t>https://github.com/KarenMazaDelgado/Neuroscan-Frontend</a:t>
            </a:r>
            <a:endParaRPr b="1" sz="2000">
              <a:solidFill>
                <a:schemeClr val="accent6"/>
              </a:solidFill>
            </a:endParaRPr>
          </a:p>
          <a:p>
            <a:pPr indent="0" lvl="0" marL="0" rtl="0" algn="l">
              <a:spcBef>
                <a:spcPts val="0"/>
              </a:spcBef>
              <a:spcAft>
                <a:spcPts val="0"/>
              </a:spcAft>
              <a:buNone/>
            </a:pPr>
            <a:r>
              <a:t/>
            </a:r>
            <a:endParaRPr b="1" sz="2000">
              <a:solidFill>
                <a:srgbClr val="1A1A1A"/>
              </a:solidFill>
            </a:endParaRPr>
          </a:p>
          <a:p>
            <a:pPr indent="0" lvl="0" marL="0" rtl="0" algn="l">
              <a:spcBef>
                <a:spcPts val="0"/>
              </a:spcBef>
              <a:spcAft>
                <a:spcPts val="0"/>
              </a:spcAft>
              <a:buNone/>
            </a:pPr>
            <a:r>
              <a:t/>
            </a:r>
            <a:endParaRPr b="1" sz="2000">
              <a:solidFill>
                <a:srgbClr val="1A1A1A"/>
              </a:solidFill>
            </a:endParaRPr>
          </a:p>
          <a:p>
            <a:pPr indent="0" lvl="0" marL="0" rtl="0" algn="l">
              <a:spcBef>
                <a:spcPts val="0"/>
              </a:spcBef>
              <a:spcAft>
                <a:spcPts val="0"/>
              </a:spcAft>
              <a:buNone/>
            </a:pPr>
            <a:r>
              <a:t/>
            </a:r>
            <a:endParaRPr b="1" sz="2000">
              <a:solidFill>
                <a:srgbClr val="1A1A1A"/>
              </a:solidFill>
            </a:endParaRPr>
          </a:p>
          <a:p>
            <a:pPr indent="0" lvl="0" marL="0" rtl="0" algn="l">
              <a:spcBef>
                <a:spcPts val="0"/>
              </a:spcBef>
              <a:spcAft>
                <a:spcPts val="0"/>
              </a:spcAft>
              <a:buNone/>
            </a:pPr>
            <a:r>
              <a:t/>
            </a:r>
            <a:endParaRPr b="1" sz="2000">
              <a:solidFill>
                <a:srgbClr val="1A1A1A"/>
              </a:solidFill>
            </a:endParaRPr>
          </a:p>
          <a:p>
            <a:pPr indent="0" lvl="0" marL="0" rtl="0" algn="l">
              <a:spcBef>
                <a:spcPts val="0"/>
              </a:spcBef>
              <a:spcAft>
                <a:spcPts val="0"/>
              </a:spcAft>
              <a:buNone/>
            </a:pPr>
            <a:r>
              <a:t/>
            </a:r>
            <a:endParaRPr b="1"/>
          </a:p>
          <a:p>
            <a:pPr indent="0" lvl="0" marL="0" rtl="0" algn="l">
              <a:lnSpc>
                <a:spcPct val="115000"/>
              </a:lnSpc>
              <a:spcBef>
                <a:spcPts val="1200"/>
              </a:spcBef>
              <a:spcAft>
                <a:spcPts val="0"/>
              </a:spcAft>
              <a:buNone/>
            </a:pPr>
            <a:r>
              <a:t/>
            </a:r>
            <a:endParaRPr sz="1000"/>
          </a:p>
          <a:p>
            <a:pPr indent="0" lvl="0" marL="457200" rtl="0" algn="l">
              <a:spcBef>
                <a:spcPts val="1200"/>
              </a:spcBef>
              <a:spcAft>
                <a:spcPts val="0"/>
              </a:spcAft>
              <a:buNone/>
            </a:pPr>
            <a:r>
              <a:t/>
            </a:r>
            <a:endParaRPr sz="1500"/>
          </a:p>
        </p:txBody>
      </p:sp>
      <p:grpSp>
        <p:nvGrpSpPr>
          <p:cNvPr id="671" name="Google Shape;671;p44"/>
          <p:cNvGrpSpPr/>
          <p:nvPr/>
        </p:nvGrpSpPr>
        <p:grpSpPr>
          <a:xfrm>
            <a:off x="3725539" y="2117944"/>
            <a:ext cx="846459" cy="907707"/>
            <a:chOff x="7246631" y="2116029"/>
            <a:chExt cx="347965" cy="373143"/>
          </a:xfrm>
        </p:grpSpPr>
        <p:sp>
          <p:nvSpPr>
            <p:cNvPr id="672" name="Google Shape;672;p44"/>
            <p:cNvSpPr/>
            <p:nvPr/>
          </p:nvSpPr>
          <p:spPr>
            <a:xfrm>
              <a:off x="7336999" y="2220290"/>
              <a:ext cx="164663" cy="164663"/>
            </a:xfrm>
            <a:custGeom>
              <a:rect b="b" l="l" r="r" t="t"/>
              <a:pathLst>
                <a:path extrusionOk="0" h="3852" w="3852">
                  <a:moveTo>
                    <a:pt x="1928" y="0"/>
                  </a:moveTo>
                  <a:cubicBezTo>
                    <a:pt x="1791" y="0"/>
                    <a:pt x="1652" y="15"/>
                    <a:pt x="1512" y="46"/>
                  </a:cubicBezTo>
                  <a:cubicBezTo>
                    <a:pt x="1444" y="60"/>
                    <a:pt x="1401" y="129"/>
                    <a:pt x="1415" y="198"/>
                  </a:cubicBezTo>
                  <a:cubicBezTo>
                    <a:pt x="1428" y="257"/>
                    <a:pt x="1481" y="297"/>
                    <a:pt x="1540" y="297"/>
                  </a:cubicBezTo>
                  <a:cubicBezTo>
                    <a:pt x="1549" y="297"/>
                    <a:pt x="1558" y="297"/>
                    <a:pt x="1567" y="295"/>
                  </a:cubicBezTo>
                  <a:cubicBezTo>
                    <a:pt x="1688" y="268"/>
                    <a:pt x="1809" y="256"/>
                    <a:pt x="1926" y="256"/>
                  </a:cubicBezTo>
                  <a:cubicBezTo>
                    <a:pt x="2827" y="256"/>
                    <a:pt x="3594" y="990"/>
                    <a:pt x="3594" y="1926"/>
                  </a:cubicBezTo>
                  <a:cubicBezTo>
                    <a:pt x="3594" y="2847"/>
                    <a:pt x="2845" y="3596"/>
                    <a:pt x="1924" y="3596"/>
                  </a:cubicBezTo>
                  <a:cubicBezTo>
                    <a:pt x="1004" y="3596"/>
                    <a:pt x="255" y="2847"/>
                    <a:pt x="255" y="1926"/>
                  </a:cubicBezTo>
                  <a:cubicBezTo>
                    <a:pt x="255" y="1332"/>
                    <a:pt x="575" y="778"/>
                    <a:pt x="1089" y="479"/>
                  </a:cubicBezTo>
                  <a:cubicBezTo>
                    <a:pt x="1151" y="444"/>
                    <a:pt x="1172" y="366"/>
                    <a:pt x="1136" y="304"/>
                  </a:cubicBezTo>
                  <a:cubicBezTo>
                    <a:pt x="1112" y="263"/>
                    <a:pt x="1070" y="240"/>
                    <a:pt x="1027" y="240"/>
                  </a:cubicBezTo>
                  <a:cubicBezTo>
                    <a:pt x="1005" y="240"/>
                    <a:pt x="983" y="246"/>
                    <a:pt x="963" y="258"/>
                  </a:cubicBezTo>
                  <a:cubicBezTo>
                    <a:pt x="370" y="601"/>
                    <a:pt x="0" y="1241"/>
                    <a:pt x="0" y="1926"/>
                  </a:cubicBezTo>
                  <a:cubicBezTo>
                    <a:pt x="0" y="2988"/>
                    <a:pt x="864" y="3851"/>
                    <a:pt x="1926" y="3851"/>
                  </a:cubicBezTo>
                  <a:cubicBezTo>
                    <a:pt x="2987" y="3851"/>
                    <a:pt x="3851" y="2988"/>
                    <a:pt x="3851" y="1926"/>
                  </a:cubicBezTo>
                  <a:cubicBezTo>
                    <a:pt x="3851" y="842"/>
                    <a:pt x="2964" y="0"/>
                    <a:pt x="1928" y="0"/>
                  </a:cubicBezTo>
                  <a:close/>
                </a:path>
              </a:pathLst>
            </a:custGeom>
            <a:solidFill>
              <a:schemeClr val="accent3"/>
            </a:solidFill>
            <a:ln>
              <a:noFill/>
            </a:ln>
          </p:spPr>
          <p:txBody>
            <a:bodyPr anchorCtr="0" anchor="ctr" bIns="235450" lIns="235450" spcFirstLastPara="1" rIns="235450" wrap="square" tIns="235450">
              <a:noAutofit/>
            </a:bodyPr>
            <a:lstStyle/>
            <a:p>
              <a:pPr indent="0" lvl="0" marL="0" rtl="0" algn="l">
                <a:spcBef>
                  <a:spcPts val="0"/>
                </a:spcBef>
                <a:spcAft>
                  <a:spcPts val="0"/>
                </a:spcAft>
                <a:buNone/>
              </a:pPr>
              <a:r>
                <a:t/>
              </a:r>
              <a:endParaRPr/>
            </a:p>
          </p:txBody>
        </p:sp>
        <p:sp>
          <p:nvSpPr>
            <p:cNvPr id="673" name="Google Shape;673;p44"/>
            <p:cNvSpPr/>
            <p:nvPr/>
          </p:nvSpPr>
          <p:spPr>
            <a:xfrm>
              <a:off x="7246631" y="2116029"/>
              <a:ext cx="347965" cy="373143"/>
            </a:xfrm>
            <a:custGeom>
              <a:rect b="b" l="l" r="r" t="t"/>
              <a:pathLst>
                <a:path extrusionOk="0" h="8729" w="8140">
                  <a:moveTo>
                    <a:pt x="4556" y="1"/>
                  </a:moveTo>
                  <a:cubicBezTo>
                    <a:pt x="4536" y="1"/>
                    <a:pt x="4516" y="2"/>
                    <a:pt x="4496" y="5"/>
                  </a:cubicBezTo>
                  <a:cubicBezTo>
                    <a:pt x="4288" y="38"/>
                    <a:pt x="4143" y="235"/>
                    <a:pt x="4177" y="444"/>
                  </a:cubicBezTo>
                  <a:cubicBezTo>
                    <a:pt x="4201" y="602"/>
                    <a:pt x="4175" y="629"/>
                    <a:pt x="4132" y="674"/>
                  </a:cubicBezTo>
                  <a:cubicBezTo>
                    <a:pt x="4124" y="682"/>
                    <a:pt x="4113" y="686"/>
                    <a:pt x="4103" y="686"/>
                  </a:cubicBezTo>
                  <a:cubicBezTo>
                    <a:pt x="4090" y="686"/>
                    <a:pt x="4077" y="680"/>
                    <a:pt x="4068" y="668"/>
                  </a:cubicBezTo>
                  <a:cubicBezTo>
                    <a:pt x="3962" y="516"/>
                    <a:pt x="3936" y="215"/>
                    <a:pt x="3637" y="174"/>
                  </a:cubicBezTo>
                  <a:cubicBezTo>
                    <a:pt x="3619" y="172"/>
                    <a:pt x="3602" y="170"/>
                    <a:pt x="3585" y="170"/>
                  </a:cubicBezTo>
                  <a:cubicBezTo>
                    <a:pt x="3304" y="170"/>
                    <a:pt x="3093" y="484"/>
                    <a:pt x="3254" y="753"/>
                  </a:cubicBezTo>
                  <a:cubicBezTo>
                    <a:pt x="3335" y="892"/>
                    <a:pt x="3365" y="1098"/>
                    <a:pt x="3610" y="1299"/>
                  </a:cubicBezTo>
                  <a:cubicBezTo>
                    <a:pt x="3662" y="1343"/>
                    <a:pt x="3672" y="1419"/>
                    <a:pt x="3632" y="1473"/>
                  </a:cubicBezTo>
                  <a:cubicBezTo>
                    <a:pt x="3304" y="1924"/>
                    <a:pt x="2743" y="2137"/>
                    <a:pt x="2199" y="2317"/>
                  </a:cubicBezTo>
                  <a:cubicBezTo>
                    <a:pt x="2093" y="2352"/>
                    <a:pt x="1998" y="2369"/>
                    <a:pt x="1914" y="2369"/>
                  </a:cubicBezTo>
                  <a:cubicBezTo>
                    <a:pt x="1706" y="2369"/>
                    <a:pt x="1564" y="2263"/>
                    <a:pt x="1490" y="2053"/>
                  </a:cubicBezTo>
                  <a:cubicBezTo>
                    <a:pt x="1420" y="1857"/>
                    <a:pt x="1340" y="1651"/>
                    <a:pt x="1188" y="1466"/>
                  </a:cubicBezTo>
                  <a:cubicBezTo>
                    <a:pt x="1112" y="1373"/>
                    <a:pt x="1002" y="1327"/>
                    <a:pt x="892" y="1327"/>
                  </a:cubicBezTo>
                  <a:cubicBezTo>
                    <a:pt x="767" y="1327"/>
                    <a:pt x="642" y="1387"/>
                    <a:pt x="567" y="1508"/>
                  </a:cubicBezTo>
                  <a:cubicBezTo>
                    <a:pt x="479" y="1648"/>
                    <a:pt x="490" y="1828"/>
                    <a:pt x="593" y="1954"/>
                  </a:cubicBezTo>
                  <a:cubicBezTo>
                    <a:pt x="608" y="1972"/>
                    <a:pt x="623" y="1991"/>
                    <a:pt x="635" y="2014"/>
                  </a:cubicBezTo>
                  <a:cubicBezTo>
                    <a:pt x="651" y="2038"/>
                    <a:pt x="635" y="2070"/>
                    <a:pt x="607" y="2077"/>
                  </a:cubicBezTo>
                  <a:cubicBezTo>
                    <a:pt x="418" y="2122"/>
                    <a:pt x="280" y="2210"/>
                    <a:pt x="213" y="2258"/>
                  </a:cubicBezTo>
                  <a:cubicBezTo>
                    <a:pt x="131" y="2319"/>
                    <a:pt x="76" y="2408"/>
                    <a:pt x="60" y="2508"/>
                  </a:cubicBezTo>
                  <a:cubicBezTo>
                    <a:pt x="23" y="2759"/>
                    <a:pt x="224" y="2951"/>
                    <a:pt x="443" y="2951"/>
                  </a:cubicBezTo>
                  <a:cubicBezTo>
                    <a:pt x="518" y="2951"/>
                    <a:pt x="596" y="2928"/>
                    <a:pt x="667" y="2876"/>
                  </a:cubicBezTo>
                  <a:cubicBezTo>
                    <a:pt x="707" y="2847"/>
                    <a:pt x="750" y="2833"/>
                    <a:pt x="796" y="2833"/>
                  </a:cubicBezTo>
                  <a:cubicBezTo>
                    <a:pt x="1095" y="2833"/>
                    <a:pt x="1476" y="3444"/>
                    <a:pt x="1468" y="4373"/>
                  </a:cubicBezTo>
                  <a:cubicBezTo>
                    <a:pt x="1462" y="4981"/>
                    <a:pt x="1324" y="5744"/>
                    <a:pt x="955" y="5894"/>
                  </a:cubicBezTo>
                  <a:cubicBezTo>
                    <a:pt x="921" y="5907"/>
                    <a:pt x="886" y="5914"/>
                    <a:pt x="851" y="5914"/>
                  </a:cubicBezTo>
                  <a:cubicBezTo>
                    <a:pt x="788" y="5914"/>
                    <a:pt x="724" y="5893"/>
                    <a:pt x="667" y="5852"/>
                  </a:cubicBezTo>
                  <a:cubicBezTo>
                    <a:pt x="598" y="5802"/>
                    <a:pt x="517" y="5777"/>
                    <a:pt x="437" y="5777"/>
                  </a:cubicBezTo>
                  <a:cubicBezTo>
                    <a:pt x="356" y="5777"/>
                    <a:pt x="277" y="5802"/>
                    <a:pt x="211" y="5852"/>
                  </a:cubicBezTo>
                  <a:cubicBezTo>
                    <a:pt x="0" y="6014"/>
                    <a:pt x="10" y="6321"/>
                    <a:pt x="213" y="6470"/>
                  </a:cubicBezTo>
                  <a:cubicBezTo>
                    <a:pt x="280" y="6519"/>
                    <a:pt x="418" y="6606"/>
                    <a:pt x="607" y="6652"/>
                  </a:cubicBezTo>
                  <a:cubicBezTo>
                    <a:pt x="635" y="6658"/>
                    <a:pt x="651" y="6690"/>
                    <a:pt x="635" y="6715"/>
                  </a:cubicBezTo>
                  <a:cubicBezTo>
                    <a:pt x="623" y="6737"/>
                    <a:pt x="608" y="6757"/>
                    <a:pt x="593" y="6775"/>
                  </a:cubicBezTo>
                  <a:cubicBezTo>
                    <a:pt x="491" y="6901"/>
                    <a:pt x="480" y="7080"/>
                    <a:pt x="569" y="7222"/>
                  </a:cubicBezTo>
                  <a:cubicBezTo>
                    <a:pt x="643" y="7342"/>
                    <a:pt x="767" y="7402"/>
                    <a:pt x="892" y="7402"/>
                  </a:cubicBezTo>
                  <a:cubicBezTo>
                    <a:pt x="1002" y="7402"/>
                    <a:pt x="1112" y="7355"/>
                    <a:pt x="1189" y="7261"/>
                  </a:cubicBezTo>
                  <a:cubicBezTo>
                    <a:pt x="1341" y="7078"/>
                    <a:pt x="1421" y="6871"/>
                    <a:pt x="1492" y="6674"/>
                  </a:cubicBezTo>
                  <a:cubicBezTo>
                    <a:pt x="1570" y="6454"/>
                    <a:pt x="1785" y="6360"/>
                    <a:pt x="2020" y="6360"/>
                  </a:cubicBezTo>
                  <a:cubicBezTo>
                    <a:pt x="2123" y="6360"/>
                    <a:pt x="2229" y="6378"/>
                    <a:pt x="2329" y="6411"/>
                  </a:cubicBezTo>
                  <a:cubicBezTo>
                    <a:pt x="2788" y="6561"/>
                    <a:pt x="3194" y="6718"/>
                    <a:pt x="3523" y="7112"/>
                  </a:cubicBezTo>
                  <a:cubicBezTo>
                    <a:pt x="3598" y="7202"/>
                    <a:pt x="3587" y="7338"/>
                    <a:pt x="3500" y="7417"/>
                  </a:cubicBezTo>
                  <a:cubicBezTo>
                    <a:pt x="3320" y="7580"/>
                    <a:pt x="3048" y="7825"/>
                    <a:pt x="3140" y="8405"/>
                  </a:cubicBezTo>
                  <a:cubicBezTo>
                    <a:pt x="3170" y="8594"/>
                    <a:pt x="3334" y="8729"/>
                    <a:pt x="3519" y="8729"/>
                  </a:cubicBezTo>
                  <a:cubicBezTo>
                    <a:pt x="3539" y="8729"/>
                    <a:pt x="3559" y="8727"/>
                    <a:pt x="3579" y="8724"/>
                  </a:cubicBezTo>
                  <a:cubicBezTo>
                    <a:pt x="3788" y="8691"/>
                    <a:pt x="3931" y="8494"/>
                    <a:pt x="3899" y="8284"/>
                  </a:cubicBezTo>
                  <a:cubicBezTo>
                    <a:pt x="3873" y="8126"/>
                    <a:pt x="3900" y="8100"/>
                    <a:pt x="3943" y="8055"/>
                  </a:cubicBezTo>
                  <a:cubicBezTo>
                    <a:pt x="3953" y="8045"/>
                    <a:pt x="3963" y="8040"/>
                    <a:pt x="3972" y="8040"/>
                  </a:cubicBezTo>
                  <a:cubicBezTo>
                    <a:pt x="4027" y="8040"/>
                    <a:pt x="4072" y="8209"/>
                    <a:pt x="4159" y="8363"/>
                  </a:cubicBezTo>
                  <a:cubicBezTo>
                    <a:pt x="4229" y="8488"/>
                    <a:pt x="4357" y="8558"/>
                    <a:pt x="4489" y="8558"/>
                  </a:cubicBezTo>
                  <a:cubicBezTo>
                    <a:pt x="4586" y="8558"/>
                    <a:pt x="4686" y="8521"/>
                    <a:pt x="4766" y="8440"/>
                  </a:cubicBezTo>
                  <a:cubicBezTo>
                    <a:pt x="4889" y="8318"/>
                    <a:pt x="4913" y="8126"/>
                    <a:pt x="4823" y="7975"/>
                  </a:cubicBezTo>
                  <a:cubicBezTo>
                    <a:pt x="4742" y="7835"/>
                    <a:pt x="4712" y="7629"/>
                    <a:pt x="4467" y="7429"/>
                  </a:cubicBezTo>
                  <a:cubicBezTo>
                    <a:pt x="4415" y="7385"/>
                    <a:pt x="4405" y="7308"/>
                    <a:pt x="4444" y="7255"/>
                  </a:cubicBezTo>
                  <a:cubicBezTo>
                    <a:pt x="4648" y="6975"/>
                    <a:pt x="4903" y="6768"/>
                    <a:pt x="5250" y="6605"/>
                  </a:cubicBezTo>
                  <a:cubicBezTo>
                    <a:pt x="5313" y="6574"/>
                    <a:pt x="5341" y="6498"/>
                    <a:pt x="5311" y="6435"/>
                  </a:cubicBezTo>
                  <a:cubicBezTo>
                    <a:pt x="5289" y="6389"/>
                    <a:pt x="5242" y="6361"/>
                    <a:pt x="5194" y="6361"/>
                  </a:cubicBezTo>
                  <a:cubicBezTo>
                    <a:pt x="5176" y="6361"/>
                    <a:pt x="5158" y="6365"/>
                    <a:pt x="5140" y="6374"/>
                  </a:cubicBezTo>
                  <a:cubicBezTo>
                    <a:pt x="4753" y="6557"/>
                    <a:pt x="4467" y="6789"/>
                    <a:pt x="4237" y="7105"/>
                  </a:cubicBezTo>
                  <a:cubicBezTo>
                    <a:pt x="4119" y="7268"/>
                    <a:pt x="4148" y="7497"/>
                    <a:pt x="4305" y="7627"/>
                  </a:cubicBezTo>
                  <a:cubicBezTo>
                    <a:pt x="4497" y="7783"/>
                    <a:pt x="4504" y="7938"/>
                    <a:pt x="4602" y="8105"/>
                  </a:cubicBezTo>
                  <a:cubicBezTo>
                    <a:pt x="4663" y="8207"/>
                    <a:pt x="4574" y="8303"/>
                    <a:pt x="4486" y="8303"/>
                  </a:cubicBezTo>
                  <a:cubicBezTo>
                    <a:pt x="4447" y="8303"/>
                    <a:pt x="4409" y="8284"/>
                    <a:pt x="4384" y="8239"/>
                  </a:cubicBezTo>
                  <a:cubicBezTo>
                    <a:pt x="4323" y="8129"/>
                    <a:pt x="4286" y="8012"/>
                    <a:pt x="4217" y="7913"/>
                  </a:cubicBezTo>
                  <a:cubicBezTo>
                    <a:pt x="4159" y="7830"/>
                    <a:pt x="4067" y="7787"/>
                    <a:pt x="3974" y="7787"/>
                  </a:cubicBezTo>
                  <a:cubicBezTo>
                    <a:pt x="3898" y="7787"/>
                    <a:pt x="3821" y="7816"/>
                    <a:pt x="3761" y="7876"/>
                  </a:cubicBezTo>
                  <a:cubicBezTo>
                    <a:pt x="3644" y="7996"/>
                    <a:pt x="3614" y="8113"/>
                    <a:pt x="3648" y="8324"/>
                  </a:cubicBezTo>
                  <a:cubicBezTo>
                    <a:pt x="3658" y="8394"/>
                    <a:pt x="3611" y="8461"/>
                    <a:pt x="3541" y="8471"/>
                  </a:cubicBezTo>
                  <a:cubicBezTo>
                    <a:pt x="3534" y="8472"/>
                    <a:pt x="3528" y="8473"/>
                    <a:pt x="3522" y="8473"/>
                  </a:cubicBezTo>
                  <a:cubicBezTo>
                    <a:pt x="3460" y="8473"/>
                    <a:pt x="3406" y="8428"/>
                    <a:pt x="3394" y="8363"/>
                  </a:cubicBezTo>
                  <a:cubicBezTo>
                    <a:pt x="3325" y="7922"/>
                    <a:pt x="3510" y="7755"/>
                    <a:pt x="3674" y="7607"/>
                  </a:cubicBezTo>
                  <a:cubicBezTo>
                    <a:pt x="3866" y="7434"/>
                    <a:pt x="3885" y="7145"/>
                    <a:pt x="3721" y="6949"/>
                  </a:cubicBezTo>
                  <a:cubicBezTo>
                    <a:pt x="3350" y="6503"/>
                    <a:pt x="2890" y="6325"/>
                    <a:pt x="2411" y="6168"/>
                  </a:cubicBezTo>
                  <a:cubicBezTo>
                    <a:pt x="2285" y="6126"/>
                    <a:pt x="2152" y="6104"/>
                    <a:pt x="2022" y="6104"/>
                  </a:cubicBezTo>
                  <a:cubicBezTo>
                    <a:pt x="1688" y="6104"/>
                    <a:pt x="1373" y="6250"/>
                    <a:pt x="1252" y="6589"/>
                  </a:cubicBezTo>
                  <a:cubicBezTo>
                    <a:pt x="1191" y="6764"/>
                    <a:pt x="1120" y="6948"/>
                    <a:pt x="994" y="7099"/>
                  </a:cubicBezTo>
                  <a:cubicBezTo>
                    <a:pt x="970" y="7129"/>
                    <a:pt x="935" y="7145"/>
                    <a:pt x="897" y="7145"/>
                  </a:cubicBezTo>
                  <a:cubicBezTo>
                    <a:pt x="894" y="7145"/>
                    <a:pt x="891" y="7145"/>
                    <a:pt x="887" y="7145"/>
                  </a:cubicBezTo>
                  <a:cubicBezTo>
                    <a:pt x="783" y="7139"/>
                    <a:pt x="732" y="7013"/>
                    <a:pt x="796" y="6936"/>
                  </a:cubicBezTo>
                  <a:cubicBezTo>
                    <a:pt x="817" y="6910"/>
                    <a:pt x="838" y="6881"/>
                    <a:pt x="856" y="6849"/>
                  </a:cubicBezTo>
                  <a:cubicBezTo>
                    <a:pt x="967" y="6674"/>
                    <a:pt x="865" y="6449"/>
                    <a:pt x="670" y="6401"/>
                  </a:cubicBezTo>
                  <a:cubicBezTo>
                    <a:pt x="525" y="6367"/>
                    <a:pt x="419" y="6300"/>
                    <a:pt x="368" y="6263"/>
                  </a:cubicBezTo>
                  <a:cubicBezTo>
                    <a:pt x="259" y="6182"/>
                    <a:pt x="334" y="6030"/>
                    <a:pt x="442" y="6030"/>
                  </a:cubicBezTo>
                  <a:cubicBezTo>
                    <a:pt x="468" y="6030"/>
                    <a:pt x="494" y="6038"/>
                    <a:pt x="521" y="6057"/>
                  </a:cubicBezTo>
                  <a:cubicBezTo>
                    <a:pt x="622" y="6130"/>
                    <a:pt x="738" y="6168"/>
                    <a:pt x="854" y="6168"/>
                  </a:cubicBezTo>
                  <a:cubicBezTo>
                    <a:pt x="923" y="6168"/>
                    <a:pt x="991" y="6155"/>
                    <a:pt x="1055" y="6129"/>
                  </a:cubicBezTo>
                  <a:cubicBezTo>
                    <a:pt x="1598" y="5907"/>
                    <a:pt x="1727" y="4943"/>
                    <a:pt x="1727" y="4362"/>
                  </a:cubicBezTo>
                  <a:cubicBezTo>
                    <a:pt x="1727" y="3937"/>
                    <a:pt x="1658" y="3549"/>
                    <a:pt x="1525" y="3236"/>
                  </a:cubicBezTo>
                  <a:cubicBezTo>
                    <a:pt x="1400" y="2946"/>
                    <a:pt x="1226" y="2731"/>
                    <a:pt x="1034" y="2633"/>
                  </a:cubicBezTo>
                  <a:cubicBezTo>
                    <a:pt x="954" y="2593"/>
                    <a:pt x="874" y="2573"/>
                    <a:pt x="795" y="2573"/>
                  </a:cubicBezTo>
                  <a:cubicBezTo>
                    <a:pt x="698" y="2573"/>
                    <a:pt x="604" y="2604"/>
                    <a:pt x="519" y="2666"/>
                  </a:cubicBezTo>
                  <a:cubicBezTo>
                    <a:pt x="497" y="2682"/>
                    <a:pt x="471" y="2692"/>
                    <a:pt x="443" y="2692"/>
                  </a:cubicBezTo>
                  <a:cubicBezTo>
                    <a:pt x="437" y="2692"/>
                    <a:pt x="431" y="2691"/>
                    <a:pt x="424" y="2690"/>
                  </a:cubicBezTo>
                  <a:cubicBezTo>
                    <a:pt x="312" y="2673"/>
                    <a:pt x="277" y="2528"/>
                    <a:pt x="368" y="2460"/>
                  </a:cubicBezTo>
                  <a:cubicBezTo>
                    <a:pt x="418" y="2423"/>
                    <a:pt x="525" y="2357"/>
                    <a:pt x="670" y="2322"/>
                  </a:cubicBezTo>
                  <a:cubicBezTo>
                    <a:pt x="865" y="2275"/>
                    <a:pt x="966" y="2049"/>
                    <a:pt x="856" y="1874"/>
                  </a:cubicBezTo>
                  <a:cubicBezTo>
                    <a:pt x="836" y="1843"/>
                    <a:pt x="817" y="1815"/>
                    <a:pt x="796" y="1788"/>
                  </a:cubicBezTo>
                  <a:cubicBezTo>
                    <a:pt x="761" y="1747"/>
                    <a:pt x="759" y="1687"/>
                    <a:pt x="788" y="1637"/>
                  </a:cubicBezTo>
                  <a:cubicBezTo>
                    <a:pt x="813" y="1598"/>
                    <a:pt x="854" y="1578"/>
                    <a:pt x="896" y="1578"/>
                  </a:cubicBezTo>
                  <a:cubicBezTo>
                    <a:pt x="932" y="1578"/>
                    <a:pt x="968" y="1593"/>
                    <a:pt x="994" y="1625"/>
                  </a:cubicBezTo>
                  <a:cubicBezTo>
                    <a:pt x="1120" y="1778"/>
                    <a:pt x="1191" y="1959"/>
                    <a:pt x="1252" y="2135"/>
                  </a:cubicBezTo>
                  <a:cubicBezTo>
                    <a:pt x="1365" y="2454"/>
                    <a:pt x="1599" y="2621"/>
                    <a:pt x="1913" y="2621"/>
                  </a:cubicBezTo>
                  <a:cubicBezTo>
                    <a:pt x="2026" y="2621"/>
                    <a:pt x="2149" y="2599"/>
                    <a:pt x="2281" y="2555"/>
                  </a:cubicBezTo>
                  <a:cubicBezTo>
                    <a:pt x="2867" y="2363"/>
                    <a:pt x="3468" y="2132"/>
                    <a:pt x="3842" y="1619"/>
                  </a:cubicBezTo>
                  <a:cubicBezTo>
                    <a:pt x="3961" y="1456"/>
                    <a:pt x="3931" y="1226"/>
                    <a:pt x="3774" y="1097"/>
                  </a:cubicBezTo>
                  <a:cubicBezTo>
                    <a:pt x="3582" y="940"/>
                    <a:pt x="3576" y="786"/>
                    <a:pt x="3477" y="618"/>
                  </a:cubicBezTo>
                  <a:cubicBezTo>
                    <a:pt x="3422" y="525"/>
                    <a:pt x="3498" y="422"/>
                    <a:pt x="3588" y="422"/>
                  </a:cubicBezTo>
                  <a:cubicBezTo>
                    <a:pt x="3594" y="422"/>
                    <a:pt x="3599" y="422"/>
                    <a:pt x="3605" y="423"/>
                  </a:cubicBezTo>
                  <a:cubicBezTo>
                    <a:pt x="3732" y="440"/>
                    <a:pt x="3735" y="630"/>
                    <a:pt x="3863" y="811"/>
                  </a:cubicBezTo>
                  <a:cubicBezTo>
                    <a:pt x="3922" y="895"/>
                    <a:pt x="4014" y="938"/>
                    <a:pt x="4107" y="938"/>
                  </a:cubicBezTo>
                  <a:cubicBezTo>
                    <a:pt x="4184" y="938"/>
                    <a:pt x="4261" y="908"/>
                    <a:pt x="4320" y="848"/>
                  </a:cubicBezTo>
                  <a:cubicBezTo>
                    <a:pt x="4437" y="728"/>
                    <a:pt x="4467" y="611"/>
                    <a:pt x="4432" y="400"/>
                  </a:cubicBezTo>
                  <a:cubicBezTo>
                    <a:pt x="4420" y="316"/>
                    <a:pt x="4487" y="251"/>
                    <a:pt x="4560" y="251"/>
                  </a:cubicBezTo>
                  <a:cubicBezTo>
                    <a:pt x="4585" y="251"/>
                    <a:pt x="4611" y="259"/>
                    <a:pt x="4634" y="275"/>
                  </a:cubicBezTo>
                  <a:cubicBezTo>
                    <a:pt x="4662" y="295"/>
                    <a:pt x="4680" y="326"/>
                    <a:pt x="4686" y="359"/>
                  </a:cubicBezTo>
                  <a:cubicBezTo>
                    <a:pt x="4755" y="801"/>
                    <a:pt x="4570" y="967"/>
                    <a:pt x="4406" y="1115"/>
                  </a:cubicBezTo>
                  <a:cubicBezTo>
                    <a:pt x="4215" y="1288"/>
                    <a:pt x="4195" y="1577"/>
                    <a:pt x="4359" y="1773"/>
                  </a:cubicBezTo>
                  <a:cubicBezTo>
                    <a:pt x="4717" y="2204"/>
                    <a:pt x="5277" y="2383"/>
                    <a:pt x="5798" y="2554"/>
                  </a:cubicBezTo>
                  <a:cubicBezTo>
                    <a:pt x="5929" y="2597"/>
                    <a:pt x="6052" y="2619"/>
                    <a:pt x="6164" y="2619"/>
                  </a:cubicBezTo>
                  <a:cubicBezTo>
                    <a:pt x="6480" y="2619"/>
                    <a:pt x="6714" y="2451"/>
                    <a:pt x="6827" y="2133"/>
                  </a:cubicBezTo>
                  <a:cubicBezTo>
                    <a:pt x="6890" y="1958"/>
                    <a:pt x="6960" y="1775"/>
                    <a:pt x="7086" y="1624"/>
                  </a:cubicBezTo>
                  <a:cubicBezTo>
                    <a:pt x="7110" y="1594"/>
                    <a:pt x="7146" y="1577"/>
                    <a:pt x="7183" y="1577"/>
                  </a:cubicBezTo>
                  <a:cubicBezTo>
                    <a:pt x="7186" y="1577"/>
                    <a:pt x="7189" y="1577"/>
                    <a:pt x="7193" y="1577"/>
                  </a:cubicBezTo>
                  <a:cubicBezTo>
                    <a:pt x="7297" y="1584"/>
                    <a:pt x="7349" y="1709"/>
                    <a:pt x="7285" y="1787"/>
                  </a:cubicBezTo>
                  <a:cubicBezTo>
                    <a:pt x="7264" y="1814"/>
                    <a:pt x="7243" y="1841"/>
                    <a:pt x="7224" y="1873"/>
                  </a:cubicBezTo>
                  <a:cubicBezTo>
                    <a:pt x="7113" y="2048"/>
                    <a:pt x="7216" y="2274"/>
                    <a:pt x="7411" y="2321"/>
                  </a:cubicBezTo>
                  <a:cubicBezTo>
                    <a:pt x="7555" y="2355"/>
                    <a:pt x="7661" y="2422"/>
                    <a:pt x="7713" y="2459"/>
                  </a:cubicBezTo>
                  <a:cubicBezTo>
                    <a:pt x="7821" y="2540"/>
                    <a:pt x="7747" y="2693"/>
                    <a:pt x="7639" y="2693"/>
                  </a:cubicBezTo>
                  <a:cubicBezTo>
                    <a:pt x="7614" y="2693"/>
                    <a:pt x="7587" y="2685"/>
                    <a:pt x="7560" y="2665"/>
                  </a:cubicBezTo>
                  <a:cubicBezTo>
                    <a:pt x="7445" y="2581"/>
                    <a:pt x="7334" y="2543"/>
                    <a:pt x="7230" y="2543"/>
                  </a:cubicBezTo>
                  <a:cubicBezTo>
                    <a:pt x="6510" y="2543"/>
                    <a:pt x="6071" y="4343"/>
                    <a:pt x="6556" y="5485"/>
                  </a:cubicBezTo>
                  <a:cubicBezTo>
                    <a:pt x="6680" y="5775"/>
                    <a:pt x="6854" y="5990"/>
                    <a:pt x="7047" y="6088"/>
                  </a:cubicBezTo>
                  <a:cubicBezTo>
                    <a:pt x="7127" y="6128"/>
                    <a:pt x="7207" y="6148"/>
                    <a:pt x="7285" y="6148"/>
                  </a:cubicBezTo>
                  <a:cubicBezTo>
                    <a:pt x="7382" y="6148"/>
                    <a:pt x="7476" y="6117"/>
                    <a:pt x="7561" y="6055"/>
                  </a:cubicBezTo>
                  <a:cubicBezTo>
                    <a:pt x="7584" y="6038"/>
                    <a:pt x="7610" y="6030"/>
                    <a:pt x="7636" y="6030"/>
                  </a:cubicBezTo>
                  <a:cubicBezTo>
                    <a:pt x="7676" y="6030"/>
                    <a:pt x="7715" y="6048"/>
                    <a:pt x="7740" y="6082"/>
                  </a:cubicBezTo>
                  <a:cubicBezTo>
                    <a:pt x="7782" y="6139"/>
                    <a:pt x="7770" y="6220"/>
                    <a:pt x="7713" y="6262"/>
                  </a:cubicBezTo>
                  <a:cubicBezTo>
                    <a:pt x="7662" y="6299"/>
                    <a:pt x="7555" y="6366"/>
                    <a:pt x="7411" y="6400"/>
                  </a:cubicBezTo>
                  <a:cubicBezTo>
                    <a:pt x="7216" y="6447"/>
                    <a:pt x="7116" y="6673"/>
                    <a:pt x="7224" y="6848"/>
                  </a:cubicBezTo>
                  <a:cubicBezTo>
                    <a:pt x="7244" y="6879"/>
                    <a:pt x="7264" y="6907"/>
                    <a:pt x="7285" y="6934"/>
                  </a:cubicBezTo>
                  <a:cubicBezTo>
                    <a:pt x="7349" y="7011"/>
                    <a:pt x="7297" y="7137"/>
                    <a:pt x="7193" y="7144"/>
                  </a:cubicBezTo>
                  <a:cubicBezTo>
                    <a:pt x="7189" y="7144"/>
                    <a:pt x="7186" y="7144"/>
                    <a:pt x="7183" y="7144"/>
                  </a:cubicBezTo>
                  <a:cubicBezTo>
                    <a:pt x="7146" y="7144"/>
                    <a:pt x="7110" y="7127"/>
                    <a:pt x="7086" y="7097"/>
                  </a:cubicBezTo>
                  <a:cubicBezTo>
                    <a:pt x="6960" y="6944"/>
                    <a:pt x="6890" y="6763"/>
                    <a:pt x="6827" y="6588"/>
                  </a:cubicBezTo>
                  <a:cubicBezTo>
                    <a:pt x="6707" y="6249"/>
                    <a:pt x="6393" y="6103"/>
                    <a:pt x="6059" y="6103"/>
                  </a:cubicBezTo>
                  <a:cubicBezTo>
                    <a:pt x="5929" y="6103"/>
                    <a:pt x="5796" y="6125"/>
                    <a:pt x="5670" y="6167"/>
                  </a:cubicBezTo>
                  <a:cubicBezTo>
                    <a:pt x="5603" y="6189"/>
                    <a:pt x="5566" y="6262"/>
                    <a:pt x="5588" y="6327"/>
                  </a:cubicBezTo>
                  <a:cubicBezTo>
                    <a:pt x="5606" y="6381"/>
                    <a:pt x="5656" y="6416"/>
                    <a:pt x="5710" y="6416"/>
                  </a:cubicBezTo>
                  <a:cubicBezTo>
                    <a:pt x="5723" y="6416"/>
                    <a:pt x="5736" y="6414"/>
                    <a:pt x="5749" y="6409"/>
                  </a:cubicBezTo>
                  <a:cubicBezTo>
                    <a:pt x="5849" y="6377"/>
                    <a:pt x="5955" y="6359"/>
                    <a:pt x="6058" y="6359"/>
                  </a:cubicBezTo>
                  <a:cubicBezTo>
                    <a:pt x="6292" y="6359"/>
                    <a:pt x="6507" y="6453"/>
                    <a:pt x="6585" y="6673"/>
                  </a:cubicBezTo>
                  <a:cubicBezTo>
                    <a:pt x="6654" y="6869"/>
                    <a:pt x="6736" y="7075"/>
                    <a:pt x="6887" y="7260"/>
                  </a:cubicBezTo>
                  <a:cubicBezTo>
                    <a:pt x="6960" y="7349"/>
                    <a:pt x="7070" y="7401"/>
                    <a:pt x="7185" y="7401"/>
                  </a:cubicBezTo>
                  <a:cubicBezTo>
                    <a:pt x="7193" y="7401"/>
                    <a:pt x="7201" y="7401"/>
                    <a:pt x="7208" y="7400"/>
                  </a:cubicBezTo>
                  <a:cubicBezTo>
                    <a:pt x="7520" y="7379"/>
                    <a:pt x="7677" y="7011"/>
                    <a:pt x="7482" y="6773"/>
                  </a:cubicBezTo>
                  <a:cubicBezTo>
                    <a:pt x="7467" y="6757"/>
                    <a:pt x="7453" y="6737"/>
                    <a:pt x="7439" y="6714"/>
                  </a:cubicBezTo>
                  <a:cubicBezTo>
                    <a:pt x="7424" y="6689"/>
                    <a:pt x="7439" y="6657"/>
                    <a:pt x="7469" y="6651"/>
                  </a:cubicBezTo>
                  <a:cubicBezTo>
                    <a:pt x="7657" y="6606"/>
                    <a:pt x="7796" y="6517"/>
                    <a:pt x="7861" y="6470"/>
                  </a:cubicBezTo>
                  <a:cubicBezTo>
                    <a:pt x="8140" y="6268"/>
                    <a:pt x="8026" y="5834"/>
                    <a:pt x="7693" y="5783"/>
                  </a:cubicBezTo>
                  <a:cubicBezTo>
                    <a:pt x="7673" y="5780"/>
                    <a:pt x="7653" y="5778"/>
                    <a:pt x="7633" y="5778"/>
                  </a:cubicBezTo>
                  <a:cubicBezTo>
                    <a:pt x="7553" y="5778"/>
                    <a:pt x="7474" y="5804"/>
                    <a:pt x="7408" y="5852"/>
                  </a:cubicBezTo>
                  <a:cubicBezTo>
                    <a:pt x="7369" y="5881"/>
                    <a:pt x="7326" y="5895"/>
                    <a:pt x="7281" y="5895"/>
                  </a:cubicBezTo>
                  <a:cubicBezTo>
                    <a:pt x="6992" y="5895"/>
                    <a:pt x="6607" y="5326"/>
                    <a:pt x="6607" y="4365"/>
                  </a:cubicBezTo>
                  <a:cubicBezTo>
                    <a:pt x="6607" y="3667"/>
                    <a:pt x="6842" y="2982"/>
                    <a:pt x="7129" y="2835"/>
                  </a:cubicBezTo>
                  <a:cubicBezTo>
                    <a:pt x="7156" y="2822"/>
                    <a:pt x="7190" y="2809"/>
                    <a:pt x="7232" y="2809"/>
                  </a:cubicBezTo>
                  <a:cubicBezTo>
                    <a:pt x="7280" y="2809"/>
                    <a:pt x="7338" y="2825"/>
                    <a:pt x="7408" y="2876"/>
                  </a:cubicBezTo>
                  <a:cubicBezTo>
                    <a:pt x="7476" y="2926"/>
                    <a:pt x="7558" y="2951"/>
                    <a:pt x="7639" y="2951"/>
                  </a:cubicBezTo>
                  <a:cubicBezTo>
                    <a:pt x="7719" y="2951"/>
                    <a:pt x="7799" y="2926"/>
                    <a:pt x="7865" y="2876"/>
                  </a:cubicBezTo>
                  <a:cubicBezTo>
                    <a:pt x="8076" y="2716"/>
                    <a:pt x="8066" y="2409"/>
                    <a:pt x="7861" y="2259"/>
                  </a:cubicBezTo>
                  <a:cubicBezTo>
                    <a:pt x="7796" y="2210"/>
                    <a:pt x="7657" y="2123"/>
                    <a:pt x="7469" y="2077"/>
                  </a:cubicBezTo>
                  <a:cubicBezTo>
                    <a:pt x="7439" y="2070"/>
                    <a:pt x="7424" y="2039"/>
                    <a:pt x="7439" y="2014"/>
                  </a:cubicBezTo>
                  <a:cubicBezTo>
                    <a:pt x="7453" y="1993"/>
                    <a:pt x="7467" y="1973"/>
                    <a:pt x="7482" y="1954"/>
                  </a:cubicBezTo>
                  <a:cubicBezTo>
                    <a:pt x="7676" y="1717"/>
                    <a:pt x="7520" y="1347"/>
                    <a:pt x="7207" y="1328"/>
                  </a:cubicBezTo>
                  <a:cubicBezTo>
                    <a:pt x="7199" y="1328"/>
                    <a:pt x="7190" y="1327"/>
                    <a:pt x="7181" y="1327"/>
                  </a:cubicBezTo>
                  <a:cubicBezTo>
                    <a:pt x="7068" y="1327"/>
                    <a:pt x="6959" y="1378"/>
                    <a:pt x="6886" y="1468"/>
                  </a:cubicBezTo>
                  <a:cubicBezTo>
                    <a:pt x="6734" y="1651"/>
                    <a:pt x="6653" y="1858"/>
                    <a:pt x="6584" y="2055"/>
                  </a:cubicBezTo>
                  <a:cubicBezTo>
                    <a:pt x="6509" y="2265"/>
                    <a:pt x="6366" y="2370"/>
                    <a:pt x="6159" y="2370"/>
                  </a:cubicBezTo>
                  <a:cubicBezTo>
                    <a:pt x="6075" y="2370"/>
                    <a:pt x="5981" y="2353"/>
                    <a:pt x="5876" y="2319"/>
                  </a:cubicBezTo>
                  <a:cubicBezTo>
                    <a:pt x="5399" y="2163"/>
                    <a:pt x="4873" y="1999"/>
                    <a:pt x="4553" y="1617"/>
                  </a:cubicBezTo>
                  <a:cubicBezTo>
                    <a:pt x="4478" y="1528"/>
                    <a:pt x="4488" y="1392"/>
                    <a:pt x="4575" y="1312"/>
                  </a:cubicBezTo>
                  <a:cubicBezTo>
                    <a:pt x="4754" y="1150"/>
                    <a:pt x="5028" y="903"/>
                    <a:pt x="4935" y="325"/>
                  </a:cubicBezTo>
                  <a:cubicBezTo>
                    <a:pt x="4905" y="135"/>
                    <a:pt x="4742" y="1"/>
                    <a:pt x="4556" y="1"/>
                  </a:cubicBezTo>
                  <a:close/>
                </a:path>
              </a:pathLst>
            </a:custGeom>
            <a:solidFill>
              <a:schemeClr val="accent3"/>
            </a:solidFill>
            <a:ln>
              <a:noFill/>
            </a:ln>
          </p:spPr>
          <p:txBody>
            <a:bodyPr anchorCtr="0" anchor="ctr" bIns="235450" lIns="235450" spcFirstLastPara="1" rIns="235450" wrap="square" tIns="235450">
              <a:noAutofit/>
            </a:bodyPr>
            <a:lstStyle/>
            <a:p>
              <a:pPr indent="0" lvl="0" marL="0" rtl="0" algn="l">
                <a:spcBef>
                  <a:spcPts val="0"/>
                </a:spcBef>
                <a:spcAft>
                  <a:spcPts val="0"/>
                </a:spcAft>
                <a:buNone/>
              </a:pPr>
              <a:r>
                <a:t/>
              </a:r>
              <a:endParaRPr/>
            </a:p>
          </p:txBody>
        </p:sp>
      </p:grpSp>
      <p:pic>
        <p:nvPicPr>
          <p:cNvPr id="674" name="Google Shape;674;p44" title="1_dDNpLKu_oTLzStsDTnkJ-g.png"/>
          <p:cNvPicPr preferRelativeResize="0"/>
          <p:nvPr/>
        </p:nvPicPr>
        <p:blipFill rotWithShape="1">
          <a:blip r:embed="rId5">
            <a:alphaModFix/>
          </a:blip>
          <a:srcRect b="4869" l="0" r="0" t="-4870"/>
          <a:stretch/>
        </p:blipFill>
        <p:spPr>
          <a:xfrm>
            <a:off x="4163800" y="2970814"/>
            <a:ext cx="4113301" cy="152467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5"/>
          <p:cNvSpPr txBox="1"/>
          <p:nvPr>
            <p:ph type="title"/>
          </p:nvPr>
        </p:nvSpPr>
        <p:spPr>
          <a:xfrm>
            <a:off x="720000" y="203050"/>
            <a:ext cx="77040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High-Level Overview</a:t>
            </a:r>
            <a:r>
              <a:rPr lang="en"/>
              <a:t> - </a:t>
            </a:r>
            <a:r>
              <a:rPr b="0" lang="en">
                <a:solidFill>
                  <a:schemeClr val="accent6"/>
                </a:solidFill>
              </a:rPr>
              <a:t>WEB APPLICATION</a:t>
            </a:r>
            <a:endParaRPr b="0">
              <a:solidFill>
                <a:schemeClr val="accent6"/>
              </a:solidFill>
            </a:endParaRPr>
          </a:p>
        </p:txBody>
      </p:sp>
      <p:sp>
        <p:nvSpPr>
          <p:cNvPr id="680" name="Google Shape;680;p45"/>
          <p:cNvSpPr/>
          <p:nvPr/>
        </p:nvSpPr>
        <p:spPr>
          <a:xfrm flipH="1">
            <a:off x="7580525" y="12232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5"/>
          <p:cNvSpPr/>
          <p:nvPr/>
        </p:nvSpPr>
        <p:spPr>
          <a:xfrm flipH="1">
            <a:off x="6700275" y="1387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2" name="Google Shape;682;p45"/>
          <p:cNvCxnSpPr>
            <a:stCxn id="680" idx="6"/>
            <a:endCxn id="681" idx="2"/>
          </p:cNvCxnSpPr>
          <p:nvPr/>
        </p:nvCxnSpPr>
        <p:spPr>
          <a:xfrm flipH="1">
            <a:off x="6767525" y="1284025"/>
            <a:ext cx="813000" cy="136500"/>
          </a:xfrm>
          <a:prstGeom prst="straightConnector1">
            <a:avLst/>
          </a:prstGeom>
          <a:noFill/>
          <a:ln cap="flat" cmpd="sng" w="9525">
            <a:solidFill>
              <a:schemeClr val="accent1"/>
            </a:solidFill>
            <a:prstDash val="solid"/>
            <a:round/>
            <a:headEnd len="med" w="med" type="none"/>
            <a:tailEnd len="med" w="med" type="none"/>
          </a:ln>
        </p:spPr>
      </p:cxnSp>
      <p:sp>
        <p:nvSpPr>
          <p:cNvPr id="683" name="Google Shape;683;p45"/>
          <p:cNvSpPr txBox="1"/>
          <p:nvPr/>
        </p:nvSpPr>
        <p:spPr>
          <a:xfrm>
            <a:off x="720000" y="1117150"/>
            <a:ext cx="7688100" cy="402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TECH STACK: </a:t>
            </a:r>
            <a:r>
              <a:rPr lang="en" sz="1600">
                <a:solidFill>
                  <a:schemeClr val="dk1"/>
                </a:solidFill>
              </a:rPr>
              <a:t>Next.js (React framework), Gradio,  HuggingFace |  </a:t>
            </a:r>
            <a:r>
              <a:rPr b="1" lang="en" sz="1600">
                <a:solidFill>
                  <a:schemeClr val="dk1"/>
                </a:solidFill>
              </a:rPr>
              <a:t>DEPLOYED:</a:t>
            </a:r>
            <a:r>
              <a:rPr lang="en" sz="1600">
                <a:solidFill>
                  <a:schemeClr val="dk1"/>
                </a:solidFill>
              </a:rPr>
              <a:t> Vercel</a:t>
            </a:r>
            <a:endParaRPr sz="1600">
              <a:solidFill>
                <a:schemeClr val="dk1"/>
              </a:solidFill>
            </a:endParaRPr>
          </a:p>
          <a:p>
            <a:pPr indent="0" lvl="0" marL="0" rtl="0" algn="l">
              <a:spcBef>
                <a:spcPts val="0"/>
              </a:spcBef>
              <a:spcAft>
                <a:spcPts val="0"/>
              </a:spcAft>
              <a:buNone/>
            </a:pPr>
            <a:r>
              <a:rPr lang="en" sz="1600">
                <a:solidFill>
                  <a:schemeClr val="dk1"/>
                </a:solidFill>
              </a:rPr>
              <a:t>LINK: </a:t>
            </a:r>
            <a:r>
              <a:rPr lang="en" sz="1600" u="sng">
                <a:solidFill>
                  <a:schemeClr val="dk1"/>
                </a:solidFill>
                <a:hlinkClick r:id="rId3">
                  <a:extLst>
                    <a:ext uri="{A12FA001-AC4F-418D-AE19-62706E023703}">
                      <ahyp:hlinkClr val="tx"/>
                    </a:ext>
                  </a:extLst>
                </a:hlinkClick>
              </a:rPr>
              <a:t>https://neuroscan-frontend.vercel.app/</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Overview</a:t>
            </a:r>
            <a:r>
              <a:rPr b="1" lang="en" sz="1600">
                <a:solidFill>
                  <a:schemeClr val="dk1"/>
                </a:solidFill>
              </a:rPr>
              <a:t>:</a:t>
            </a:r>
            <a:endParaRPr b="1" sz="1600">
              <a:solidFill>
                <a:schemeClr val="dk1"/>
              </a:solidFill>
            </a:endParaRPr>
          </a:p>
          <a:p>
            <a:pPr indent="-330200" lvl="0" marL="457200" rtl="0" algn="l">
              <a:lnSpc>
                <a:spcPct val="115000"/>
              </a:lnSpc>
              <a:spcBef>
                <a:spcPts val="1200"/>
              </a:spcBef>
              <a:spcAft>
                <a:spcPts val="0"/>
              </a:spcAft>
              <a:buClr>
                <a:schemeClr val="dk1"/>
              </a:buClr>
              <a:buSzPts val="1600"/>
              <a:buFont typeface="Arial"/>
              <a:buChar char="●"/>
            </a:pPr>
            <a:r>
              <a:rPr b="1" lang="en" sz="1600">
                <a:solidFill>
                  <a:schemeClr val="dk1"/>
                </a:solidFill>
              </a:rPr>
              <a:t>Next.js (React Framework) </a:t>
            </a:r>
            <a:r>
              <a:rPr lang="en" sz="1600">
                <a:solidFill>
                  <a:schemeClr val="dk1"/>
                </a:solidFill>
              </a:rPr>
              <a:t>- Hosts the User Interface, handling file uploads, displaying the NIfTI viewer, and provides the Secure Proxy for external API calls.</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b="1" lang="en" sz="1600">
                <a:solidFill>
                  <a:schemeClr val="dk1"/>
                </a:solidFill>
              </a:rPr>
              <a:t>Gradio </a:t>
            </a:r>
            <a:r>
              <a:rPr lang="en" sz="1600">
                <a:solidFill>
                  <a:schemeClr val="dk1"/>
                </a:solidFill>
              </a:rPr>
              <a:t>- </a:t>
            </a:r>
            <a:r>
              <a:rPr lang="en" sz="1600">
                <a:solidFill>
                  <a:schemeClr val="dk1"/>
                </a:solidFill>
              </a:rPr>
              <a:t>Gradio's job is to provide a simple, standardized API to wrap the Python classification model for web consumption</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b="1" lang="en" sz="1600">
                <a:solidFill>
                  <a:schemeClr val="dk1"/>
                </a:solidFill>
              </a:rPr>
              <a:t>Vercel </a:t>
            </a:r>
            <a:r>
              <a:rPr b="1" lang="en" sz="1600">
                <a:solidFill>
                  <a:schemeClr val="dk1"/>
                </a:solidFill>
              </a:rPr>
              <a:t>+ HuggingFace </a:t>
            </a:r>
            <a:r>
              <a:rPr lang="en" sz="1600">
                <a:solidFill>
                  <a:schemeClr val="dk1"/>
                </a:solidFill>
              </a:rPr>
              <a:t>- Vercel hosts and serves the Next.js Frontend. Hugging Face hosts and runs the heavy-duty Gradio Backend</a:t>
            </a:r>
            <a:endParaRPr sz="1600">
              <a:solidFill>
                <a:schemeClr val="dk1"/>
              </a:solidFill>
            </a:endParaRPr>
          </a:p>
          <a:p>
            <a:pPr indent="0" lvl="0" marL="457200" rtl="0" algn="l">
              <a:spcBef>
                <a:spcPts val="1200"/>
              </a:spcBef>
              <a:spcAft>
                <a:spcPts val="0"/>
              </a:spcAft>
              <a:buNone/>
            </a:pPr>
            <a:r>
              <a:t/>
            </a:r>
            <a:endParaRPr sz="16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6"/>
          <p:cNvSpPr txBox="1"/>
          <p:nvPr>
            <p:ph type="title"/>
          </p:nvPr>
        </p:nvSpPr>
        <p:spPr>
          <a:xfrm>
            <a:off x="720000" y="540000"/>
            <a:ext cx="77040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FRONTEND DEPLOYMENT - </a:t>
            </a:r>
            <a:r>
              <a:rPr b="0" lang="en">
                <a:solidFill>
                  <a:schemeClr val="accent6"/>
                </a:solidFill>
              </a:rPr>
              <a:t>RESULTS VISUALIZATION</a:t>
            </a:r>
            <a:endParaRPr b="0">
              <a:solidFill>
                <a:schemeClr val="accent6"/>
              </a:solidFill>
            </a:endParaRPr>
          </a:p>
        </p:txBody>
      </p:sp>
      <p:sp>
        <p:nvSpPr>
          <p:cNvPr id="689" name="Google Shape;689;p46"/>
          <p:cNvSpPr/>
          <p:nvPr/>
        </p:nvSpPr>
        <p:spPr>
          <a:xfrm flipH="1">
            <a:off x="7580525" y="12232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6"/>
          <p:cNvSpPr/>
          <p:nvPr/>
        </p:nvSpPr>
        <p:spPr>
          <a:xfrm flipH="1">
            <a:off x="6700275" y="1387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1" name="Google Shape;691;p46"/>
          <p:cNvCxnSpPr>
            <a:stCxn id="689" idx="6"/>
            <a:endCxn id="690" idx="2"/>
          </p:cNvCxnSpPr>
          <p:nvPr/>
        </p:nvCxnSpPr>
        <p:spPr>
          <a:xfrm flipH="1">
            <a:off x="6767525" y="1284025"/>
            <a:ext cx="813000" cy="136500"/>
          </a:xfrm>
          <a:prstGeom prst="straightConnector1">
            <a:avLst/>
          </a:prstGeom>
          <a:noFill/>
          <a:ln cap="flat" cmpd="sng" w="9525">
            <a:solidFill>
              <a:schemeClr val="accent1"/>
            </a:solidFill>
            <a:prstDash val="solid"/>
            <a:round/>
            <a:headEnd len="med" w="med" type="none"/>
            <a:tailEnd len="med" w="med" type="none"/>
          </a:ln>
        </p:spPr>
      </p:cxnSp>
      <p:sp>
        <p:nvSpPr>
          <p:cNvPr id="692" name="Google Shape;692;p46"/>
          <p:cNvSpPr txBox="1"/>
          <p:nvPr/>
        </p:nvSpPr>
        <p:spPr>
          <a:xfrm>
            <a:off x="727950" y="1531725"/>
            <a:ext cx="7688100" cy="32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NIFTI VIEWER - INTERACTIVE 3D VISUALIZATION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Tech Stack: Niivue.js | Next.js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600">
                <a:solidFill>
                  <a:schemeClr val="dk1"/>
                </a:solidFill>
              </a:rPr>
              <a:t>How it works: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Receive Data</a:t>
            </a:r>
            <a:r>
              <a:rPr lang="en" sz="1600">
                <a:solidFill>
                  <a:schemeClr val="dk1"/>
                </a:solidFill>
              </a:rPr>
              <a:t> - Backend sends 3D MRI scan + AI heatmap + confidence score as base64 text</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Decode &amp; Load</a:t>
            </a:r>
            <a:r>
              <a:rPr lang="en" sz="1600">
                <a:solidFill>
                  <a:schemeClr val="dk1"/>
                </a:solidFill>
              </a:rPr>
              <a:t> - Convert to binary, load both volumes into Niivue 3D viewer</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Multi-View Display</a:t>
            </a:r>
            <a:r>
              <a:rPr lang="en" sz="1600">
                <a:solidFill>
                  <a:schemeClr val="dk1"/>
                </a:solidFill>
              </a:rPr>
              <a:t> - 4 synchronized angles (side, front, top, 3D) of vessel segment</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Heatmap Overlay</a:t>
            </a:r>
            <a:r>
              <a:rPr lang="en" sz="1600">
                <a:solidFill>
                  <a:schemeClr val="dk1"/>
                </a:solidFill>
              </a:rPr>
              <a:t> - AI detections of abnormalities displayed from yellow to red color intensity on scan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Interactive Navigation</a:t>
            </a:r>
            <a:r>
              <a:rPr lang="en" sz="1600">
                <a:solidFill>
                  <a:schemeClr val="dk1"/>
                </a:solidFill>
              </a:rPr>
              <a:t> - Click, zoom, and explore slices in real-time</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47"/>
          <p:cNvSpPr txBox="1"/>
          <p:nvPr>
            <p:ph type="title"/>
          </p:nvPr>
        </p:nvSpPr>
        <p:spPr>
          <a:xfrm>
            <a:off x="720000" y="540000"/>
            <a:ext cx="77040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BACKEND DEPLOYMENT - </a:t>
            </a:r>
            <a:r>
              <a:rPr b="0" lang="en">
                <a:solidFill>
                  <a:schemeClr val="accent6"/>
                </a:solidFill>
              </a:rPr>
              <a:t>RUNNING MODEL AND GENERATING HEATMAP</a:t>
            </a:r>
            <a:endParaRPr b="0">
              <a:solidFill>
                <a:schemeClr val="accent6"/>
              </a:solidFill>
            </a:endParaRPr>
          </a:p>
        </p:txBody>
      </p:sp>
      <p:sp>
        <p:nvSpPr>
          <p:cNvPr id="698" name="Google Shape;698;p47"/>
          <p:cNvSpPr/>
          <p:nvPr/>
        </p:nvSpPr>
        <p:spPr>
          <a:xfrm flipH="1">
            <a:off x="7580525" y="12232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7"/>
          <p:cNvSpPr/>
          <p:nvPr/>
        </p:nvSpPr>
        <p:spPr>
          <a:xfrm flipH="1">
            <a:off x="6700275" y="1387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0" name="Google Shape;700;p47"/>
          <p:cNvCxnSpPr>
            <a:stCxn id="698" idx="6"/>
            <a:endCxn id="699" idx="2"/>
          </p:cNvCxnSpPr>
          <p:nvPr/>
        </p:nvCxnSpPr>
        <p:spPr>
          <a:xfrm flipH="1">
            <a:off x="6767525" y="1284025"/>
            <a:ext cx="813000" cy="136500"/>
          </a:xfrm>
          <a:prstGeom prst="straightConnector1">
            <a:avLst/>
          </a:prstGeom>
          <a:noFill/>
          <a:ln cap="flat" cmpd="sng" w="9525">
            <a:solidFill>
              <a:schemeClr val="accent1"/>
            </a:solidFill>
            <a:prstDash val="solid"/>
            <a:round/>
            <a:headEnd len="med" w="med" type="none"/>
            <a:tailEnd len="med" w="med" type="none"/>
          </a:ln>
        </p:spPr>
      </p:cxnSp>
      <p:sp>
        <p:nvSpPr>
          <p:cNvPr id="701" name="Google Shape;701;p47"/>
          <p:cNvSpPr txBox="1"/>
          <p:nvPr/>
        </p:nvSpPr>
        <p:spPr>
          <a:xfrm>
            <a:off x="727950" y="1646825"/>
            <a:ext cx="7688100" cy="31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TECH STACK: </a:t>
            </a:r>
            <a:r>
              <a:rPr lang="en" sz="1600">
                <a:solidFill>
                  <a:schemeClr val="dk1"/>
                </a:solidFill>
              </a:rPr>
              <a:t>Python |</a:t>
            </a:r>
            <a:r>
              <a:rPr lang="en" sz="1600">
                <a:solidFill>
                  <a:schemeClr val="dk1"/>
                </a:solidFill>
              </a:rPr>
              <a:t> hosted on HuggingFace Spaces </a:t>
            </a:r>
            <a:endParaRPr sz="1600">
              <a:solidFill>
                <a:schemeClr val="dk1"/>
              </a:solidFill>
            </a:endParaRPr>
          </a:p>
          <a:p>
            <a:pPr indent="0" lvl="0" marL="0" rtl="0" algn="l">
              <a:spcBef>
                <a:spcPts val="0"/>
              </a:spcBef>
              <a:spcAft>
                <a:spcPts val="0"/>
              </a:spcAft>
              <a:buNone/>
            </a:pPr>
            <a:r>
              <a:rPr lang="en" sz="1600" u="sng">
                <a:solidFill>
                  <a:schemeClr val="hlink"/>
                </a:solidFill>
                <a:hlinkClick r:id="rId3"/>
              </a:rPr>
              <a:t>https://huggingface.co/spaces/cooleschimo/neuroscan-backend</a:t>
            </a:r>
            <a:r>
              <a:rPr lang="en" sz="1600">
                <a:solidFill>
                  <a:schemeClr val="dk1"/>
                </a:solidFill>
              </a:rPr>
              <a:t> </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600">
                <a:solidFill>
                  <a:schemeClr val="dk1"/>
                </a:solidFill>
              </a:rPr>
              <a:t>How it works:</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File Upload </a:t>
            </a:r>
            <a:r>
              <a:rPr lang="en" sz="1600">
                <a:solidFill>
                  <a:schemeClr val="dk1"/>
                </a:solidFill>
              </a:rPr>
              <a:t>- Gradio API receives NIFTI scan file from frontend</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Preprocess MRI scan</a:t>
            </a:r>
            <a:r>
              <a:rPr lang="en" sz="1600">
                <a:solidFill>
                  <a:schemeClr val="dk1"/>
                </a:solidFill>
              </a:rPr>
              <a:t> - MONAI framework normalizes and prepares 3D scan data for model</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AI Inference</a:t>
            </a:r>
            <a:r>
              <a:rPr lang="en" sz="1600">
                <a:solidFill>
                  <a:schemeClr val="dk1"/>
                </a:solidFill>
              </a:rPr>
              <a:t> - PyTorch-based CNN (V5 model) analyzes scan and predicts classification</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Generate Heatmap</a:t>
            </a:r>
            <a:r>
              <a:rPr lang="en" sz="1600">
                <a:solidFill>
                  <a:schemeClr val="dk1"/>
                </a:solidFill>
              </a:rPr>
              <a:t> - GradCAM3D creates heatmap showing where model detected abnormalities</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Challenge!</a:t>
            </a:r>
            <a:endParaRPr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48"/>
          <p:cNvSpPr txBox="1"/>
          <p:nvPr>
            <p:ph type="title"/>
          </p:nvPr>
        </p:nvSpPr>
        <p:spPr>
          <a:xfrm>
            <a:off x="720000" y="280275"/>
            <a:ext cx="77040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CHALLENGE: Identifying a suitable layer for the heatmap</a:t>
            </a:r>
            <a:endParaRPr b="0" sz="2400">
              <a:solidFill>
                <a:schemeClr val="accent6"/>
              </a:solidFill>
            </a:endParaRPr>
          </a:p>
        </p:txBody>
      </p:sp>
      <p:sp>
        <p:nvSpPr>
          <p:cNvPr id="707" name="Google Shape;707;p48"/>
          <p:cNvSpPr/>
          <p:nvPr/>
        </p:nvSpPr>
        <p:spPr>
          <a:xfrm flipH="1">
            <a:off x="7958225" y="803651"/>
            <a:ext cx="48600" cy="48600"/>
          </a:xfrm>
          <a:prstGeom prst="ellipse">
            <a:avLst/>
          </a:prstGeom>
          <a:solidFill>
            <a:schemeClr val="dk1"/>
          </a:solidFill>
          <a:ln>
            <a:noFill/>
          </a:ln>
          <a:effectLst>
            <a:outerShdw blurRad="45856" rotWithShape="0" algn="bl">
              <a:schemeClr val="accent3"/>
            </a:outerShdw>
          </a:effectLst>
        </p:spPr>
        <p:txBody>
          <a:bodyPr anchorCtr="0" anchor="ctr" bIns="36675" lIns="36675" spcFirstLastPara="1" rIns="36675" wrap="square" tIns="36675">
            <a:noAutofit/>
          </a:bodyPr>
          <a:lstStyle/>
          <a:p>
            <a:pPr indent="0" lvl="0" marL="0" rtl="0" algn="l">
              <a:spcBef>
                <a:spcPts val="0"/>
              </a:spcBef>
              <a:spcAft>
                <a:spcPts val="0"/>
              </a:spcAft>
              <a:buNone/>
            </a:pPr>
            <a:r>
              <a:t/>
            </a:r>
            <a:endParaRPr/>
          </a:p>
        </p:txBody>
      </p:sp>
      <p:sp>
        <p:nvSpPr>
          <p:cNvPr id="708" name="Google Shape;708;p48"/>
          <p:cNvSpPr/>
          <p:nvPr/>
        </p:nvSpPr>
        <p:spPr>
          <a:xfrm flipH="1">
            <a:off x="6700275" y="1438486"/>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9" name="Google Shape;709;p48"/>
          <p:cNvCxnSpPr>
            <a:stCxn id="707" idx="6"/>
          </p:cNvCxnSpPr>
          <p:nvPr/>
        </p:nvCxnSpPr>
        <p:spPr>
          <a:xfrm flipH="1">
            <a:off x="7220825" y="827951"/>
            <a:ext cx="737400" cy="240300"/>
          </a:xfrm>
          <a:prstGeom prst="straightConnector1">
            <a:avLst/>
          </a:prstGeom>
          <a:noFill/>
          <a:ln cap="flat" cmpd="sng" w="3825">
            <a:solidFill>
              <a:schemeClr val="accent1"/>
            </a:solidFill>
            <a:prstDash val="solid"/>
            <a:round/>
            <a:headEnd len="med" w="med" type="none"/>
            <a:tailEnd len="med" w="med" type="none"/>
          </a:ln>
        </p:spPr>
      </p:cxnSp>
      <p:sp>
        <p:nvSpPr>
          <p:cNvPr id="710" name="Google Shape;710;p48"/>
          <p:cNvSpPr/>
          <p:nvPr/>
        </p:nvSpPr>
        <p:spPr>
          <a:xfrm>
            <a:off x="650725" y="2123086"/>
            <a:ext cx="1146000" cy="11460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aleway"/>
                <a:ea typeface="Raleway"/>
                <a:cs typeface="Raleway"/>
                <a:sym typeface="Raleway"/>
              </a:rPr>
              <a:t>64 x 64 x 64</a:t>
            </a:r>
            <a:endParaRPr>
              <a:solidFill>
                <a:schemeClr val="dk1"/>
              </a:solidFill>
              <a:latin typeface="Raleway"/>
              <a:ea typeface="Raleway"/>
              <a:cs typeface="Raleway"/>
              <a:sym typeface="Raleway"/>
            </a:endParaRPr>
          </a:p>
        </p:txBody>
      </p:sp>
      <p:sp>
        <p:nvSpPr>
          <p:cNvPr id="711" name="Google Shape;711;p48"/>
          <p:cNvSpPr txBox="1"/>
          <p:nvPr/>
        </p:nvSpPr>
        <p:spPr>
          <a:xfrm>
            <a:off x="80552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Input</a:t>
            </a:r>
            <a:endParaRPr b="1" sz="1600">
              <a:solidFill>
                <a:schemeClr val="dk1"/>
              </a:solidFill>
              <a:latin typeface="Raleway"/>
              <a:ea typeface="Raleway"/>
              <a:cs typeface="Raleway"/>
              <a:sym typeface="Raleway"/>
            </a:endParaRPr>
          </a:p>
        </p:txBody>
      </p:sp>
      <p:sp>
        <p:nvSpPr>
          <p:cNvPr id="712" name="Google Shape;712;p48"/>
          <p:cNvSpPr txBox="1"/>
          <p:nvPr/>
        </p:nvSpPr>
        <p:spPr>
          <a:xfrm>
            <a:off x="214212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Layer 1</a:t>
            </a:r>
            <a:endParaRPr b="1" sz="1600">
              <a:solidFill>
                <a:schemeClr val="dk1"/>
              </a:solidFill>
              <a:latin typeface="Raleway"/>
              <a:ea typeface="Raleway"/>
              <a:cs typeface="Raleway"/>
              <a:sym typeface="Raleway"/>
            </a:endParaRPr>
          </a:p>
        </p:txBody>
      </p:sp>
      <p:sp>
        <p:nvSpPr>
          <p:cNvPr id="713" name="Google Shape;713;p48"/>
          <p:cNvSpPr txBox="1"/>
          <p:nvPr/>
        </p:nvSpPr>
        <p:spPr>
          <a:xfrm>
            <a:off x="322037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Layer 2</a:t>
            </a:r>
            <a:endParaRPr b="1" sz="1600">
              <a:solidFill>
                <a:schemeClr val="dk1"/>
              </a:solidFill>
              <a:latin typeface="Raleway"/>
              <a:ea typeface="Raleway"/>
              <a:cs typeface="Raleway"/>
              <a:sym typeface="Raleway"/>
            </a:endParaRPr>
          </a:p>
        </p:txBody>
      </p:sp>
      <p:sp>
        <p:nvSpPr>
          <p:cNvPr id="714" name="Google Shape;714;p48"/>
          <p:cNvSpPr txBox="1"/>
          <p:nvPr/>
        </p:nvSpPr>
        <p:spPr>
          <a:xfrm>
            <a:off x="429862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Layer 3</a:t>
            </a:r>
            <a:endParaRPr b="1" sz="1600">
              <a:solidFill>
                <a:schemeClr val="dk1"/>
              </a:solidFill>
              <a:latin typeface="Raleway"/>
              <a:ea typeface="Raleway"/>
              <a:cs typeface="Raleway"/>
              <a:sym typeface="Raleway"/>
            </a:endParaRPr>
          </a:p>
        </p:txBody>
      </p:sp>
      <p:sp>
        <p:nvSpPr>
          <p:cNvPr id="715" name="Google Shape;715;p48"/>
          <p:cNvSpPr txBox="1"/>
          <p:nvPr/>
        </p:nvSpPr>
        <p:spPr>
          <a:xfrm>
            <a:off x="537687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Layer 4</a:t>
            </a:r>
            <a:endParaRPr b="1" sz="1600">
              <a:solidFill>
                <a:schemeClr val="dk1"/>
              </a:solidFill>
              <a:latin typeface="Raleway"/>
              <a:ea typeface="Raleway"/>
              <a:cs typeface="Raleway"/>
              <a:sym typeface="Raleway"/>
            </a:endParaRPr>
          </a:p>
        </p:txBody>
      </p:sp>
      <p:sp>
        <p:nvSpPr>
          <p:cNvPr id="716" name="Google Shape;716;p48"/>
          <p:cNvSpPr txBox="1"/>
          <p:nvPr/>
        </p:nvSpPr>
        <p:spPr>
          <a:xfrm>
            <a:off x="6455125"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Pooling</a:t>
            </a:r>
            <a:endParaRPr b="1" sz="1600">
              <a:solidFill>
                <a:schemeClr val="dk1"/>
              </a:solidFill>
              <a:latin typeface="Raleway"/>
              <a:ea typeface="Raleway"/>
              <a:cs typeface="Raleway"/>
              <a:sym typeface="Raleway"/>
            </a:endParaRPr>
          </a:p>
        </p:txBody>
      </p:sp>
      <p:sp>
        <p:nvSpPr>
          <p:cNvPr id="717" name="Google Shape;717;p48"/>
          <p:cNvSpPr txBox="1"/>
          <p:nvPr/>
        </p:nvSpPr>
        <p:spPr>
          <a:xfrm>
            <a:off x="7714500" y="1416424"/>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aleway"/>
                <a:ea typeface="Raleway"/>
                <a:cs typeface="Raleway"/>
                <a:sym typeface="Raleway"/>
              </a:rPr>
              <a:t>Output</a:t>
            </a:r>
            <a:endParaRPr b="1" sz="1600">
              <a:solidFill>
                <a:schemeClr val="dk1"/>
              </a:solidFill>
              <a:latin typeface="Raleway"/>
              <a:ea typeface="Raleway"/>
              <a:cs typeface="Raleway"/>
              <a:sym typeface="Raleway"/>
            </a:endParaRPr>
          </a:p>
        </p:txBody>
      </p:sp>
      <p:sp>
        <p:nvSpPr>
          <p:cNvPr id="718" name="Google Shape;718;p48"/>
          <p:cNvSpPr/>
          <p:nvPr/>
        </p:nvSpPr>
        <p:spPr>
          <a:xfrm>
            <a:off x="1987325" y="2123111"/>
            <a:ext cx="991200" cy="9912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aleway"/>
                <a:ea typeface="Raleway"/>
                <a:cs typeface="Raleway"/>
                <a:sym typeface="Raleway"/>
              </a:rPr>
              <a:t>32 x 32 x 32</a:t>
            </a:r>
            <a:endParaRPr>
              <a:solidFill>
                <a:schemeClr val="dk1"/>
              </a:solidFill>
              <a:latin typeface="Raleway"/>
              <a:ea typeface="Raleway"/>
              <a:cs typeface="Raleway"/>
              <a:sym typeface="Raleway"/>
            </a:endParaRPr>
          </a:p>
        </p:txBody>
      </p:sp>
      <p:sp>
        <p:nvSpPr>
          <p:cNvPr id="719" name="Google Shape;719;p48"/>
          <p:cNvSpPr/>
          <p:nvPr/>
        </p:nvSpPr>
        <p:spPr>
          <a:xfrm>
            <a:off x="3220375" y="2123111"/>
            <a:ext cx="914100" cy="9141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aleway"/>
                <a:ea typeface="Raleway"/>
                <a:cs typeface="Raleway"/>
                <a:sym typeface="Raleway"/>
              </a:rPr>
              <a:t>16 x 16 x 16</a:t>
            </a:r>
            <a:endParaRPr>
              <a:solidFill>
                <a:schemeClr val="dk1"/>
              </a:solidFill>
              <a:latin typeface="Raleway"/>
              <a:ea typeface="Raleway"/>
              <a:cs typeface="Raleway"/>
              <a:sym typeface="Raleway"/>
            </a:endParaRPr>
          </a:p>
        </p:txBody>
      </p:sp>
      <p:sp>
        <p:nvSpPr>
          <p:cNvPr id="720" name="Google Shape;720;p48"/>
          <p:cNvSpPr/>
          <p:nvPr/>
        </p:nvSpPr>
        <p:spPr>
          <a:xfrm>
            <a:off x="4337175" y="2123111"/>
            <a:ext cx="814500" cy="814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aleway"/>
                <a:ea typeface="Raleway"/>
                <a:cs typeface="Raleway"/>
                <a:sym typeface="Raleway"/>
              </a:rPr>
              <a:t>8 x 8 x 8</a:t>
            </a:r>
            <a:endParaRPr>
              <a:solidFill>
                <a:schemeClr val="dk1"/>
              </a:solidFill>
              <a:latin typeface="Raleway"/>
              <a:ea typeface="Raleway"/>
              <a:cs typeface="Raleway"/>
              <a:sym typeface="Raleway"/>
            </a:endParaRPr>
          </a:p>
        </p:txBody>
      </p:sp>
      <p:sp>
        <p:nvSpPr>
          <p:cNvPr id="721" name="Google Shape;721;p48"/>
          <p:cNvSpPr/>
          <p:nvPr/>
        </p:nvSpPr>
        <p:spPr>
          <a:xfrm>
            <a:off x="5376875" y="2123111"/>
            <a:ext cx="685800" cy="685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aleway"/>
                <a:ea typeface="Raleway"/>
                <a:cs typeface="Raleway"/>
                <a:sym typeface="Raleway"/>
              </a:rPr>
              <a:t>4 x 4 x 4</a:t>
            </a:r>
            <a:endParaRPr>
              <a:solidFill>
                <a:schemeClr val="dk1"/>
              </a:solidFill>
              <a:latin typeface="Raleway"/>
              <a:ea typeface="Raleway"/>
              <a:cs typeface="Raleway"/>
              <a:sym typeface="Raleway"/>
            </a:endParaRPr>
          </a:p>
        </p:txBody>
      </p:sp>
      <p:sp>
        <p:nvSpPr>
          <p:cNvPr id="722" name="Google Shape;722;p48"/>
          <p:cNvSpPr/>
          <p:nvPr/>
        </p:nvSpPr>
        <p:spPr>
          <a:xfrm>
            <a:off x="6607825" y="2123111"/>
            <a:ext cx="536400" cy="536100"/>
          </a:xfrm>
          <a:prstGeom prst="rect">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aleway"/>
                <a:ea typeface="Raleway"/>
                <a:cs typeface="Raleway"/>
                <a:sym typeface="Raleway"/>
              </a:rPr>
              <a:t>1 x 1 x 1</a:t>
            </a:r>
            <a:endParaRPr>
              <a:solidFill>
                <a:schemeClr val="dk1"/>
              </a:solidFill>
              <a:latin typeface="Raleway"/>
              <a:ea typeface="Raleway"/>
              <a:cs typeface="Raleway"/>
              <a:sym typeface="Raleway"/>
            </a:endParaRPr>
          </a:p>
        </p:txBody>
      </p:sp>
      <p:sp>
        <p:nvSpPr>
          <p:cNvPr id="723" name="Google Shape;723;p48"/>
          <p:cNvSpPr/>
          <p:nvPr/>
        </p:nvSpPr>
        <p:spPr>
          <a:xfrm>
            <a:off x="7919178" y="2123111"/>
            <a:ext cx="374100" cy="3741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Raleway"/>
              <a:ea typeface="Raleway"/>
              <a:cs typeface="Raleway"/>
              <a:sym typeface="Raleway"/>
            </a:endParaRPr>
          </a:p>
        </p:txBody>
      </p:sp>
      <p:cxnSp>
        <p:nvCxnSpPr>
          <p:cNvPr id="724" name="Google Shape;724;p48"/>
          <p:cNvCxnSpPr>
            <a:endCxn id="717" idx="2"/>
          </p:cNvCxnSpPr>
          <p:nvPr/>
        </p:nvCxnSpPr>
        <p:spPr>
          <a:xfrm flipH="1" rot="10800000">
            <a:off x="759300" y="1952524"/>
            <a:ext cx="7450800" cy="42600"/>
          </a:xfrm>
          <a:prstGeom prst="straightConnector1">
            <a:avLst/>
          </a:prstGeom>
          <a:noFill/>
          <a:ln cap="flat" cmpd="sng" w="19050">
            <a:solidFill>
              <a:schemeClr val="dk1"/>
            </a:solidFill>
            <a:prstDash val="solid"/>
            <a:round/>
            <a:headEnd len="med" w="med" type="none"/>
            <a:tailEnd len="med" w="med" type="triangle"/>
          </a:ln>
        </p:spPr>
      </p:cxnSp>
      <p:sp>
        <p:nvSpPr>
          <p:cNvPr id="725" name="Google Shape;725;p48"/>
          <p:cNvSpPr txBox="1"/>
          <p:nvPr/>
        </p:nvSpPr>
        <p:spPr>
          <a:xfrm>
            <a:off x="720000" y="1068250"/>
            <a:ext cx="2734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Raleway"/>
                <a:ea typeface="Raleway"/>
                <a:cs typeface="Raleway"/>
                <a:sym typeface="Raleway"/>
              </a:rPr>
              <a:t>ResNet Architecture</a:t>
            </a:r>
            <a:endParaRPr sz="1600">
              <a:solidFill>
                <a:schemeClr val="dk1"/>
              </a:solidFill>
              <a:latin typeface="Raleway"/>
              <a:ea typeface="Raleway"/>
              <a:cs typeface="Raleway"/>
              <a:sym typeface="Raleway"/>
            </a:endParaRPr>
          </a:p>
        </p:txBody>
      </p:sp>
      <p:cxnSp>
        <p:nvCxnSpPr>
          <p:cNvPr id="726" name="Google Shape;726;p48"/>
          <p:cNvCxnSpPr/>
          <p:nvPr/>
        </p:nvCxnSpPr>
        <p:spPr>
          <a:xfrm rot="10800000">
            <a:off x="4572825" y="3517175"/>
            <a:ext cx="0" cy="295800"/>
          </a:xfrm>
          <a:prstGeom prst="straightConnector1">
            <a:avLst/>
          </a:prstGeom>
          <a:noFill/>
          <a:ln cap="flat" cmpd="sng" w="19050">
            <a:solidFill>
              <a:schemeClr val="dk1"/>
            </a:solidFill>
            <a:prstDash val="solid"/>
            <a:round/>
            <a:headEnd len="med" w="med" type="none"/>
            <a:tailEnd len="med" w="med" type="triangle"/>
          </a:ln>
        </p:spPr>
      </p:cxnSp>
      <p:sp>
        <p:nvSpPr>
          <p:cNvPr id="727" name="Google Shape;727;p48"/>
          <p:cNvSpPr txBox="1"/>
          <p:nvPr/>
        </p:nvSpPr>
        <p:spPr>
          <a:xfrm>
            <a:off x="1119825" y="1621825"/>
            <a:ext cx="6906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aleway"/>
              <a:ea typeface="Raleway"/>
              <a:cs typeface="Raleway"/>
              <a:sym typeface="Raleway"/>
            </a:endParaRPr>
          </a:p>
        </p:txBody>
      </p:sp>
      <p:sp>
        <p:nvSpPr>
          <p:cNvPr id="728" name="Google Shape;728;p48"/>
          <p:cNvSpPr txBox="1"/>
          <p:nvPr/>
        </p:nvSpPr>
        <p:spPr>
          <a:xfrm>
            <a:off x="650725" y="3397025"/>
            <a:ext cx="10740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Raw vessel voxels</a:t>
            </a:r>
            <a:endParaRPr sz="1200">
              <a:solidFill>
                <a:schemeClr val="dk1"/>
              </a:solidFill>
              <a:latin typeface="Raleway"/>
              <a:ea typeface="Raleway"/>
              <a:cs typeface="Raleway"/>
              <a:sym typeface="Raleway"/>
            </a:endParaRPr>
          </a:p>
        </p:txBody>
      </p:sp>
      <p:sp>
        <p:nvSpPr>
          <p:cNvPr id="729" name="Google Shape;729;p48"/>
          <p:cNvSpPr txBox="1"/>
          <p:nvPr/>
        </p:nvSpPr>
        <p:spPr>
          <a:xfrm>
            <a:off x="1931575" y="3215375"/>
            <a:ext cx="10740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Edges &amp; boundaries  </a:t>
            </a:r>
            <a:endParaRPr sz="1200">
              <a:solidFill>
                <a:schemeClr val="dk1"/>
              </a:solidFill>
              <a:latin typeface="Raleway"/>
              <a:ea typeface="Raleway"/>
              <a:cs typeface="Raleway"/>
              <a:sym typeface="Raleway"/>
            </a:endParaRPr>
          </a:p>
        </p:txBody>
      </p:sp>
      <p:sp>
        <p:nvSpPr>
          <p:cNvPr id="730" name="Google Shape;730;p48"/>
          <p:cNvSpPr txBox="1"/>
          <p:nvPr/>
        </p:nvSpPr>
        <p:spPr>
          <a:xfrm>
            <a:off x="3140425" y="3138275"/>
            <a:ext cx="10740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Textures &amp; patterns</a:t>
            </a:r>
            <a:endParaRPr sz="1200">
              <a:solidFill>
                <a:schemeClr val="dk1"/>
              </a:solidFill>
              <a:latin typeface="Raleway"/>
              <a:ea typeface="Raleway"/>
              <a:cs typeface="Raleway"/>
              <a:sym typeface="Raleway"/>
            </a:endParaRPr>
          </a:p>
        </p:txBody>
      </p:sp>
      <p:sp>
        <p:nvSpPr>
          <p:cNvPr id="731" name="Google Shape;731;p48"/>
          <p:cNvSpPr txBox="1"/>
          <p:nvPr/>
        </p:nvSpPr>
        <p:spPr>
          <a:xfrm>
            <a:off x="4174725" y="3038675"/>
            <a:ext cx="12390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Vessel shapes &amp; curves</a:t>
            </a:r>
            <a:endParaRPr sz="1200">
              <a:solidFill>
                <a:schemeClr val="dk1"/>
              </a:solidFill>
              <a:latin typeface="Raleway"/>
              <a:ea typeface="Raleway"/>
              <a:cs typeface="Raleway"/>
              <a:sym typeface="Raleway"/>
            </a:endParaRPr>
          </a:p>
        </p:txBody>
      </p:sp>
      <p:sp>
        <p:nvSpPr>
          <p:cNvPr id="732" name="Google Shape;732;p48"/>
          <p:cNvSpPr txBox="1"/>
          <p:nvPr/>
        </p:nvSpPr>
        <p:spPr>
          <a:xfrm>
            <a:off x="5252975" y="2808600"/>
            <a:ext cx="9912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Aneurysm features (semantic)</a:t>
            </a:r>
            <a:endParaRPr sz="1200">
              <a:solidFill>
                <a:schemeClr val="dk1"/>
              </a:solidFill>
              <a:latin typeface="Raleway"/>
              <a:ea typeface="Raleway"/>
              <a:cs typeface="Raleway"/>
              <a:sym typeface="Raleway"/>
            </a:endParaRPr>
          </a:p>
        </p:txBody>
      </p:sp>
      <p:sp>
        <p:nvSpPr>
          <p:cNvPr id="733" name="Google Shape;733;p48"/>
          <p:cNvSpPr txBox="1"/>
          <p:nvPr/>
        </p:nvSpPr>
        <p:spPr>
          <a:xfrm>
            <a:off x="6258925" y="2760275"/>
            <a:ext cx="1383600" cy="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aleway"/>
                <a:ea typeface="Raleway"/>
                <a:cs typeface="Raleway"/>
                <a:sym typeface="Raleway"/>
              </a:rPr>
              <a:t>Classification Decision</a:t>
            </a:r>
            <a:endParaRPr sz="1200">
              <a:solidFill>
                <a:schemeClr val="dk1"/>
              </a:solidFill>
              <a:latin typeface="Raleway"/>
              <a:ea typeface="Raleway"/>
              <a:cs typeface="Raleway"/>
              <a:sym typeface="Raleway"/>
            </a:endParaRPr>
          </a:p>
        </p:txBody>
      </p:sp>
      <p:sp>
        <p:nvSpPr>
          <p:cNvPr id="734" name="Google Shape;734;p48"/>
          <p:cNvSpPr txBox="1"/>
          <p:nvPr/>
        </p:nvSpPr>
        <p:spPr>
          <a:xfrm>
            <a:off x="3758100" y="3866325"/>
            <a:ext cx="1239000" cy="8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aleway"/>
                <a:ea typeface="Raleway"/>
                <a:cs typeface="Raleway"/>
                <a:sym typeface="Raleway"/>
              </a:rPr>
              <a:t>Initially hooked onto this layer, heatmap was highlighting everything</a:t>
            </a:r>
            <a:endParaRPr sz="1000">
              <a:solidFill>
                <a:schemeClr val="dk1"/>
              </a:solidFill>
              <a:latin typeface="Raleway"/>
              <a:ea typeface="Raleway"/>
              <a:cs typeface="Raleway"/>
              <a:sym typeface="Raleway"/>
            </a:endParaRPr>
          </a:p>
        </p:txBody>
      </p:sp>
      <p:cxnSp>
        <p:nvCxnSpPr>
          <p:cNvPr id="735" name="Google Shape;735;p48"/>
          <p:cNvCxnSpPr/>
          <p:nvPr/>
        </p:nvCxnSpPr>
        <p:spPr>
          <a:xfrm rot="10800000">
            <a:off x="5652610" y="3416018"/>
            <a:ext cx="0" cy="295800"/>
          </a:xfrm>
          <a:prstGeom prst="straightConnector1">
            <a:avLst/>
          </a:prstGeom>
          <a:noFill/>
          <a:ln cap="flat" cmpd="sng" w="19050">
            <a:solidFill>
              <a:schemeClr val="dk1"/>
            </a:solidFill>
            <a:prstDash val="solid"/>
            <a:round/>
            <a:headEnd len="med" w="med" type="none"/>
            <a:tailEnd len="med" w="med" type="triangle"/>
          </a:ln>
        </p:spPr>
      </p:cxnSp>
      <p:sp>
        <p:nvSpPr>
          <p:cNvPr id="736" name="Google Shape;736;p48"/>
          <p:cNvSpPr txBox="1"/>
          <p:nvPr/>
        </p:nvSpPr>
        <p:spPr>
          <a:xfrm>
            <a:off x="4977125" y="3631325"/>
            <a:ext cx="1542900" cy="12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Raleway"/>
                <a:ea typeface="Raleway"/>
                <a:cs typeface="Raleway"/>
                <a:sym typeface="Raleway"/>
              </a:rPr>
              <a:t>Even after hooking on this layer, heatmap was still highlight everything</a:t>
            </a:r>
            <a:endParaRPr sz="1000">
              <a:solidFill>
                <a:schemeClr val="dk1"/>
              </a:solidFill>
              <a:latin typeface="Raleway"/>
              <a:ea typeface="Raleway"/>
              <a:cs typeface="Raleway"/>
              <a:sym typeface="Raleway"/>
            </a:endParaRPr>
          </a:p>
          <a:p>
            <a:pPr indent="-292100" lvl="0" marL="457200" rtl="0" algn="l">
              <a:spcBef>
                <a:spcPts val="0"/>
              </a:spcBef>
              <a:spcAft>
                <a:spcPts val="0"/>
              </a:spcAft>
              <a:buClr>
                <a:schemeClr val="dk1"/>
              </a:buClr>
              <a:buSzPts val="1000"/>
              <a:buFont typeface="Raleway"/>
              <a:buChar char="-"/>
            </a:pPr>
            <a:r>
              <a:rPr lang="en" sz="1000">
                <a:solidFill>
                  <a:schemeClr val="dk1"/>
                </a:solidFill>
                <a:latin typeface="Raleway"/>
                <a:ea typeface="Raleway"/>
                <a:cs typeface="Raleway"/>
                <a:sym typeface="Raleway"/>
              </a:rPr>
              <a:t>Sensitivity </a:t>
            </a:r>
            <a:r>
              <a:rPr lang="en" sz="1000">
                <a:solidFill>
                  <a:schemeClr val="dk1"/>
                </a:solidFill>
                <a:latin typeface="Raleway"/>
                <a:ea typeface="Raleway"/>
                <a:cs typeface="Raleway"/>
                <a:sym typeface="Raleway"/>
              </a:rPr>
              <a:t>threshold</a:t>
            </a:r>
            <a:r>
              <a:rPr lang="en" sz="1000">
                <a:solidFill>
                  <a:schemeClr val="dk1"/>
                </a:solidFill>
                <a:latin typeface="Raleway"/>
                <a:ea typeface="Raleway"/>
                <a:cs typeface="Raleway"/>
                <a:sym typeface="Raleway"/>
              </a:rPr>
              <a:t> too low (10%) -&gt; 15%</a:t>
            </a:r>
            <a:endParaRPr sz="1000">
              <a:solidFill>
                <a:schemeClr val="dk1"/>
              </a:solidFill>
              <a:latin typeface="Raleway"/>
              <a:ea typeface="Raleway"/>
              <a:cs typeface="Raleway"/>
              <a:sym typeface="Raleway"/>
            </a:endParaRPr>
          </a:p>
        </p:txBody>
      </p:sp>
      <p:sp>
        <p:nvSpPr>
          <p:cNvPr id="737" name="Google Shape;737;p48"/>
          <p:cNvSpPr txBox="1"/>
          <p:nvPr/>
        </p:nvSpPr>
        <p:spPr>
          <a:xfrm>
            <a:off x="6520025" y="4550975"/>
            <a:ext cx="1845300" cy="3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2"/>
                </a:solidFill>
                <a:latin typeface="Raleway"/>
                <a:ea typeface="Raleway"/>
                <a:cs typeface="Raleway"/>
                <a:sym typeface="Raleway"/>
              </a:rPr>
              <a:t>layer4[-1].conv2</a:t>
            </a:r>
            <a:endParaRPr b="1" sz="1600">
              <a:solidFill>
                <a:schemeClr val="accent2"/>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49"/>
          <p:cNvSpPr/>
          <p:nvPr/>
        </p:nvSpPr>
        <p:spPr>
          <a:xfrm>
            <a:off x="417900" y="1346525"/>
            <a:ext cx="2181900" cy="31644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9"/>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Implications</a:t>
            </a:r>
            <a:endParaRPr sz="4000">
              <a:solidFill>
                <a:schemeClr val="accent6"/>
              </a:solidFill>
            </a:endParaRPr>
          </a:p>
        </p:txBody>
      </p:sp>
      <p:sp>
        <p:nvSpPr>
          <p:cNvPr id="744" name="Google Shape;744;p49"/>
          <p:cNvSpPr txBox="1"/>
          <p:nvPr/>
        </p:nvSpPr>
        <p:spPr>
          <a:xfrm>
            <a:off x="406861" y="1218057"/>
            <a:ext cx="2208600" cy="8298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Clinical Standard vs. Reality</a:t>
            </a:r>
            <a:endParaRPr b="1" sz="1600">
              <a:solidFill>
                <a:srgbClr val="FFFFFF"/>
              </a:solidFill>
              <a:latin typeface="Montserrat"/>
              <a:ea typeface="Montserrat"/>
              <a:cs typeface="Montserrat"/>
              <a:sym typeface="Montserrat"/>
            </a:endParaRPr>
          </a:p>
        </p:txBody>
      </p:sp>
      <p:sp>
        <p:nvSpPr>
          <p:cNvPr id="745" name="Google Shape;745;p49"/>
          <p:cNvSpPr/>
          <p:nvPr/>
        </p:nvSpPr>
        <p:spPr>
          <a:xfrm>
            <a:off x="2743643" y="1346400"/>
            <a:ext cx="1704600" cy="31644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9"/>
          <p:cNvSpPr txBox="1"/>
          <p:nvPr/>
        </p:nvSpPr>
        <p:spPr>
          <a:xfrm>
            <a:off x="2793197" y="1479601"/>
            <a:ext cx="1638300" cy="5940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NeuroScan Performance</a:t>
            </a:r>
            <a:endParaRPr b="1" sz="1600">
              <a:solidFill>
                <a:srgbClr val="FFFFFF"/>
              </a:solidFill>
              <a:latin typeface="Montserrat"/>
              <a:ea typeface="Montserrat"/>
              <a:cs typeface="Montserrat"/>
              <a:sym typeface="Montserrat"/>
            </a:endParaRPr>
          </a:p>
        </p:txBody>
      </p:sp>
      <p:sp>
        <p:nvSpPr>
          <p:cNvPr id="747" name="Google Shape;747;p49"/>
          <p:cNvSpPr/>
          <p:nvPr/>
        </p:nvSpPr>
        <p:spPr>
          <a:xfrm>
            <a:off x="4576125" y="1346400"/>
            <a:ext cx="2114700" cy="31644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9"/>
          <p:cNvSpPr txBox="1"/>
          <p:nvPr/>
        </p:nvSpPr>
        <p:spPr>
          <a:xfrm>
            <a:off x="4556277" y="1174772"/>
            <a:ext cx="2181300" cy="1093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Value Proposition 1: </a:t>
            </a:r>
            <a:r>
              <a:rPr lang="en" sz="1600">
                <a:solidFill>
                  <a:srgbClr val="FFFFFF"/>
                </a:solidFill>
                <a:latin typeface="Montserrat"/>
                <a:ea typeface="Montserrat"/>
                <a:cs typeface="Montserrat"/>
                <a:sym typeface="Montserrat"/>
              </a:rPr>
              <a:t>High-Volume Triage</a:t>
            </a:r>
            <a:endParaRPr sz="1600">
              <a:solidFill>
                <a:srgbClr val="FFFFFF"/>
              </a:solidFill>
              <a:latin typeface="Montserrat"/>
              <a:ea typeface="Montserrat"/>
              <a:cs typeface="Montserrat"/>
              <a:sym typeface="Montserrat"/>
            </a:endParaRPr>
          </a:p>
        </p:txBody>
      </p:sp>
      <p:sp>
        <p:nvSpPr>
          <p:cNvPr id="749" name="Google Shape;749;p49"/>
          <p:cNvSpPr/>
          <p:nvPr/>
        </p:nvSpPr>
        <p:spPr>
          <a:xfrm>
            <a:off x="6794125" y="1346400"/>
            <a:ext cx="2114700" cy="3164400"/>
          </a:xfrm>
          <a:prstGeom prst="rect">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9"/>
          <p:cNvSpPr txBox="1"/>
          <p:nvPr/>
        </p:nvSpPr>
        <p:spPr>
          <a:xfrm>
            <a:off x="6731276" y="1507925"/>
            <a:ext cx="2240400" cy="770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Value Proposition 2: </a:t>
            </a:r>
            <a:r>
              <a:rPr lang="en" sz="1600">
                <a:solidFill>
                  <a:srgbClr val="FFFFFF"/>
                </a:solidFill>
                <a:latin typeface="Montserrat"/>
                <a:ea typeface="Montserrat"/>
                <a:cs typeface="Montserrat"/>
                <a:sym typeface="Montserrat"/>
              </a:rPr>
              <a:t>Accessibility in Underserved Areas</a:t>
            </a:r>
            <a:endParaRPr sz="1600">
              <a:solidFill>
                <a:srgbClr val="FFFFFF"/>
              </a:solidFill>
              <a:latin typeface="Montserrat"/>
              <a:ea typeface="Montserrat"/>
              <a:cs typeface="Montserrat"/>
              <a:sym typeface="Montserrat"/>
            </a:endParaRPr>
          </a:p>
        </p:txBody>
      </p:sp>
      <p:grpSp>
        <p:nvGrpSpPr>
          <p:cNvPr id="751" name="Google Shape;751;p49"/>
          <p:cNvGrpSpPr/>
          <p:nvPr/>
        </p:nvGrpSpPr>
        <p:grpSpPr>
          <a:xfrm>
            <a:off x="1290750" y="4468788"/>
            <a:ext cx="1704625" cy="525900"/>
            <a:chOff x="2978325" y="4468788"/>
            <a:chExt cx="1704625" cy="525900"/>
          </a:xfrm>
        </p:grpSpPr>
        <p:sp>
          <p:nvSpPr>
            <p:cNvPr id="752" name="Google Shape;752;p49"/>
            <p:cNvSpPr/>
            <p:nvPr/>
          </p:nvSpPr>
          <p:spPr>
            <a:xfrm>
              <a:off x="2978325" y="4805988"/>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9"/>
            <p:cNvSpPr/>
            <p:nvPr/>
          </p:nvSpPr>
          <p:spPr>
            <a:xfrm>
              <a:off x="4615750" y="49274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9"/>
            <p:cNvSpPr/>
            <p:nvPr/>
          </p:nvSpPr>
          <p:spPr>
            <a:xfrm>
              <a:off x="3856663" y="4468788"/>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5" name="Google Shape;755;p49"/>
            <p:cNvCxnSpPr>
              <a:stCxn id="754" idx="2"/>
              <a:endCxn id="752" idx="7"/>
            </p:cNvCxnSpPr>
            <p:nvPr/>
          </p:nvCxnSpPr>
          <p:spPr>
            <a:xfrm flipH="1">
              <a:off x="3082063" y="4502388"/>
              <a:ext cx="774600" cy="321300"/>
            </a:xfrm>
            <a:prstGeom prst="straightConnector1">
              <a:avLst/>
            </a:prstGeom>
            <a:noFill/>
            <a:ln cap="flat" cmpd="sng" w="9525">
              <a:solidFill>
                <a:schemeClr val="accent1"/>
              </a:solidFill>
              <a:prstDash val="solid"/>
              <a:round/>
              <a:headEnd len="med" w="med" type="none"/>
              <a:tailEnd len="med" w="med" type="none"/>
            </a:ln>
          </p:spPr>
        </p:cxnSp>
        <p:cxnSp>
          <p:nvCxnSpPr>
            <p:cNvPr id="756" name="Google Shape;756;p49"/>
            <p:cNvCxnSpPr>
              <a:stCxn id="754" idx="5"/>
              <a:endCxn id="753" idx="1"/>
            </p:cNvCxnSpPr>
            <p:nvPr/>
          </p:nvCxnSpPr>
          <p:spPr>
            <a:xfrm>
              <a:off x="3914021" y="4526146"/>
              <a:ext cx="711600" cy="411300"/>
            </a:xfrm>
            <a:prstGeom prst="straightConnector1">
              <a:avLst/>
            </a:prstGeom>
            <a:noFill/>
            <a:ln cap="flat" cmpd="sng" w="9525">
              <a:solidFill>
                <a:schemeClr val="accent1"/>
              </a:solidFill>
              <a:prstDash val="solid"/>
              <a:round/>
              <a:headEnd len="med" w="med" type="none"/>
              <a:tailEnd len="med" w="med" type="none"/>
            </a:ln>
          </p:spPr>
        </p:cxnSp>
      </p:grpSp>
      <p:cxnSp>
        <p:nvCxnSpPr>
          <p:cNvPr id="757" name="Google Shape;757;p49"/>
          <p:cNvCxnSpPr>
            <a:stCxn id="742" idx="3"/>
            <a:endCxn id="745" idx="1"/>
          </p:cNvCxnSpPr>
          <p:nvPr/>
        </p:nvCxnSpPr>
        <p:spPr>
          <a:xfrm>
            <a:off x="2599800" y="2928725"/>
            <a:ext cx="143700" cy="600"/>
          </a:xfrm>
          <a:prstGeom prst="bentConnector3">
            <a:avLst>
              <a:gd fmla="val 50050" name="adj1"/>
            </a:avLst>
          </a:prstGeom>
          <a:noFill/>
          <a:ln cap="flat" cmpd="sng" w="19050">
            <a:solidFill>
              <a:schemeClr val="accent3"/>
            </a:solidFill>
            <a:prstDash val="solid"/>
            <a:round/>
            <a:headEnd len="med" w="med" type="none"/>
            <a:tailEnd len="med" w="med" type="none"/>
          </a:ln>
        </p:spPr>
      </p:cxnSp>
      <p:sp>
        <p:nvSpPr>
          <p:cNvPr id="758" name="Google Shape;758;p49"/>
          <p:cNvSpPr txBox="1"/>
          <p:nvPr/>
        </p:nvSpPr>
        <p:spPr>
          <a:xfrm>
            <a:off x="237336" y="1865275"/>
            <a:ext cx="2378400" cy="2526300"/>
          </a:xfrm>
          <a:prstGeom prst="rect">
            <a:avLst/>
          </a:prstGeom>
          <a:noFill/>
          <a:ln>
            <a:noFill/>
          </a:ln>
        </p:spPr>
        <p:txBody>
          <a:bodyPr anchorCtr="0" anchor="t" bIns="91425" lIns="91425" spcFirstLastPara="1" rIns="91425" wrap="square" tIns="91425">
            <a:noAutofit/>
          </a:bodyPr>
          <a:lstStyle/>
          <a:p>
            <a:pPr indent="-301625" lvl="0" marL="457200" rtl="0" algn="l">
              <a:lnSpc>
                <a:spcPct val="115000"/>
              </a:lnSpc>
              <a:spcBef>
                <a:spcPts val="1200"/>
              </a:spcBef>
              <a:spcAft>
                <a:spcPts val="0"/>
              </a:spcAft>
              <a:buClr>
                <a:schemeClr val="dk1"/>
              </a:buClr>
              <a:buSzPts val="1150"/>
              <a:buFont typeface="Raleway"/>
              <a:buChar char="●"/>
            </a:pPr>
            <a:r>
              <a:rPr lang="en" sz="1150">
                <a:solidFill>
                  <a:schemeClr val="dk1"/>
                </a:solidFill>
                <a:latin typeface="Raleway"/>
                <a:ea typeface="Raleway"/>
                <a:cs typeface="Raleway"/>
                <a:sym typeface="Raleway"/>
              </a:rPr>
              <a:t>While MRA studies report </a:t>
            </a:r>
            <a:r>
              <a:rPr b="1" lang="en" sz="1150">
                <a:solidFill>
                  <a:schemeClr val="dk1"/>
                </a:solidFill>
                <a:latin typeface="Raleway"/>
                <a:ea typeface="Raleway"/>
                <a:cs typeface="Raleway"/>
                <a:sym typeface="Raleway"/>
              </a:rPr>
              <a:t>pooled sensitivity of 95%, </a:t>
            </a:r>
            <a:r>
              <a:rPr lang="en" sz="1150">
                <a:solidFill>
                  <a:schemeClr val="dk1"/>
                </a:solidFill>
                <a:latin typeface="Raleway"/>
                <a:ea typeface="Raleway"/>
                <a:cs typeface="Raleway"/>
                <a:sym typeface="Raleway"/>
              </a:rPr>
              <a:t>individual radiologist performance varies </a:t>
            </a:r>
            <a:r>
              <a:rPr lang="en" sz="1150">
                <a:solidFill>
                  <a:schemeClr val="dk1"/>
                </a:solidFill>
                <a:latin typeface="Raleway"/>
                <a:ea typeface="Raleway"/>
                <a:cs typeface="Raleway"/>
                <a:sym typeface="Raleway"/>
              </a:rPr>
              <a:t>significantly </a:t>
            </a:r>
            <a:r>
              <a:rPr lang="en" sz="1150">
                <a:solidFill>
                  <a:schemeClr val="dk1"/>
                </a:solidFill>
                <a:latin typeface="Raleway"/>
                <a:ea typeface="Raleway"/>
                <a:cs typeface="Raleway"/>
                <a:sym typeface="Raleway"/>
              </a:rPr>
              <a:t>with workload</a:t>
            </a:r>
            <a:endParaRPr sz="1150">
              <a:solidFill>
                <a:schemeClr val="dk1"/>
              </a:solidFill>
              <a:latin typeface="Raleway"/>
              <a:ea typeface="Raleway"/>
              <a:cs typeface="Raleway"/>
              <a:sym typeface="Raleway"/>
            </a:endParaRPr>
          </a:p>
          <a:p>
            <a:pPr indent="-301625" lvl="0" marL="457200" rtl="0" algn="l">
              <a:lnSpc>
                <a:spcPct val="115000"/>
              </a:lnSpc>
              <a:spcBef>
                <a:spcPts val="0"/>
              </a:spcBef>
              <a:spcAft>
                <a:spcPts val="0"/>
              </a:spcAft>
              <a:buClr>
                <a:schemeClr val="dk1"/>
              </a:buClr>
              <a:buSzPts val="1150"/>
              <a:buFont typeface="Raleway"/>
              <a:buChar char="●"/>
            </a:pPr>
            <a:r>
              <a:rPr lang="en" sz="1150">
                <a:solidFill>
                  <a:schemeClr val="dk1"/>
                </a:solidFill>
                <a:latin typeface="Raleway"/>
                <a:ea typeface="Raleway"/>
                <a:cs typeface="Raleway"/>
                <a:sym typeface="Raleway"/>
              </a:rPr>
              <a:t>G</a:t>
            </a:r>
            <a:r>
              <a:rPr lang="en" sz="1150">
                <a:solidFill>
                  <a:schemeClr val="dk1"/>
                </a:solidFill>
                <a:latin typeface="Raleway"/>
                <a:ea typeface="Raleway"/>
                <a:cs typeface="Raleway"/>
                <a:sym typeface="Raleway"/>
              </a:rPr>
              <a:t>lobal radiologist shortage may lead to </a:t>
            </a:r>
            <a:r>
              <a:rPr b="1" lang="en" sz="1150">
                <a:solidFill>
                  <a:schemeClr val="dk1"/>
                </a:solidFill>
                <a:latin typeface="Raleway"/>
                <a:ea typeface="Raleway"/>
                <a:cs typeface="Raleway"/>
                <a:sym typeface="Raleway"/>
              </a:rPr>
              <a:t>high-volume</a:t>
            </a:r>
            <a:r>
              <a:rPr lang="en" sz="1150">
                <a:solidFill>
                  <a:schemeClr val="dk1"/>
                </a:solidFill>
                <a:latin typeface="Raleway"/>
                <a:ea typeface="Raleway"/>
                <a:cs typeface="Raleway"/>
                <a:sym typeface="Raleway"/>
              </a:rPr>
              <a:t> shifts that increase error rates through</a:t>
            </a:r>
            <a:r>
              <a:rPr b="1" lang="en" sz="1150">
                <a:solidFill>
                  <a:schemeClr val="dk1"/>
                </a:solidFill>
                <a:latin typeface="Raleway"/>
                <a:ea typeface="Raleway"/>
                <a:cs typeface="Raleway"/>
                <a:sym typeface="Raleway"/>
              </a:rPr>
              <a:t> cognitive fatigue.</a:t>
            </a:r>
            <a:endParaRPr b="1" sz="1150">
              <a:solidFill>
                <a:srgbClr val="FFFFFF"/>
              </a:solidFill>
              <a:latin typeface="Raleway"/>
              <a:ea typeface="Raleway"/>
              <a:cs typeface="Raleway"/>
              <a:sym typeface="Raleway"/>
            </a:endParaRPr>
          </a:p>
        </p:txBody>
      </p:sp>
      <p:cxnSp>
        <p:nvCxnSpPr>
          <p:cNvPr id="759" name="Google Shape;759;p49"/>
          <p:cNvCxnSpPr>
            <a:stCxn id="745" idx="3"/>
            <a:endCxn id="747" idx="1"/>
          </p:cNvCxnSpPr>
          <p:nvPr/>
        </p:nvCxnSpPr>
        <p:spPr>
          <a:xfrm>
            <a:off x="4448243" y="2928600"/>
            <a:ext cx="127800" cy="600"/>
          </a:xfrm>
          <a:prstGeom prst="bentConnector3">
            <a:avLst>
              <a:gd fmla="val 50032" name="adj1"/>
            </a:avLst>
          </a:prstGeom>
          <a:noFill/>
          <a:ln cap="flat" cmpd="sng" w="19050">
            <a:solidFill>
              <a:schemeClr val="accent3"/>
            </a:solidFill>
            <a:prstDash val="solid"/>
            <a:round/>
            <a:headEnd len="med" w="med" type="none"/>
            <a:tailEnd len="med" w="med" type="none"/>
          </a:ln>
        </p:spPr>
      </p:cxnSp>
      <p:sp>
        <p:nvSpPr>
          <p:cNvPr id="760" name="Google Shape;760;p49"/>
          <p:cNvSpPr txBox="1"/>
          <p:nvPr/>
        </p:nvSpPr>
        <p:spPr>
          <a:xfrm>
            <a:off x="2568760" y="2312700"/>
            <a:ext cx="1899300" cy="1917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FFFFF"/>
              </a:buClr>
              <a:buSzPts val="1200"/>
              <a:buFont typeface="Raleway"/>
              <a:buChar char="●"/>
            </a:pPr>
            <a:r>
              <a:rPr b="1" lang="en" sz="1200">
                <a:solidFill>
                  <a:srgbClr val="FFFFFF"/>
                </a:solidFill>
                <a:latin typeface="Raleway"/>
                <a:ea typeface="Raleway"/>
                <a:cs typeface="Raleway"/>
                <a:sym typeface="Raleway"/>
              </a:rPr>
              <a:t>Sensitivity:</a:t>
            </a:r>
            <a:r>
              <a:rPr lang="en" sz="1200">
                <a:solidFill>
                  <a:srgbClr val="FFFFFF"/>
                </a:solidFill>
                <a:latin typeface="Raleway"/>
                <a:ea typeface="Raleway"/>
                <a:cs typeface="Raleway"/>
                <a:sym typeface="Raleway"/>
              </a:rPr>
              <a:t> 83.72% </a:t>
            </a:r>
            <a:endParaRPr sz="1200">
              <a:solidFill>
                <a:srgbClr val="FFFFFF"/>
              </a:solidFill>
              <a:latin typeface="Raleway"/>
              <a:ea typeface="Raleway"/>
              <a:cs typeface="Raleway"/>
              <a:sym typeface="Raleway"/>
            </a:endParaRPr>
          </a:p>
          <a:p>
            <a:pPr indent="0" lvl="0" marL="457200" rtl="0" algn="l">
              <a:spcBef>
                <a:spcPts val="0"/>
              </a:spcBef>
              <a:spcAft>
                <a:spcPts val="0"/>
              </a:spcAft>
              <a:buNone/>
            </a:pPr>
            <a:r>
              <a:t/>
            </a:r>
            <a:endParaRPr sz="1200">
              <a:solidFill>
                <a:srgbClr val="FFFFFF"/>
              </a:solidFill>
              <a:latin typeface="Raleway"/>
              <a:ea typeface="Raleway"/>
              <a:cs typeface="Raleway"/>
              <a:sym typeface="Raleway"/>
            </a:endParaRPr>
          </a:p>
          <a:p>
            <a:pPr indent="-304800" lvl="0" marL="457200" rtl="0" algn="l">
              <a:spcBef>
                <a:spcPts val="0"/>
              </a:spcBef>
              <a:spcAft>
                <a:spcPts val="0"/>
              </a:spcAft>
              <a:buClr>
                <a:schemeClr val="accent6"/>
              </a:buClr>
              <a:buSzPts val="1200"/>
              <a:buFont typeface="Raleway"/>
              <a:buChar char="●"/>
            </a:pPr>
            <a:r>
              <a:rPr b="1" lang="en" sz="1200">
                <a:solidFill>
                  <a:srgbClr val="FFFFFF"/>
                </a:solidFill>
                <a:latin typeface="Raleway"/>
                <a:ea typeface="Raleway"/>
                <a:cs typeface="Raleway"/>
                <a:sym typeface="Raleway"/>
              </a:rPr>
              <a:t>Role: </a:t>
            </a:r>
            <a:r>
              <a:rPr lang="en" sz="1200">
                <a:solidFill>
                  <a:srgbClr val="FFFFFF"/>
                </a:solidFill>
                <a:latin typeface="Raleway"/>
                <a:ea typeface="Raleway"/>
                <a:cs typeface="Raleway"/>
                <a:sym typeface="Raleway"/>
              </a:rPr>
              <a:t>Acts as a rapid "First-Read" safety net rather than a standalone diagnostician.</a:t>
            </a:r>
            <a:endParaRPr sz="1200">
              <a:solidFill>
                <a:srgbClr val="FFFFFF"/>
              </a:solidFill>
              <a:latin typeface="Raleway"/>
              <a:ea typeface="Raleway"/>
              <a:cs typeface="Raleway"/>
              <a:sym typeface="Raleway"/>
            </a:endParaRPr>
          </a:p>
        </p:txBody>
      </p:sp>
      <p:cxnSp>
        <p:nvCxnSpPr>
          <p:cNvPr id="761" name="Google Shape;761;p49"/>
          <p:cNvCxnSpPr>
            <a:stCxn id="747" idx="3"/>
            <a:endCxn id="749" idx="1"/>
          </p:cNvCxnSpPr>
          <p:nvPr/>
        </p:nvCxnSpPr>
        <p:spPr>
          <a:xfrm>
            <a:off x="6690825" y="2928600"/>
            <a:ext cx="103200" cy="600"/>
          </a:xfrm>
          <a:prstGeom prst="bentConnector3">
            <a:avLst>
              <a:gd fmla="val 50048" name="adj1"/>
            </a:avLst>
          </a:prstGeom>
          <a:noFill/>
          <a:ln cap="flat" cmpd="sng" w="19050">
            <a:solidFill>
              <a:schemeClr val="accent3"/>
            </a:solidFill>
            <a:prstDash val="solid"/>
            <a:round/>
            <a:headEnd len="med" w="med" type="none"/>
            <a:tailEnd len="med" w="med" type="none"/>
          </a:ln>
        </p:spPr>
      </p:cxnSp>
      <p:sp>
        <p:nvSpPr>
          <p:cNvPr id="762" name="Google Shape;762;p49"/>
          <p:cNvSpPr txBox="1"/>
          <p:nvPr/>
        </p:nvSpPr>
        <p:spPr>
          <a:xfrm>
            <a:off x="6591325" y="2338450"/>
            <a:ext cx="2317500" cy="1917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6"/>
              </a:buClr>
              <a:buSzPts val="1200"/>
              <a:buFont typeface="Raleway"/>
              <a:buChar char="●"/>
            </a:pPr>
            <a:r>
              <a:rPr lang="en" sz="1200">
                <a:solidFill>
                  <a:srgbClr val="FFFFFF"/>
                </a:solidFill>
                <a:latin typeface="Raleway"/>
                <a:ea typeface="Raleway"/>
                <a:cs typeface="Raleway"/>
                <a:sym typeface="Raleway"/>
              </a:rPr>
              <a:t>Provides critical diagnostic support in low-resource settings (e.g., rural hospitals, developing regions).</a:t>
            </a:r>
            <a:endParaRPr sz="1200">
              <a:solidFill>
                <a:srgbClr val="FFFFFF"/>
              </a:solidFill>
              <a:latin typeface="Raleway"/>
              <a:ea typeface="Raleway"/>
              <a:cs typeface="Raleway"/>
              <a:sym typeface="Raleway"/>
            </a:endParaRPr>
          </a:p>
          <a:p>
            <a:pPr indent="-304800" lvl="0" marL="457200" rtl="0" algn="l">
              <a:spcBef>
                <a:spcPts val="0"/>
              </a:spcBef>
              <a:spcAft>
                <a:spcPts val="0"/>
              </a:spcAft>
              <a:buClr>
                <a:schemeClr val="accent6"/>
              </a:buClr>
              <a:buSzPts val="1200"/>
              <a:buFont typeface="Raleway"/>
              <a:buChar char="●"/>
            </a:pPr>
            <a:r>
              <a:rPr lang="en" sz="1200">
                <a:solidFill>
                  <a:srgbClr val="FFFFFF"/>
                </a:solidFill>
                <a:latin typeface="Raleway"/>
                <a:ea typeface="Raleway"/>
                <a:cs typeface="Raleway"/>
                <a:sym typeface="Raleway"/>
              </a:rPr>
              <a:t>Model trained on scans  typically produced by older, lower-resolution MRI hardware often found in these regions.</a:t>
            </a:r>
            <a:endParaRPr sz="1200">
              <a:solidFill>
                <a:srgbClr val="FFFFFF"/>
              </a:solidFill>
              <a:latin typeface="Raleway"/>
              <a:ea typeface="Raleway"/>
              <a:cs typeface="Raleway"/>
              <a:sym typeface="Raleway"/>
            </a:endParaRPr>
          </a:p>
        </p:txBody>
      </p:sp>
      <p:sp>
        <p:nvSpPr>
          <p:cNvPr id="763" name="Google Shape;763;p49"/>
          <p:cNvSpPr txBox="1"/>
          <p:nvPr/>
        </p:nvSpPr>
        <p:spPr>
          <a:xfrm>
            <a:off x="4416575" y="2274085"/>
            <a:ext cx="2317500" cy="2289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FFFFFF"/>
              </a:buClr>
              <a:buSzPts val="1200"/>
              <a:buFont typeface="Raleway"/>
              <a:buChar char="●"/>
            </a:pPr>
            <a:r>
              <a:rPr lang="en" sz="1200">
                <a:solidFill>
                  <a:srgbClr val="FFFFFF"/>
                </a:solidFill>
                <a:latin typeface="Raleway"/>
                <a:ea typeface="Raleway"/>
                <a:cs typeface="Raleway"/>
                <a:sym typeface="Raleway"/>
              </a:rPr>
              <a:t>Automating detection of "obvious" pathologies reduces cognitive load.</a:t>
            </a:r>
            <a:endParaRPr sz="1200">
              <a:solidFill>
                <a:srgbClr val="FFFFFF"/>
              </a:solidFill>
              <a:latin typeface="Raleway"/>
              <a:ea typeface="Raleway"/>
              <a:cs typeface="Raleway"/>
              <a:sym typeface="Raleway"/>
            </a:endParaRPr>
          </a:p>
          <a:p>
            <a:pPr indent="-304800" lvl="0" marL="457200" rtl="0" algn="l">
              <a:spcBef>
                <a:spcPts val="0"/>
              </a:spcBef>
              <a:spcAft>
                <a:spcPts val="0"/>
              </a:spcAft>
              <a:buClr>
                <a:srgbClr val="FFFFFF"/>
              </a:buClr>
              <a:buSzPts val="1200"/>
              <a:buFont typeface="Raleway"/>
              <a:buChar char="●"/>
            </a:pPr>
            <a:r>
              <a:rPr lang="en" sz="1200">
                <a:solidFill>
                  <a:srgbClr val="FFFFFF"/>
                </a:solidFill>
                <a:latin typeface="Raleway"/>
                <a:ea typeface="Raleway"/>
                <a:cs typeface="Raleway"/>
                <a:sym typeface="Raleway"/>
              </a:rPr>
              <a:t>Allows radiologists to preserve mental energy for complex, minute (&lt;3mm) abnormalities where human expertise is irreplaceable.</a:t>
            </a:r>
            <a:endParaRPr sz="1200">
              <a:solidFill>
                <a:srgbClr val="FFFFFF"/>
              </a:solidFill>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0"/>
          <p:cNvSpPr txBox="1"/>
          <p:nvPr/>
        </p:nvSpPr>
        <p:spPr>
          <a:xfrm>
            <a:off x="3072000" y="2171550"/>
            <a:ext cx="30000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000">
                <a:solidFill>
                  <a:schemeClr val="accent6"/>
                </a:solidFill>
                <a:latin typeface="Montserrat"/>
                <a:ea typeface="Montserrat"/>
                <a:cs typeface="Montserrat"/>
                <a:sym typeface="Montserrat"/>
              </a:rPr>
              <a:t>DEMO</a:t>
            </a:r>
            <a:endParaRPr sz="4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51"/>
          <p:cNvSpPr txBox="1"/>
          <p:nvPr>
            <p:ph type="title"/>
          </p:nvPr>
        </p:nvSpPr>
        <p:spPr>
          <a:xfrm>
            <a:off x="720000" y="222250"/>
            <a:ext cx="7704000" cy="13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Essential Question: </a:t>
            </a:r>
            <a:r>
              <a:rPr b="0" lang="en" sz="2500"/>
              <a:t>How can the process of creating AI/ML solutions amplify or mitigate bias in the case of NeuroScan?</a:t>
            </a:r>
            <a:endParaRPr b="0" sz="2500"/>
          </a:p>
        </p:txBody>
      </p:sp>
      <p:sp>
        <p:nvSpPr>
          <p:cNvPr id="774" name="Google Shape;774;p51"/>
          <p:cNvSpPr/>
          <p:nvPr/>
        </p:nvSpPr>
        <p:spPr>
          <a:xfrm flipH="1">
            <a:off x="7580525" y="12232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1"/>
          <p:cNvSpPr/>
          <p:nvPr/>
        </p:nvSpPr>
        <p:spPr>
          <a:xfrm flipH="1">
            <a:off x="6700275" y="13870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6" name="Google Shape;776;p51"/>
          <p:cNvCxnSpPr>
            <a:stCxn id="774" idx="6"/>
            <a:endCxn id="775" idx="2"/>
          </p:cNvCxnSpPr>
          <p:nvPr/>
        </p:nvCxnSpPr>
        <p:spPr>
          <a:xfrm flipH="1">
            <a:off x="6767525" y="1284025"/>
            <a:ext cx="813000" cy="136500"/>
          </a:xfrm>
          <a:prstGeom prst="straightConnector1">
            <a:avLst/>
          </a:prstGeom>
          <a:noFill/>
          <a:ln cap="flat" cmpd="sng" w="9525">
            <a:solidFill>
              <a:schemeClr val="accent1"/>
            </a:solidFill>
            <a:prstDash val="solid"/>
            <a:round/>
            <a:headEnd len="med" w="med" type="none"/>
            <a:tailEnd len="med" w="med" type="none"/>
          </a:ln>
        </p:spPr>
      </p:cxnSp>
      <p:sp>
        <p:nvSpPr>
          <p:cNvPr id="777" name="Google Shape;777;p51"/>
          <p:cNvSpPr txBox="1"/>
          <p:nvPr/>
        </p:nvSpPr>
        <p:spPr>
          <a:xfrm>
            <a:off x="727950" y="1646825"/>
            <a:ext cx="7688100" cy="31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How we could amplify bias: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VesselMNIST3D may not represent all populations (age, geography, scanner types) → Model could underperform on underrepresented groups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Overworked radiologists may over-trust AI during fatigue</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Deployment inequality: Under-resourced settings with less oversight → higher harm potential</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How we mitigate bias: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Radiologists can verify model classification through the visualization to catches false correlations early</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Could generalize better than high-resolution-only models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Transparent dataset and reproducible results → community can audit for bias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t/>
            </a:r>
            <a:endParaRPr sz="16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2"/>
          <p:cNvSpPr/>
          <p:nvPr/>
        </p:nvSpPr>
        <p:spPr>
          <a:xfrm>
            <a:off x="2059150" y="3400100"/>
            <a:ext cx="1129800" cy="759900"/>
          </a:xfrm>
          <a:prstGeom prst="rect">
            <a:avLst/>
          </a:prstGeom>
          <a:solidFill>
            <a:srgbClr val="190150"/>
          </a:solidFill>
          <a:ln cap="flat" cmpd="sng" w="9525">
            <a:solidFill>
              <a:srgbClr val="1A01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783" name="Google Shape;783;p52"/>
          <p:cNvSpPr/>
          <p:nvPr/>
        </p:nvSpPr>
        <p:spPr>
          <a:xfrm>
            <a:off x="1417200" y="3400100"/>
            <a:ext cx="1129800" cy="759900"/>
          </a:xfrm>
          <a:prstGeom prst="rect">
            <a:avLst/>
          </a:prstGeom>
          <a:solidFill>
            <a:srgbClr val="14013F"/>
          </a:solidFill>
          <a:ln cap="flat" cmpd="sng" w="9525">
            <a:solidFill>
              <a:srgbClr val="1401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784" name="Google Shape;784;p52"/>
          <p:cNvSpPr/>
          <p:nvPr/>
        </p:nvSpPr>
        <p:spPr>
          <a:xfrm>
            <a:off x="747725" y="3400100"/>
            <a:ext cx="1129800" cy="759900"/>
          </a:xfrm>
          <a:prstGeom prst="rect">
            <a:avLst/>
          </a:prstGeom>
          <a:solidFill>
            <a:srgbClr val="110136"/>
          </a:solidFill>
          <a:ln cap="flat" cmpd="sng" w="9525">
            <a:solidFill>
              <a:srgbClr val="1101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785" name="Google Shape;785;p52"/>
          <p:cNvSpPr txBox="1"/>
          <p:nvPr>
            <p:ph type="ctrTitle"/>
          </p:nvPr>
        </p:nvSpPr>
        <p:spPr>
          <a:xfrm>
            <a:off x="1417200" y="-23250"/>
            <a:ext cx="7006800" cy="11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000"/>
              <a:t>Next Steps</a:t>
            </a:r>
            <a:endParaRPr sz="5000"/>
          </a:p>
        </p:txBody>
      </p:sp>
      <p:grpSp>
        <p:nvGrpSpPr>
          <p:cNvPr id="786" name="Google Shape;786;p52"/>
          <p:cNvGrpSpPr/>
          <p:nvPr/>
        </p:nvGrpSpPr>
        <p:grpSpPr>
          <a:xfrm flipH="1">
            <a:off x="6515074" y="1490601"/>
            <a:ext cx="2537459" cy="2162277"/>
            <a:chOff x="930854" y="1021197"/>
            <a:chExt cx="4016237" cy="3422408"/>
          </a:xfrm>
        </p:grpSpPr>
        <p:sp>
          <p:nvSpPr>
            <p:cNvPr id="787" name="Google Shape;787;p52"/>
            <p:cNvSpPr/>
            <p:nvPr/>
          </p:nvSpPr>
          <p:spPr>
            <a:xfrm flipH="1">
              <a:off x="930854" y="1021197"/>
              <a:ext cx="4016237" cy="3422408"/>
            </a:xfrm>
            <a:custGeom>
              <a:rect b="b" l="l" r="r" t="t"/>
              <a:pathLst>
                <a:path extrusionOk="0" h="63252" w="74227">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88" name="Google Shape;788;p52"/>
            <p:cNvSpPr/>
            <p:nvPr/>
          </p:nvSpPr>
          <p:spPr>
            <a:xfrm flipH="1">
              <a:off x="966727" y="1056475"/>
              <a:ext cx="3944978" cy="3351960"/>
            </a:xfrm>
            <a:custGeom>
              <a:rect b="b" l="l" r="r" t="t"/>
              <a:pathLst>
                <a:path extrusionOk="0" h="61950" w="7291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89" name="Google Shape;789;p52"/>
            <p:cNvSpPr/>
            <p:nvPr/>
          </p:nvSpPr>
          <p:spPr>
            <a:xfrm flipH="1">
              <a:off x="1007687" y="1076332"/>
              <a:ext cx="3826374" cy="3253484"/>
            </a:xfrm>
            <a:custGeom>
              <a:rect b="b" l="l" r="r" t="t"/>
              <a:pathLst>
                <a:path extrusionOk="0" h="60130" w="70718">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0" name="Google Shape;790;p52"/>
            <p:cNvSpPr/>
            <p:nvPr/>
          </p:nvSpPr>
          <p:spPr>
            <a:xfrm flipH="1">
              <a:off x="1756101" y="1210194"/>
              <a:ext cx="2979267" cy="1743398"/>
            </a:xfrm>
            <a:custGeom>
              <a:rect b="b" l="l" r="r" t="t"/>
              <a:pathLst>
                <a:path extrusionOk="0" h="32221" w="55062">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1" name="Google Shape;791;p52"/>
            <p:cNvSpPr/>
            <p:nvPr/>
          </p:nvSpPr>
          <p:spPr>
            <a:xfrm flipH="1">
              <a:off x="1136947" y="2250684"/>
              <a:ext cx="2754126" cy="1348359"/>
            </a:xfrm>
            <a:custGeom>
              <a:rect b="b" l="l" r="r" t="t"/>
              <a:pathLst>
                <a:path extrusionOk="0" h="24920" w="50901">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2" name="Google Shape;792;p52"/>
            <p:cNvSpPr/>
            <p:nvPr/>
          </p:nvSpPr>
          <p:spPr>
            <a:xfrm flipH="1">
              <a:off x="2338027" y="1362616"/>
              <a:ext cx="2240429" cy="1375954"/>
            </a:xfrm>
            <a:custGeom>
              <a:rect b="b" l="l" r="r" t="t"/>
              <a:pathLst>
                <a:path extrusionOk="0" h="25430" w="41407">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3" name="Google Shape;793;p52"/>
            <p:cNvSpPr/>
            <p:nvPr/>
          </p:nvSpPr>
          <p:spPr>
            <a:xfrm flipH="1">
              <a:off x="1152367" y="2357492"/>
              <a:ext cx="2446525" cy="1132632"/>
            </a:xfrm>
            <a:custGeom>
              <a:rect b="b" l="l" r="r" t="t"/>
              <a:pathLst>
                <a:path extrusionOk="0" h="20933" w="45216">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4" name="Google Shape;794;p52"/>
            <p:cNvSpPr/>
            <p:nvPr/>
          </p:nvSpPr>
          <p:spPr>
            <a:xfrm flipH="1">
              <a:off x="1882655" y="1411421"/>
              <a:ext cx="1334561" cy="792026"/>
            </a:xfrm>
            <a:custGeom>
              <a:rect b="b" l="l" r="r" t="t"/>
              <a:pathLst>
                <a:path extrusionOk="0" h="14638" w="24665">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5" name="Google Shape;795;p52"/>
            <p:cNvSpPr/>
            <p:nvPr/>
          </p:nvSpPr>
          <p:spPr>
            <a:xfrm flipH="1">
              <a:off x="2671597" y="2430051"/>
              <a:ext cx="747820" cy="454990"/>
            </a:xfrm>
            <a:custGeom>
              <a:rect b="b" l="l" r="r" t="t"/>
              <a:pathLst>
                <a:path extrusionOk="0" h="8409" w="13821">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6" name="Google Shape;796;p52"/>
            <p:cNvSpPr/>
            <p:nvPr/>
          </p:nvSpPr>
          <p:spPr>
            <a:xfrm flipH="1">
              <a:off x="3371372" y="1508382"/>
              <a:ext cx="1037349" cy="1000069"/>
            </a:xfrm>
            <a:custGeom>
              <a:rect b="b" l="l" r="r" t="t"/>
              <a:pathLst>
                <a:path extrusionOk="0" h="18483" w="19172">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7" name="Google Shape;797;p52"/>
            <p:cNvSpPr/>
            <p:nvPr/>
          </p:nvSpPr>
          <p:spPr>
            <a:xfrm flipH="1">
              <a:off x="3841890" y="1704359"/>
              <a:ext cx="465379" cy="672989"/>
            </a:xfrm>
            <a:custGeom>
              <a:rect b="b" l="l" r="r" t="t"/>
              <a:pathLst>
                <a:path extrusionOk="0" h="12438" w="8601">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8" name="Google Shape;798;p52"/>
            <p:cNvSpPr/>
            <p:nvPr/>
          </p:nvSpPr>
          <p:spPr>
            <a:xfrm flipH="1">
              <a:off x="1372260" y="2480425"/>
              <a:ext cx="1907127" cy="836718"/>
            </a:xfrm>
            <a:custGeom>
              <a:rect b="b" l="l" r="r" t="t"/>
              <a:pathLst>
                <a:path extrusionOk="0" h="15464" w="35247">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FF003A">
                <a:alpha val="4810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799" name="Google Shape;799;p52"/>
            <p:cNvSpPr/>
            <p:nvPr/>
          </p:nvSpPr>
          <p:spPr>
            <a:xfrm flipH="1">
              <a:off x="1543779" y="2544651"/>
              <a:ext cx="963059" cy="556874"/>
            </a:xfrm>
            <a:custGeom>
              <a:rect b="b" l="l" r="r" t="t"/>
              <a:pathLst>
                <a:path extrusionOk="0" h="10292" w="17799">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FF003A">
                <a:alpha val="4810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0" name="Google Shape;800;p52"/>
            <p:cNvSpPr/>
            <p:nvPr/>
          </p:nvSpPr>
          <p:spPr>
            <a:xfrm flipH="1">
              <a:off x="2609373" y="1877450"/>
              <a:ext cx="466353" cy="208693"/>
            </a:xfrm>
            <a:custGeom>
              <a:rect b="b" l="l" r="r" t="t"/>
              <a:pathLst>
                <a:path extrusionOk="0" h="3857" w="8619">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1" name="Google Shape;801;p52"/>
            <p:cNvSpPr/>
            <p:nvPr/>
          </p:nvSpPr>
          <p:spPr>
            <a:xfrm flipH="1">
              <a:off x="1972418" y="1569144"/>
              <a:ext cx="531173" cy="388167"/>
            </a:xfrm>
            <a:custGeom>
              <a:rect b="b" l="l" r="r" t="t"/>
              <a:pathLst>
                <a:path extrusionOk="0" h="7174" w="9817">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2" name="Google Shape;802;p52"/>
            <p:cNvSpPr/>
            <p:nvPr/>
          </p:nvSpPr>
          <p:spPr>
            <a:xfrm flipH="1">
              <a:off x="2456574" y="1424082"/>
              <a:ext cx="807338" cy="255387"/>
            </a:xfrm>
            <a:custGeom>
              <a:rect b="b" l="l" r="r" t="t"/>
              <a:pathLst>
                <a:path extrusionOk="0" h="4720" w="14921">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3" name="Google Shape;803;p52"/>
            <p:cNvSpPr/>
            <p:nvPr/>
          </p:nvSpPr>
          <p:spPr>
            <a:xfrm flipH="1">
              <a:off x="1417003" y="1771128"/>
              <a:ext cx="395850" cy="410027"/>
            </a:xfrm>
            <a:custGeom>
              <a:rect b="b" l="l" r="r" t="t"/>
              <a:pathLst>
                <a:path extrusionOk="0" h="7578" w="7316">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4" name="Google Shape;804;p52"/>
            <p:cNvSpPr/>
            <p:nvPr/>
          </p:nvSpPr>
          <p:spPr>
            <a:xfrm flipH="1">
              <a:off x="2900147" y="2573869"/>
              <a:ext cx="304896" cy="180124"/>
            </a:xfrm>
            <a:custGeom>
              <a:rect b="b" l="l" r="r" t="t"/>
              <a:pathLst>
                <a:path extrusionOk="0" h="3329" w="5635">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5" name="Google Shape;805;p52"/>
            <p:cNvSpPr/>
            <p:nvPr/>
          </p:nvSpPr>
          <p:spPr>
            <a:xfrm flipH="1">
              <a:off x="1682997" y="2632143"/>
              <a:ext cx="577002" cy="359382"/>
            </a:xfrm>
            <a:custGeom>
              <a:rect b="b" l="l" r="r" t="t"/>
              <a:pathLst>
                <a:path extrusionOk="0" h="6642" w="10664">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chemeClr val="accent6"/>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6" name="Google Shape;806;p52"/>
            <p:cNvSpPr/>
            <p:nvPr/>
          </p:nvSpPr>
          <p:spPr>
            <a:xfrm flipH="1">
              <a:off x="3226146" y="2090363"/>
              <a:ext cx="596156" cy="492541"/>
            </a:xfrm>
            <a:custGeom>
              <a:rect b="b" l="l" r="r" t="t"/>
              <a:pathLst>
                <a:path extrusionOk="0" h="9103" w="11018">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7" name="Google Shape;807;p52"/>
            <p:cNvSpPr/>
            <p:nvPr/>
          </p:nvSpPr>
          <p:spPr>
            <a:xfrm flipH="1">
              <a:off x="2755085" y="1476458"/>
              <a:ext cx="445088" cy="175687"/>
            </a:xfrm>
            <a:custGeom>
              <a:rect b="b" l="l" r="r" t="t"/>
              <a:pathLst>
                <a:path extrusionOk="0" h="3247" w="8226">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8" name="Google Shape;808;p52"/>
            <p:cNvSpPr/>
            <p:nvPr/>
          </p:nvSpPr>
          <p:spPr>
            <a:xfrm flipH="1">
              <a:off x="3476285" y="1534137"/>
              <a:ext cx="344773" cy="248191"/>
            </a:xfrm>
            <a:custGeom>
              <a:rect b="b" l="l" r="r" t="t"/>
              <a:pathLst>
                <a:path extrusionOk="0" h="4587" w="6372">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09" name="Google Shape;809;p52"/>
            <p:cNvSpPr/>
            <p:nvPr/>
          </p:nvSpPr>
          <p:spPr>
            <a:xfrm flipH="1">
              <a:off x="1682944" y="3477845"/>
              <a:ext cx="1055746" cy="354242"/>
            </a:xfrm>
            <a:custGeom>
              <a:rect b="b" l="l" r="r" t="t"/>
              <a:pathLst>
                <a:path extrusionOk="0" h="6547" w="19512">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10" name="Google Shape;810;p52"/>
            <p:cNvSpPr/>
            <p:nvPr/>
          </p:nvSpPr>
          <p:spPr>
            <a:xfrm flipH="1">
              <a:off x="2267683" y="3818614"/>
              <a:ext cx="409377" cy="460942"/>
            </a:xfrm>
            <a:custGeom>
              <a:rect b="b" l="l" r="r" t="t"/>
              <a:pathLst>
                <a:path extrusionOk="0" h="8519" w="7566">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11" name="Google Shape;811;p52"/>
            <p:cNvSpPr/>
            <p:nvPr/>
          </p:nvSpPr>
          <p:spPr>
            <a:xfrm flipH="1">
              <a:off x="1861227" y="3545804"/>
              <a:ext cx="628459" cy="207502"/>
            </a:xfrm>
            <a:custGeom>
              <a:rect b="b" l="l" r="r" t="t"/>
              <a:pathLst>
                <a:path extrusionOk="0" h="3835" w="11615">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12" name="Google Shape;812;p52"/>
            <p:cNvSpPr/>
            <p:nvPr/>
          </p:nvSpPr>
          <p:spPr>
            <a:xfrm flipH="1">
              <a:off x="1513585" y="1870686"/>
              <a:ext cx="217025" cy="226602"/>
            </a:xfrm>
            <a:custGeom>
              <a:rect b="b" l="l" r="r" t="t"/>
              <a:pathLst>
                <a:path extrusionOk="0" h="4188" w="4011">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13" name="Google Shape;813;p52"/>
            <p:cNvSpPr/>
            <p:nvPr/>
          </p:nvSpPr>
          <p:spPr>
            <a:xfrm flipH="1">
              <a:off x="1567368" y="1951144"/>
              <a:ext cx="97935" cy="54162"/>
            </a:xfrm>
            <a:custGeom>
              <a:rect b="b" l="l" r="r" t="t"/>
              <a:pathLst>
                <a:path extrusionOk="0" h="1001" w="181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grpSp>
      <p:sp>
        <p:nvSpPr>
          <p:cNvPr id="814" name="Google Shape;814;p52"/>
          <p:cNvSpPr/>
          <p:nvPr/>
        </p:nvSpPr>
        <p:spPr>
          <a:xfrm>
            <a:off x="7623000" y="834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2"/>
          <p:cNvSpPr/>
          <p:nvPr/>
        </p:nvSpPr>
        <p:spPr>
          <a:xfrm>
            <a:off x="8723275" y="5982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52"/>
          <p:cNvSpPr/>
          <p:nvPr/>
        </p:nvSpPr>
        <p:spPr>
          <a:xfrm>
            <a:off x="8723275" y="20822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7" name="Google Shape;817;p52"/>
          <p:cNvCxnSpPr>
            <a:stCxn id="814" idx="5"/>
            <a:endCxn id="816" idx="1"/>
          </p:cNvCxnSpPr>
          <p:nvPr/>
        </p:nvCxnSpPr>
        <p:spPr>
          <a:xfrm>
            <a:off x="7726707" y="937757"/>
            <a:ext cx="1006500" cy="1154400"/>
          </a:xfrm>
          <a:prstGeom prst="straightConnector1">
            <a:avLst/>
          </a:prstGeom>
          <a:noFill/>
          <a:ln cap="flat" cmpd="sng" w="9525">
            <a:solidFill>
              <a:schemeClr val="accent1"/>
            </a:solidFill>
            <a:prstDash val="solid"/>
            <a:round/>
            <a:headEnd len="med" w="med" type="none"/>
            <a:tailEnd len="med" w="med" type="none"/>
          </a:ln>
        </p:spPr>
      </p:cxnSp>
      <p:sp>
        <p:nvSpPr>
          <p:cNvPr id="818" name="Google Shape;818;p52"/>
          <p:cNvSpPr/>
          <p:nvPr/>
        </p:nvSpPr>
        <p:spPr>
          <a:xfrm>
            <a:off x="4946850" y="39696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2"/>
          <p:cNvSpPr/>
          <p:nvPr/>
        </p:nvSpPr>
        <p:spPr>
          <a:xfrm>
            <a:off x="4129950" y="42697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0" name="Google Shape;820;p52"/>
          <p:cNvCxnSpPr>
            <a:stCxn id="814" idx="6"/>
            <a:endCxn id="815" idx="2"/>
          </p:cNvCxnSpPr>
          <p:nvPr/>
        </p:nvCxnSpPr>
        <p:spPr>
          <a:xfrm flipH="1" rot="10800000">
            <a:off x="7744500" y="631700"/>
            <a:ext cx="978900" cy="263100"/>
          </a:xfrm>
          <a:prstGeom prst="straightConnector1">
            <a:avLst/>
          </a:prstGeom>
          <a:noFill/>
          <a:ln cap="flat" cmpd="sng" w="9525">
            <a:solidFill>
              <a:schemeClr val="accent1"/>
            </a:solidFill>
            <a:prstDash val="solid"/>
            <a:round/>
            <a:headEnd len="med" w="med" type="none"/>
            <a:tailEnd len="med" w="med" type="none"/>
          </a:ln>
        </p:spPr>
      </p:cxnSp>
      <p:sp>
        <p:nvSpPr>
          <p:cNvPr id="821" name="Google Shape;821;p52"/>
          <p:cNvSpPr/>
          <p:nvPr/>
        </p:nvSpPr>
        <p:spPr>
          <a:xfrm>
            <a:off x="5888725" y="72963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52"/>
          <p:cNvSpPr/>
          <p:nvPr/>
        </p:nvSpPr>
        <p:spPr>
          <a:xfrm>
            <a:off x="4635075" y="571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52"/>
          <p:cNvSpPr txBox="1"/>
          <p:nvPr/>
        </p:nvSpPr>
        <p:spPr>
          <a:xfrm>
            <a:off x="412025" y="1026000"/>
            <a:ext cx="6765300" cy="4117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ontserrat"/>
              <a:buAutoNum type="arabicParenR"/>
            </a:pPr>
            <a:r>
              <a:rPr lang="en">
                <a:solidFill>
                  <a:schemeClr val="dk1"/>
                </a:solidFill>
                <a:latin typeface="Montserrat"/>
                <a:ea typeface="Montserrat"/>
                <a:cs typeface="Montserrat"/>
                <a:sym typeface="Montserrat"/>
              </a:rPr>
              <a:t>Model Improvements</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Higher resolution training (128³ or 256³) for detecting small aneurysms (&lt;3mm)</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Reduce false positive rate (currently 47.8%) through threshold optimization</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Test alternative architectures (3D U-Net, attention mechanisms)</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AutoNum type="arabicParenR"/>
            </a:pPr>
            <a:r>
              <a:rPr lang="en">
                <a:solidFill>
                  <a:schemeClr val="dk1"/>
                </a:solidFill>
                <a:latin typeface="Montserrat"/>
                <a:ea typeface="Montserrat"/>
                <a:cs typeface="Montserrat"/>
                <a:sym typeface="Montserrat"/>
              </a:rPr>
              <a:t>Clinical Validation</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Real-world MRA data testing beyond VesselMNIST3D benchmark</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Multi-site validation (academic, community, rural hospitals)</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AutoNum type="arabicParenR"/>
            </a:pPr>
            <a:r>
              <a:rPr lang="en">
                <a:solidFill>
                  <a:schemeClr val="dk1"/>
                </a:solidFill>
                <a:latin typeface="Montserrat"/>
                <a:ea typeface="Montserrat"/>
                <a:cs typeface="Montserrat"/>
                <a:sym typeface="Montserrat"/>
              </a:rPr>
              <a:t>Bias &amp; Equity</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Performance audit stratified by age, sex, scanner type, aneurysm size</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Test on diverse equipment (1.5T vs 3T, older vs newer systems)</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AutoNum type="arabicParenR"/>
            </a:pPr>
            <a:r>
              <a:rPr lang="en">
                <a:solidFill>
                  <a:schemeClr val="dk1"/>
                </a:solidFill>
                <a:latin typeface="Montserrat"/>
                <a:ea typeface="Montserrat"/>
                <a:cs typeface="Montserrat"/>
                <a:sym typeface="Montserrat"/>
              </a:rPr>
              <a:t>Research Extensions</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Aneurysm localization + size estimation (beyond binary classification)</a:t>
            </a:r>
            <a:endParaRPr>
              <a:solidFill>
                <a:schemeClr val="dk1"/>
              </a:solidFill>
              <a:latin typeface="Montserrat"/>
              <a:ea typeface="Montserrat"/>
              <a:cs typeface="Montserrat"/>
              <a:sym typeface="Montserrat"/>
            </a:endParaRPr>
          </a:p>
          <a:p>
            <a:pPr indent="-317500" lvl="1" marL="914400" rtl="0" algn="l">
              <a:spcBef>
                <a:spcPts val="0"/>
              </a:spcBef>
              <a:spcAft>
                <a:spcPts val="0"/>
              </a:spcAft>
              <a:buClr>
                <a:schemeClr val="dk1"/>
              </a:buClr>
              <a:buSzPts val="1400"/>
              <a:buFont typeface="Montserrat"/>
              <a:buAutoNum type="alphaLcParenR"/>
            </a:pPr>
            <a:r>
              <a:rPr lang="en">
                <a:solidFill>
                  <a:schemeClr val="dk1"/>
                </a:solidFill>
                <a:latin typeface="Montserrat"/>
                <a:ea typeface="Montserrat"/>
                <a:cs typeface="Montserrat"/>
                <a:sym typeface="Montserrat"/>
              </a:rPr>
              <a:t>Rupture risk prediction</a:t>
            </a:r>
            <a:endParaRPr>
              <a:solidFill>
                <a:schemeClr val="dk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53"/>
          <p:cNvSpPr/>
          <p:nvPr/>
        </p:nvSpPr>
        <p:spPr>
          <a:xfrm>
            <a:off x="2059150" y="3400100"/>
            <a:ext cx="1129800" cy="759900"/>
          </a:xfrm>
          <a:prstGeom prst="rect">
            <a:avLst/>
          </a:prstGeom>
          <a:solidFill>
            <a:srgbClr val="190150"/>
          </a:solidFill>
          <a:ln cap="flat" cmpd="sng" w="9525">
            <a:solidFill>
              <a:srgbClr val="1A015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829" name="Google Shape;829;p53"/>
          <p:cNvSpPr/>
          <p:nvPr/>
        </p:nvSpPr>
        <p:spPr>
          <a:xfrm>
            <a:off x="1417200" y="3400100"/>
            <a:ext cx="1129800" cy="759900"/>
          </a:xfrm>
          <a:prstGeom prst="rect">
            <a:avLst/>
          </a:prstGeom>
          <a:solidFill>
            <a:srgbClr val="14013F"/>
          </a:solidFill>
          <a:ln cap="flat" cmpd="sng" w="9525">
            <a:solidFill>
              <a:srgbClr val="1401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830" name="Google Shape;830;p53"/>
          <p:cNvSpPr/>
          <p:nvPr/>
        </p:nvSpPr>
        <p:spPr>
          <a:xfrm>
            <a:off x="747725" y="3400100"/>
            <a:ext cx="1129800" cy="759900"/>
          </a:xfrm>
          <a:prstGeom prst="rect">
            <a:avLst/>
          </a:prstGeom>
          <a:solidFill>
            <a:srgbClr val="110136"/>
          </a:solidFill>
          <a:ln cap="flat" cmpd="sng" w="9525">
            <a:solidFill>
              <a:srgbClr val="1101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aleway"/>
              <a:ea typeface="Raleway"/>
              <a:cs typeface="Raleway"/>
              <a:sym typeface="Raleway"/>
            </a:endParaRPr>
          </a:p>
        </p:txBody>
      </p:sp>
      <p:sp>
        <p:nvSpPr>
          <p:cNvPr id="831" name="Google Shape;831;p53"/>
          <p:cNvSpPr txBox="1"/>
          <p:nvPr>
            <p:ph type="ctrTitle"/>
          </p:nvPr>
        </p:nvSpPr>
        <p:spPr>
          <a:xfrm>
            <a:off x="1417200" y="68550"/>
            <a:ext cx="7006800" cy="11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000"/>
              <a:t>Acknowledgments</a:t>
            </a:r>
            <a:endParaRPr sz="5000"/>
          </a:p>
        </p:txBody>
      </p:sp>
      <p:grpSp>
        <p:nvGrpSpPr>
          <p:cNvPr id="832" name="Google Shape;832;p53"/>
          <p:cNvGrpSpPr/>
          <p:nvPr/>
        </p:nvGrpSpPr>
        <p:grpSpPr>
          <a:xfrm flipH="1">
            <a:off x="6515074" y="1490601"/>
            <a:ext cx="2537459" cy="2162277"/>
            <a:chOff x="930854" y="1021197"/>
            <a:chExt cx="4016237" cy="3422408"/>
          </a:xfrm>
        </p:grpSpPr>
        <p:sp>
          <p:nvSpPr>
            <p:cNvPr id="833" name="Google Shape;833;p53"/>
            <p:cNvSpPr/>
            <p:nvPr/>
          </p:nvSpPr>
          <p:spPr>
            <a:xfrm flipH="1">
              <a:off x="930854" y="1021197"/>
              <a:ext cx="4016237" cy="3422408"/>
            </a:xfrm>
            <a:custGeom>
              <a:rect b="b" l="l" r="r" t="t"/>
              <a:pathLst>
                <a:path extrusionOk="0" h="63252" w="74227">
                  <a:moveTo>
                    <a:pt x="47639" y="63252"/>
                  </a:moveTo>
                  <a:cubicBezTo>
                    <a:pt x="46692" y="63252"/>
                    <a:pt x="45808" y="62783"/>
                    <a:pt x="45280" y="61996"/>
                  </a:cubicBezTo>
                  <a:cubicBezTo>
                    <a:pt x="43561" y="59440"/>
                    <a:pt x="41020" y="56302"/>
                    <a:pt x="39040" y="55163"/>
                  </a:cubicBezTo>
                  <a:cubicBezTo>
                    <a:pt x="36635" y="53780"/>
                    <a:pt x="34836" y="52057"/>
                    <a:pt x="33855" y="51000"/>
                  </a:cubicBezTo>
                  <a:cubicBezTo>
                    <a:pt x="32394" y="51269"/>
                    <a:pt x="30253" y="51406"/>
                    <a:pt x="27478" y="51406"/>
                  </a:cubicBezTo>
                  <a:cubicBezTo>
                    <a:pt x="27129" y="51406"/>
                    <a:pt x="26764" y="51403"/>
                    <a:pt x="26383" y="51400"/>
                  </a:cubicBezTo>
                  <a:cubicBezTo>
                    <a:pt x="20239" y="51325"/>
                    <a:pt x="16169" y="47548"/>
                    <a:pt x="15145" y="41010"/>
                  </a:cubicBezTo>
                  <a:cubicBezTo>
                    <a:pt x="9965" y="40936"/>
                    <a:pt x="6019" y="39322"/>
                    <a:pt x="3411" y="36210"/>
                  </a:cubicBezTo>
                  <a:cubicBezTo>
                    <a:pt x="1319" y="33714"/>
                    <a:pt x="203" y="30396"/>
                    <a:pt x="91" y="26347"/>
                  </a:cubicBezTo>
                  <a:cubicBezTo>
                    <a:pt x="1" y="23064"/>
                    <a:pt x="1460" y="15852"/>
                    <a:pt x="7495" y="9650"/>
                  </a:cubicBezTo>
                  <a:cubicBezTo>
                    <a:pt x="13637" y="3337"/>
                    <a:pt x="22820" y="0"/>
                    <a:pt x="34051" y="0"/>
                  </a:cubicBezTo>
                  <a:cubicBezTo>
                    <a:pt x="34908" y="0"/>
                    <a:pt x="35793" y="20"/>
                    <a:pt x="36679" y="58"/>
                  </a:cubicBezTo>
                  <a:cubicBezTo>
                    <a:pt x="53222" y="767"/>
                    <a:pt x="62137" y="8685"/>
                    <a:pt x="66703" y="15203"/>
                  </a:cubicBezTo>
                  <a:cubicBezTo>
                    <a:pt x="72892" y="24038"/>
                    <a:pt x="74226" y="34961"/>
                    <a:pt x="72808" y="39448"/>
                  </a:cubicBezTo>
                  <a:cubicBezTo>
                    <a:pt x="70995" y="45192"/>
                    <a:pt x="66361" y="47243"/>
                    <a:pt x="64090" y="47918"/>
                  </a:cubicBezTo>
                  <a:cubicBezTo>
                    <a:pt x="63735" y="49167"/>
                    <a:pt x="62929" y="50939"/>
                    <a:pt x="61107" y="52874"/>
                  </a:cubicBezTo>
                  <a:cubicBezTo>
                    <a:pt x="59366" y="54724"/>
                    <a:pt x="55998" y="55689"/>
                    <a:pt x="51096" y="55743"/>
                  </a:cubicBezTo>
                  <a:cubicBezTo>
                    <a:pt x="51788" y="57454"/>
                    <a:pt x="52126" y="58629"/>
                    <a:pt x="52126" y="59320"/>
                  </a:cubicBezTo>
                  <a:cubicBezTo>
                    <a:pt x="52126" y="60914"/>
                    <a:pt x="50962" y="62172"/>
                    <a:pt x="48669" y="63060"/>
                  </a:cubicBezTo>
                  <a:cubicBezTo>
                    <a:pt x="48337" y="63187"/>
                    <a:pt x="47992" y="63252"/>
                    <a:pt x="47639" y="6325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4" name="Google Shape;834;p53"/>
            <p:cNvSpPr/>
            <p:nvPr/>
          </p:nvSpPr>
          <p:spPr>
            <a:xfrm flipH="1">
              <a:off x="966727" y="1056475"/>
              <a:ext cx="3944978" cy="3351960"/>
            </a:xfrm>
            <a:custGeom>
              <a:rect b="b" l="l" r="r" t="t"/>
              <a:pathLst>
                <a:path extrusionOk="0" h="61950" w="72910">
                  <a:moveTo>
                    <a:pt x="46985" y="61949"/>
                  </a:moveTo>
                  <a:cubicBezTo>
                    <a:pt x="46254" y="61949"/>
                    <a:pt x="45574" y="61586"/>
                    <a:pt x="45166" y="60982"/>
                  </a:cubicBezTo>
                  <a:cubicBezTo>
                    <a:pt x="43408" y="58364"/>
                    <a:pt x="40786" y="55142"/>
                    <a:pt x="38711" y="53949"/>
                  </a:cubicBezTo>
                  <a:cubicBezTo>
                    <a:pt x="36196" y="52503"/>
                    <a:pt x="34368" y="50684"/>
                    <a:pt x="33435" y="49641"/>
                  </a:cubicBezTo>
                  <a:cubicBezTo>
                    <a:pt x="32032" y="49946"/>
                    <a:pt x="29796" y="50105"/>
                    <a:pt x="26824" y="50105"/>
                  </a:cubicBezTo>
                  <a:cubicBezTo>
                    <a:pt x="26477" y="50105"/>
                    <a:pt x="26116" y="50103"/>
                    <a:pt x="25737" y="50098"/>
                  </a:cubicBezTo>
                  <a:cubicBezTo>
                    <a:pt x="19720" y="50024"/>
                    <a:pt x="15888" y="46263"/>
                    <a:pt x="15058" y="39709"/>
                  </a:cubicBezTo>
                  <a:cubicBezTo>
                    <a:pt x="14995" y="39709"/>
                    <a:pt x="14931" y="39710"/>
                    <a:pt x="14868" y="39710"/>
                  </a:cubicBezTo>
                  <a:cubicBezTo>
                    <a:pt x="9705" y="39710"/>
                    <a:pt x="5797" y="38173"/>
                    <a:pt x="3256" y="35142"/>
                  </a:cubicBezTo>
                  <a:cubicBezTo>
                    <a:pt x="1261" y="32760"/>
                    <a:pt x="196" y="29576"/>
                    <a:pt x="88" y="25678"/>
                  </a:cubicBezTo>
                  <a:cubicBezTo>
                    <a:pt x="0" y="22496"/>
                    <a:pt x="1423" y="15500"/>
                    <a:pt x="7307" y="9453"/>
                  </a:cubicBezTo>
                  <a:cubicBezTo>
                    <a:pt x="13324" y="3269"/>
                    <a:pt x="22347" y="1"/>
                    <a:pt x="33397" y="1"/>
                  </a:cubicBezTo>
                  <a:cubicBezTo>
                    <a:pt x="34247" y="1"/>
                    <a:pt x="35122" y="20"/>
                    <a:pt x="35997" y="58"/>
                  </a:cubicBezTo>
                  <a:cubicBezTo>
                    <a:pt x="52274" y="753"/>
                    <a:pt x="61034" y="8527"/>
                    <a:pt x="65516" y="14925"/>
                  </a:cubicBezTo>
                  <a:cubicBezTo>
                    <a:pt x="71584" y="23589"/>
                    <a:pt x="72910" y="34242"/>
                    <a:pt x="71534" y="38602"/>
                  </a:cubicBezTo>
                  <a:cubicBezTo>
                    <a:pt x="69738" y="44287"/>
                    <a:pt x="65097" y="46161"/>
                    <a:pt x="62902" y="46743"/>
                  </a:cubicBezTo>
                  <a:cubicBezTo>
                    <a:pt x="62625" y="47916"/>
                    <a:pt x="61894" y="49743"/>
                    <a:pt x="59980" y="51777"/>
                  </a:cubicBezTo>
                  <a:cubicBezTo>
                    <a:pt x="58315" y="53545"/>
                    <a:pt x="54959" y="54443"/>
                    <a:pt x="50005" y="54443"/>
                  </a:cubicBezTo>
                  <a:lnTo>
                    <a:pt x="50005" y="54443"/>
                  </a:lnTo>
                  <a:cubicBezTo>
                    <a:pt x="49820" y="54443"/>
                    <a:pt x="49639" y="54441"/>
                    <a:pt x="49465" y="54439"/>
                  </a:cubicBezTo>
                  <a:cubicBezTo>
                    <a:pt x="50167" y="56074"/>
                    <a:pt x="50821" y="57827"/>
                    <a:pt x="50821" y="58670"/>
                  </a:cubicBezTo>
                  <a:cubicBezTo>
                    <a:pt x="50821" y="59968"/>
                    <a:pt x="49797" y="61021"/>
                    <a:pt x="47780" y="61803"/>
                  </a:cubicBezTo>
                  <a:cubicBezTo>
                    <a:pt x="47525" y="61900"/>
                    <a:pt x="47257" y="61949"/>
                    <a:pt x="46985" y="6194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5" name="Google Shape;835;p53"/>
            <p:cNvSpPr/>
            <p:nvPr/>
          </p:nvSpPr>
          <p:spPr>
            <a:xfrm flipH="1">
              <a:off x="1007687" y="1076332"/>
              <a:ext cx="3826374" cy="3253484"/>
            </a:xfrm>
            <a:custGeom>
              <a:rect b="b" l="l" r="r" t="t"/>
              <a:pathLst>
                <a:path extrusionOk="0" h="60130" w="70718">
                  <a:moveTo>
                    <a:pt x="34497" y="1208"/>
                  </a:moveTo>
                  <a:cubicBezTo>
                    <a:pt x="6296" y="0"/>
                    <a:pt x="1" y="18973"/>
                    <a:pt x="172" y="25269"/>
                  </a:cubicBezTo>
                  <a:cubicBezTo>
                    <a:pt x="344" y="31565"/>
                    <a:pt x="3363" y="38465"/>
                    <a:pt x="15005" y="37775"/>
                  </a:cubicBezTo>
                  <a:cubicBezTo>
                    <a:pt x="15265" y="42433"/>
                    <a:pt x="17248" y="48125"/>
                    <a:pt x="24320" y="48211"/>
                  </a:cubicBezTo>
                  <a:cubicBezTo>
                    <a:pt x="31391" y="48297"/>
                    <a:pt x="32512" y="47521"/>
                    <a:pt x="32512" y="47521"/>
                  </a:cubicBezTo>
                  <a:cubicBezTo>
                    <a:pt x="32512" y="47521"/>
                    <a:pt x="34583" y="50281"/>
                    <a:pt x="38031" y="52265"/>
                  </a:cubicBezTo>
                  <a:cubicBezTo>
                    <a:pt x="40918" y="53924"/>
                    <a:pt x="44047" y="58363"/>
                    <a:pt x="44990" y="59767"/>
                  </a:cubicBezTo>
                  <a:cubicBezTo>
                    <a:pt x="45166" y="60028"/>
                    <a:pt x="45499" y="60130"/>
                    <a:pt x="45792" y="60017"/>
                  </a:cubicBezTo>
                  <a:cubicBezTo>
                    <a:pt x="46548" y="59725"/>
                    <a:pt x="47863" y="59102"/>
                    <a:pt x="47863" y="58302"/>
                  </a:cubicBezTo>
                  <a:cubicBezTo>
                    <a:pt x="47863" y="57180"/>
                    <a:pt x="45620" y="52436"/>
                    <a:pt x="45620" y="52436"/>
                  </a:cubicBezTo>
                  <a:cubicBezTo>
                    <a:pt x="45620" y="52436"/>
                    <a:pt x="54677" y="53299"/>
                    <a:pt x="57436" y="50366"/>
                  </a:cubicBezTo>
                  <a:cubicBezTo>
                    <a:pt x="60196" y="47434"/>
                    <a:pt x="60109" y="45105"/>
                    <a:pt x="60109" y="45105"/>
                  </a:cubicBezTo>
                  <a:cubicBezTo>
                    <a:pt x="60109" y="45105"/>
                    <a:pt x="66577" y="44329"/>
                    <a:pt x="68646" y="37774"/>
                  </a:cubicBezTo>
                  <a:cubicBezTo>
                    <a:pt x="70718" y="31221"/>
                    <a:pt x="66100" y="2560"/>
                    <a:pt x="34497" y="120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6" name="Google Shape;836;p53"/>
            <p:cNvSpPr/>
            <p:nvPr/>
          </p:nvSpPr>
          <p:spPr>
            <a:xfrm flipH="1">
              <a:off x="1756101" y="1210194"/>
              <a:ext cx="2979267" cy="1743398"/>
            </a:xfrm>
            <a:custGeom>
              <a:rect b="b" l="l" r="r" t="t"/>
              <a:pathLst>
                <a:path extrusionOk="0" h="32221" w="55062">
                  <a:moveTo>
                    <a:pt x="11639" y="4442"/>
                  </a:moveTo>
                  <a:cubicBezTo>
                    <a:pt x="7245" y="7044"/>
                    <a:pt x="3733" y="11102"/>
                    <a:pt x="1785" y="15821"/>
                  </a:cubicBezTo>
                  <a:cubicBezTo>
                    <a:pt x="614" y="18657"/>
                    <a:pt x="0" y="21818"/>
                    <a:pt x="668" y="24813"/>
                  </a:cubicBezTo>
                  <a:cubicBezTo>
                    <a:pt x="1336" y="27808"/>
                    <a:pt x="3456" y="30583"/>
                    <a:pt x="6394" y="31472"/>
                  </a:cubicBezTo>
                  <a:cubicBezTo>
                    <a:pt x="8868" y="32220"/>
                    <a:pt x="11584" y="31576"/>
                    <a:pt x="13878" y="30384"/>
                  </a:cubicBezTo>
                  <a:cubicBezTo>
                    <a:pt x="16171" y="29190"/>
                    <a:pt x="18147" y="27481"/>
                    <a:pt x="20218" y="25933"/>
                  </a:cubicBezTo>
                  <a:cubicBezTo>
                    <a:pt x="26634" y="21131"/>
                    <a:pt x="34326" y="17736"/>
                    <a:pt x="42337" y="17556"/>
                  </a:cubicBezTo>
                  <a:cubicBezTo>
                    <a:pt x="44219" y="17514"/>
                    <a:pt x="46112" y="17647"/>
                    <a:pt x="47980" y="17410"/>
                  </a:cubicBezTo>
                  <a:cubicBezTo>
                    <a:pt x="49848" y="17172"/>
                    <a:pt x="51739" y="16514"/>
                    <a:pt x="53033" y="15147"/>
                  </a:cubicBezTo>
                  <a:cubicBezTo>
                    <a:pt x="54679" y="13406"/>
                    <a:pt x="55061" y="10590"/>
                    <a:pt x="53939" y="8473"/>
                  </a:cubicBezTo>
                  <a:cubicBezTo>
                    <a:pt x="52925" y="6563"/>
                    <a:pt x="50946" y="5384"/>
                    <a:pt x="48997" y="4450"/>
                  </a:cubicBezTo>
                  <a:cubicBezTo>
                    <a:pt x="44165" y="2135"/>
                    <a:pt x="38895" y="743"/>
                    <a:pt x="33552" y="335"/>
                  </a:cubicBezTo>
                  <a:cubicBezTo>
                    <a:pt x="31169" y="153"/>
                    <a:pt x="28645" y="0"/>
                    <a:pt x="26313" y="604"/>
                  </a:cubicBezTo>
                  <a:cubicBezTo>
                    <a:pt x="24209" y="1146"/>
                    <a:pt x="22102" y="1092"/>
                    <a:pt x="19965" y="1439"/>
                  </a:cubicBezTo>
                  <a:cubicBezTo>
                    <a:pt x="17035" y="1913"/>
                    <a:pt x="14194" y="2930"/>
                    <a:pt x="11639" y="444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7" name="Google Shape;837;p53"/>
            <p:cNvSpPr/>
            <p:nvPr/>
          </p:nvSpPr>
          <p:spPr>
            <a:xfrm flipH="1">
              <a:off x="1136947" y="2250684"/>
              <a:ext cx="2754126" cy="1348359"/>
            </a:xfrm>
            <a:custGeom>
              <a:rect b="b" l="l" r="r" t="t"/>
              <a:pathLst>
                <a:path extrusionOk="0" h="24920" w="50901">
                  <a:moveTo>
                    <a:pt x="16973" y="3096"/>
                  </a:moveTo>
                  <a:cubicBezTo>
                    <a:pt x="11814" y="4773"/>
                    <a:pt x="6963" y="7547"/>
                    <a:pt x="3185" y="11442"/>
                  </a:cubicBezTo>
                  <a:cubicBezTo>
                    <a:pt x="1526" y="13153"/>
                    <a:pt x="0" y="15336"/>
                    <a:pt x="249" y="17707"/>
                  </a:cubicBezTo>
                  <a:cubicBezTo>
                    <a:pt x="405" y="19178"/>
                    <a:pt x="1252" y="20516"/>
                    <a:pt x="2373" y="21481"/>
                  </a:cubicBezTo>
                  <a:cubicBezTo>
                    <a:pt x="3492" y="22445"/>
                    <a:pt x="4871" y="23066"/>
                    <a:pt x="6281" y="23511"/>
                  </a:cubicBezTo>
                  <a:cubicBezTo>
                    <a:pt x="10726" y="24920"/>
                    <a:pt x="15528" y="24686"/>
                    <a:pt x="20138" y="23986"/>
                  </a:cubicBezTo>
                  <a:cubicBezTo>
                    <a:pt x="24749" y="23285"/>
                    <a:pt x="29295" y="22134"/>
                    <a:pt x="33941" y="21740"/>
                  </a:cubicBezTo>
                  <a:cubicBezTo>
                    <a:pt x="37333" y="21453"/>
                    <a:pt x="40856" y="21552"/>
                    <a:pt x="43985" y="20210"/>
                  </a:cubicBezTo>
                  <a:cubicBezTo>
                    <a:pt x="46600" y="19089"/>
                    <a:pt x="48786" y="16946"/>
                    <a:pt x="49843" y="14304"/>
                  </a:cubicBezTo>
                  <a:cubicBezTo>
                    <a:pt x="50900" y="11662"/>
                    <a:pt x="50778" y="8547"/>
                    <a:pt x="49409" y="6054"/>
                  </a:cubicBezTo>
                  <a:cubicBezTo>
                    <a:pt x="48003" y="3490"/>
                    <a:pt x="45399" y="1717"/>
                    <a:pt x="42592" y="897"/>
                  </a:cubicBezTo>
                  <a:cubicBezTo>
                    <a:pt x="39522" y="0"/>
                    <a:pt x="36364" y="230"/>
                    <a:pt x="33242" y="660"/>
                  </a:cubicBezTo>
                  <a:cubicBezTo>
                    <a:pt x="29919" y="1119"/>
                    <a:pt x="26559" y="1027"/>
                    <a:pt x="23234" y="1580"/>
                  </a:cubicBezTo>
                  <a:cubicBezTo>
                    <a:pt x="21112" y="1934"/>
                    <a:pt x="19017" y="2432"/>
                    <a:pt x="16973" y="3096"/>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8" name="Google Shape;838;p53"/>
            <p:cNvSpPr/>
            <p:nvPr/>
          </p:nvSpPr>
          <p:spPr>
            <a:xfrm flipH="1">
              <a:off x="2338027" y="1362616"/>
              <a:ext cx="2240429" cy="1375954"/>
            </a:xfrm>
            <a:custGeom>
              <a:rect b="b" l="l" r="r" t="t"/>
              <a:pathLst>
                <a:path extrusionOk="0" h="25430" w="41407">
                  <a:moveTo>
                    <a:pt x="8985" y="3694"/>
                  </a:moveTo>
                  <a:cubicBezTo>
                    <a:pt x="5229" y="6166"/>
                    <a:pt x="2356" y="9951"/>
                    <a:pt x="987" y="14233"/>
                  </a:cubicBezTo>
                  <a:cubicBezTo>
                    <a:pt x="313" y="16338"/>
                    <a:pt x="1" y="18639"/>
                    <a:pt x="640" y="20754"/>
                  </a:cubicBezTo>
                  <a:cubicBezTo>
                    <a:pt x="1278" y="22870"/>
                    <a:pt x="3027" y="24747"/>
                    <a:pt x="5217" y="25053"/>
                  </a:cubicBezTo>
                  <a:cubicBezTo>
                    <a:pt x="7919" y="25429"/>
                    <a:pt x="10348" y="23476"/>
                    <a:pt x="12287" y="21554"/>
                  </a:cubicBezTo>
                  <a:cubicBezTo>
                    <a:pt x="15679" y="18191"/>
                    <a:pt x="18784" y="14515"/>
                    <a:pt x="22511" y="11528"/>
                  </a:cubicBezTo>
                  <a:cubicBezTo>
                    <a:pt x="26237" y="8539"/>
                    <a:pt x="30749" y="6232"/>
                    <a:pt x="35524" y="6205"/>
                  </a:cubicBezTo>
                  <a:cubicBezTo>
                    <a:pt x="36746" y="6198"/>
                    <a:pt x="38000" y="6336"/>
                    <a:pt x="39167" y="5971"/>
                  </a:cubicBezTo>
                  <a:cubicBezTo>
                    <a:pt x="40333" y="5606"/>
                    <a:pt x="41406" y="4540"/>
                    <a:pt x="41271" y="3325"/>
                  </a:cubicBezTo>
                  <a:cubicBezTo>
                    <a:pt x="41185" y="2558"/>
                    <a:pt x="40632" y="1901"/>
                    <a:pt x="39967" y="1509"/>
                  </a:cubicBezTo>
                  <a:cubicBezTo>
                    <a:pt x="39301" y="1117"/>
                    <a:pt x="38530" y="948"/>
                    <a:pt x="37771" y="807"/>
                  </a:cubicBezTo>
                  <a:cubicBezTo>
                    <a:pt x="33489" y="22"/>
                    <a:pt x="29101" y="0"/>
                    <a:pt x="24761" y="123"/>
                  </a:cubicBezTo>
                  <a:cubicBezTo>
                    <a:pt x="21475" y="215"/>
                    <a:pt x="17928" y="263"/>
                    <a:pt x="14750" y="1115"/>
                  </a:cubicBezTo>
                  <a:cubicBezTo>
                    <a:pt x="12707" y="1663"/>
                    <a:pt x="10752" y="2532"/>
                    <a:pt x="8985" y="3694"/>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39" name="Google Shape;839;p53"/>
            <p:cNvSpPr/>
            <p:nvPr/>
          </p:nvSpPr>
          <p:spPr>
            <a:xfrm flipH="1">
              <a:off x="1152367" y="2357492"/>
              <a:ext cx="2446525" cy="1132632"/>
            </a:xfrm>
            <a:custGeom>
              <a:rect b="b" l="l" r="r" t="t"/>
              <a:pathLst>
                <a:path extrusionOk="0" h="20933" w="45216">
                  <a:moveTo>
                    <a:pt x="30247" y="342"/>
                  </a:moveTo>
                  <a:cubicBezTo>
                    <a:pt x="26383" y="580"/>
                    <a:pt x="22637" y="1999"/>
                    <a:pt x="19422" y="4155"/>
                  </a:cubicBezTo>
                  <a:cubicBezTo>
                    <a:pt x="16131" y="6361"/>
                    <a:pt x="13238" y="9385"/>
                    <a:pt x="9417" y="10441"/>
                  </a:cubicBezTo>
                  <a:cubicBezTo>
                    <a:pt x="8078" y="10811"/>
                    <a:pt x="6679" y="10919"/>
                    <a:pt x="5316" y="11192"/>
                  </a:cubicBezTo>
                  <a:cubicBezTo>
                    <a:pt x="3952" y="11466"/>
                    <a:pt x="2576" y="11934"/>
                    <a:pt x="1565" y="12889"/>
                  </a:cubicBezTo>
                  <a:cubicBezTo>
                    <a:pt x="556" y="13846"/>
                    <a:pt x="1" y="15384"/>
                    <a:pt x="517" y="16676"/>
                  </a:cubicBezTo>
                  <a:cubicBezTo>
                    <a:pt x="1045" y="17999"/>
                    <a:pt x="2477" y="18700"/>
                    <a:pt x="3824" y="19167"/>
                  </a:cubicBezTo>
                  <a:cubicBezTo>
                    <a:pt x="7942" y="20592"/>
                    <a:pt x="12431" y="20933"/>
                    <a:pt x="16717" y="20145"/>
                  </a:cubicBezTo>
                  <a:cubicBezTo>
                    <a:pt x="20320" y="19484"/>
                    <a:pt x="23771" y="18045"/>
                    <a:pt x="27417" y="17691"/>
                  </a:cubicBezTo>
                  <a:cubicBezTo>
                    <a:pt x="29837" y="17456"/>
                    <a:pt x="32311" y="17704"/>
                    <a:pt x="34679" y="17155"/>
                  </a:cubicBezTo>
                  <a:cubicBezTo>
                    <a:pt x="38273" y="16323"/>
                    <a:pt x="41361" y="13564"/>
                    <a:pt x="42589" y="10084"/>
                  </a:cubicBezTo>
                  <a:cubicBezTo>
                    <a:pt x="45216" y="2646"/>
                    <a:pt x="35817" y="0"/>
                    <a:pt x="30247" y="34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0" name="Google Shape;840;p53"/>
            <p:cNvSpPr/>
            <p:nvPr/>
          </p:nvSpPr>
          <p:spPr>
            <a:xfrm flipH="1">
              <a:off x="1882655" y="1411421"/>
              <a:ext cx="1334561" cy="792026"/>
            </a:xfrm>
            <a:custGeom>
              <a:rect b="b" l="l" r="r" t="t"/>
              <a:pathLst>
                <a:path extrusionOk="0" h="14638" w="24665">
                  <a:moveTo>
                    <a:pt x="18529" y="2356"/>
                  </a:moveTo>
                  <a:cubicBezTo>
                    <a:pt x="17722" y="3001"/>
                    <a:pt x="17141" y="3890"/>
                    <a:pt x="16372" y="4582"/>
                  </a:cubicBezTo>
                  <a:cubicBezTo>
                    <a:pt x="14936" y="5877"/>
                    <a:pt x="12961" y="6386"/>
                    <a:pt x="11045" y="6656"/>
                  </a:cubicBezTo>
                  <a:cubicBezTo>
                    <a:pt x="9129" y="6928"/>
                    <a:pt x="7167" y="7008"/>
                    <a:pt x="5335" y="7631"/>
                  </a:cubicBezTo>
                  <a:cubicBezTo>
                    <a:pt x="3794" y="8154"/>
                    <a:pt x="2384" y="9058"/>
                    <a:pt x="1266" y="10238"/>
                  </a:cubicBezTo>
                  <a:cubicBezTo>
                    <a:pt x="818" y="10709"/>
                    <a:pt x="412" y="11238"/>
                    <a:pt x="206" y="11854"/>
                  </a:cubicBezTo>
                  <a:cubicBezTo>
                    <a:pt x="1" y="12469"/>
                    <a:pt x="23" y="13188"/>
                    <a:pt x="389" y="13724"/>
                  </a:cubicBezTo>
                  <a:cubicBezTo>
                    <a:pt x="758" y="14264"/>
                    <a:pt x="1422" y="14544"/>
                    <a:pt x="2072" y="14591"/>
                  </a:cubicBezTo>
                  <a:cubicBezTo>
                    <a:pt x="2723" y="14638"/>
                    <a:pt x="3371" y="14481"/>
                    <a:pt x="3998" y="14298"/>
                  </a:cubicBezTo>
                  <a:cubicBezTo>
                    <a:pt x="7049" y="13413"/>
                    <a:pt x="9967" y="11899"/>
                    <a:pt x="13139" y="11702"/>
                  </a:cubicBezTo>
                  <a:cubicBezTo>
                    <a:pt x="15838" y="11534"/>
                    <a:pt x="18694" y="12319"/>
                    <a:pt x="21174" y="11240"/>
                  </a:cubicBezTo>
                  <a:cubicBezTo>
                    <a:pt x="22930" y="10478"/>
                    <a:pt x="24256" y="8749"/>
                    <a:pt x="24417" y="6842"/>
                  </a:cubicBezTo>
                  <a:cubicBezTo>
                    <a:pt x="24664" y="3919"/>
                    <a:pt x="21478" y="1"/>
                    <a:pt x="18529" y="2356"/>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1" name="Google Shape;841;p53"/>
            <p:cNvSpPr/>
            <p:nvPr/>
          </p:nvSpPr>
          <p:spPr>
            <a:xfrm flipH="1">
              <a:off x="2671597" y="2430051"/>
              <a:ext cx="747820" cy="454990"/>
            </a:xfrm>
            <a:custGeom>
              <a:rect b="b" l="l" r="r" t="t"/>
              <a:pathLst>
                <a:path extrusionOk="0" h="8409" w="13821">
                  <a:moveTo>
                    <a:pt x="805" y="5059"/>
                  </a:moveTo>
                  <a:cubicBezTo>
                    <a:pt x="418" y="5359"/>
                    <a:pt x="1" y="5766"/>
                    <a:pt x="76" y="6249"/>
                  </a:cubicBezTo>
                  <a:cubicBezTo>
                    <a:pt x="120" y="6532"/>
                    <a:pt x="327" y="6760"/>
                    <a:pt x="543" y="6948"/>
                  </a:cubicBezTo>
                  <a:cubicBezTo>
                    <a:pt x="1833" y="8079"/>
                    <a:pt x="3705" y="8409"/>
                    <a:pt x="5384" y="8051"/>
                  </a:cubicBezTo>
                  <a:cubicBezTo>
                    <a:pt x="7063" y="7693"/>
                    <a:pt x="8558" y="6710"/>
                    <a:pt x="9780" y="5504"/>
                  </a:cubicBezTo>
                  <a:cubicBezTo>
                    <a:pt x="10807" y="4488"/>
                    <a:pt x="11659" y="3314"/>
                    <a:pt x="12464" y="2118"/>
                  </a:cubicBezTo>
                  <a:cubicBezTo>
                    <a:pt x="13064" y="1227"/>
                    <a:pt x="13821" y="0"/>
                    <a:pt x="12168" y="233"/>
                  </a:cubicBezTo>
                  <a:cubicBezTo>
                    <a:pt x="9535" y="607"/>
                    <a:pt x="6963" y="1434"/>
                    <a:pt x="4600" y="2646"/>
                  </a:cubicBezTo>
                  <a:cubicBezTo>
                    <a:pt x="3263" y="3331"/>
                    <a:pt x="1991" y="4139"/>
                    <a:pt x="805" y="505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2" name="Google Shape;842;p53"/>
            <p:cNvSpPr/>
            <p:nvPr/>
          </p:nvSpPr>
          <p:spPr>
            <a:xfrm flipH="1">
              <a:off x="3371372" y="1508382"/>
              <a:ext cx="1037349" cy="1000069"/>
            </a:xfrm>
            <a:custGeom>
              <a:rect b="b" l="l" r="r" t="t"/>
              <a:pathLst>
                <a:path extrusionOk="0" h="18483" w="19172">
                  <a:moveTo>
                    <a:pt x="6533" y="4320"/>
                  </a:moveTo>
                  <a:cubicBezTo>
                    <a:pt x="3792" y="6570"/>
                    <a:pt x="1697" y="9603"/>
                    <a:pt x="582" y="12969"/>
                  </a:cubicBezTo>
                  <a:cubicBezTo>
                    <a:pt x="250" y="13976"/>
                    <a:pt x="1" y="15050"/>
                    <a:pt x="205" y="16091"/>
                  </a:cubicBezTo>
                  <a:cubicBezTo>
                    <a:pt x="409" y="17131"/>
                    <a:pt x="1169" y="18122"/>
                    <a:pt x="2212" y="18308"/>
                  </a:cubicBezTo>
                  <a:cubicBezTo>
                    <a:pt x="3188" y="18482"/>
                    <a:pt x="4147" y="17942"/>
                    <a:pt x="4921" y="17322"/>
                  </a:cubicBezTo>
                  <a:cubicBezTo>
                    <a:pt x="8993" y="14062"/>
                    <a:pt x="10507" y="8322"/>
                    <a:pt x="14693" y="5214"/>
                  </a:cubicBezTo>
                  <a:cubicBezTo>
                    <a:pt x="15661" y="4495"/>
                    <a:pt x="16747" y="3941"/>
                    <a:pt x="17711" y="3214"/>
                  </a:cubicBezTo>
                  <a:cubicBezTo>
                    <a:pt x="18502" y="2617"/>
                    <a:pt x="19171" y="1586"/>
                    <a:pt x="18245" y="770"/>
                  </a:cubicBezTo>
                  <a:cubicBezTo>
                    <a:pt x="17636" y="233"/>
                    <a:pt x="16530" y="1"/>
                    <a:pt x="15735" y="108"/>
                  </a:cubicBezTo>
                  <a:cubicBezTo>
                    <a:pt x="13691" y="382"/>
                    <a:pt x="11519" y="1251"/>
                    <a:pt x="9709" y="2209"/>
                  </a:cubicBezTo>
                  <a:cubicBezTo>
                    <a:pt x="8585" y="2805"/>
                    <a:pt x="7518" y="3511"/>
                    <a:pt x="6533" y="4320"/>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3" name="Google Shape;843;p53"/>
            <p:cNvSpPr/>
            <p:nvPr/>
          </p:nvSpPr>
          <p:spPr>
            <a:xfrm flipH="1">
              <a:off x="3841890" y="1704359"/>
              <a:ext cx="465379" cy="672989"/>
            </a:xfrm>
            <a:custGeom>
              <a:rect b="b" l="l" r="r" t="t"/>
              <a:pathLst>
                <a:path extrusionOk="0" h="12438" w="8601">
                  <a:moveTo>
                    <a:pt x="3544" y="3941"/>
                  </a:moveTo>
                  <a:cubicBezTo>
                    <a:pt x="1839" y="5708"/>
                    <a:pt x="491" y="7902"/>
                    <a:pt x="108" y="10327"/>
                  </a:cubicBezTo>
                  <a:cubicBezTo>
                    <a:pt x="1" y="10999"/>
                    <a:pt x="56" y="11846"/>
                    <a:pt x="668" y="12144"/>
                  </a:cubicBezTo>
                  <a:cubicBezTo>
                    <a:pt x="1264" y="12437"/>
                    <a:pt x="1950" y="11993"/>
                    <a:pt x="2447" y="11553"/>
                  </a:cubicBezTo>
                  <a:cubicBezTo>
                    <a:pt x="4681" y="9581"/>
                    <a:pt x="6533" y="7178"/>
                    <a:pt x="7868" y="4515"/>
                  </a:cubicBezTo>
                  <a:cubicBezTo>
                    <a:pt x="8103" y="4047"/>
                    <a:pt x="8327" y="3559"/>
                    <a:pt x="8366" y="3036"/>
                  </a:cubicBezTo>
                  <a:cubicBezTo>
                    <a:pt x="8600" y="0"/>
                    <a:pt x="4348" y="3108"/>
                    <a:pt x="3544" y="3941"/>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4" name="Google Shape;844;p53"/>
            <p:cNvSpPr/>
            <p:nvPr/>
          </p:nvSpPr>
          <p:spPr>
            <a:xfrm flipH="1">
              <a:off x="1372260" y="2480425"/>
              <a:ext cx="1907127" cy="836718"/>
            </a:xfrm>
            <a:custGeom>
              <a:rect b="b" l="l" r="r" t="t"/>
              <a:pathLst>
                <a:path extrusionOk="0" h="15464" w="35247">
                  <a:moveTo>
                    <a:pt x="19952" y="1612"/>
                  </a:moveTo>
                  <a:cubicBezTo>
                    <a:pt x="17791" y="2768"/>
                    <a:pt x="15989" y="4480"/>
                    <a:pt x="14102" y="6045"/>
                  </a:cubicBezTo>
                  <a:cubicBezTo>
                    <a:pt x="12216" y="7611"/>
                    <a:pt x="10144" y="9081"/>
                    <a:pt x="7749" y="9604"/>
                  </a:cubicBezTo>
                  <a:cubicBezTo>
                    <a:pt x="5745" y="10043"/>
                    <a:pt x="3526" y="9822"/>
                    <a:pt x="1782" y="10903"/>
                  </a:cubicBezTo>
                  <a:cubicBezTo>
                    <a:pt x="775" y="11528"/>
                    <a:pt x="1" y="12773"/>
                    <a:pt x="418" y="13880"/>
                  </a:cubicBezTo>
                  <a:cubicBezTo>
                    <a:pt x="848" y="15018"/>
                    <a:pt x="2259" y="15420"/>
                    <a:pt x="3475" y="15431"/>
                  </a:cubicBezTo>
                  <a:cubicBezTo>
                    <a:pt x="7323" y="15463"/>
                    <a:pt x="10839" y="13203"/>
                    <a:pt x="14663" y="12762"/>
                  </a:cubicBezTo>
                  <a:cubicBezTo>
                    <a:pt x="17374" y="12449"/>
                    <a:pt x="20096" y="13064"/>
                    <a:pt x="22823" y="13177"/>
                  </a:cubicBezTo>
                  <a:cubicBezTo>
                    <a:pt x="25958" y="13305"/>
                    <a:pt x="29232" y="12710"/>
                    <a:pt x="31765" y="10854"/>
                  </a:cubicBezTo>
                  <a:cubicBezTo>
                    <a:pt x="33121" y="9860"/>
                    <a:pt x="34206" y="8474"/>
                    <a:pt x="34824" y="6908"/>
                  </a:cubicBezTo>
                  <a:cubicBezTo>
                    <a:pt x="35247" y="5835"/>
                    <a:pt x="34863" y="2313"/>
                    <a:pt x="30733" y="778"/>
                  </a:cubicBezTo>
                  <a:cubicBezTo>
                    <a:pt x="29102" y="172"/>
                    <a:pt x="27326" y="1"/>
                    <a:pt x="25588" y="86"/>
                  </a:cubicBezTo>
                  <a:cubicBezTo>
                    <a:pt x="23631" y="181"/>
                    <a:pt x="21686" y="687"/>
                    <a:pt x="19952" y="1612"/>
                  </a:cubicBezTo>
                  <a:close/>
                </a:path>
              </a:pathLst>
            </a:custGeom>
            <a:solidFill>
              <a:srgbClr val="FF003A">
                <a:alpha val="4810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5" name="Google Shape;845;p53"/>
            <p:cNvSpPr/>
            <p:nvPr/>
          </p:nvSpPr>
          <p:spPr>
            <a:xfrm flipH="1">
              <a:off x="1543779" y="2544651"/>
              <a:ext cx="963059" cy="556874"/>
            </a:xfrm>
            <a:custGeom>
              <a:rect b="b" l="l" r="r" t="t"/>
              <a:pathLst>
                <a:path extrusionOk="0" h="10292" w="17799">
                  <a:moveTo>
                    <a:pt x="1142" y="5558"/>
                  </a:moveTo>
                  <a:cubicBezTo>
                    <a:pt x="567" y="6172"/>
                    <a:pt x="1" y="6993"/>
                    <a:pt x="259" y="7793"/>
                  </a:cubicBezTo>
                  <a:cubicBezTo>
                    <a:pt x="510" y="8572"/>
                    <a:pt x="1404" y="8914"/>
                    <a:pt x="2194" y="9125"/>
                  </a:cubicBezTo>
                  <a:cubicBezTo>
                    <a:pt x="4158" y="9645"/>
                    <a:pt x="6172" y="9985"/>
                    <a:pt x="8200" y="10136"/>
                  </a:cubicBezTo>
                  <a:cubicBezTo>
                    <a:pt x="10288" y="10291"/>
                    <a:pt x="12464" y="10229"/>
                    <a:pt x="14358" y="9338"/>
                  </a:cubicBezTo>
                  <a:cubicBezTo>
                    <a:pt x="16253" y="8447"/>
                    <a:pt x="17799" y="6554"/>
                    <a:pt x="17737" y="4460"/>
                  </a:cubicBezTo>
                  <a:cubicBezTo>
                    <a:pt x="17701" y="3288"/>
                    <a:pt x="17153" y="2140"/>
                    <a:pt x="16262" y="1374"/>
                  </a:cubicBezTo>
                  <a:cubicBezTo>
                    <a:pt x="14659" y="0"/>
                    <a:pt x="12220" y="8"/>
                    <a:pt x="10282" y="421"/>
                  </a:cubicBezTo>
                  <a:cubicBezTo>
                    <a:pt x="8068" y="893"/>
                    <a:pt x="5948" y="1797"/>
                    <a:pt x="4073" y="3063"/>
                  </a:cubicBezTo>
                  <a:cubicBezTo>
                    <a:pt x="3007" y="3782"/>
                    <a:pt x="2019" y="4619"/>
                    <a:pt x="1142" y="5558"/>
                  </a:cubicBezTo>
                  <a:close/>
                </a:path>
              </a:pathLst>
            </a:custGeom>
            <a:solidFill>
              <a:srgbClr val="FF003A">
                <a:alpha val="4810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6" name="Google Shape;846;p53"/>
            <p:cNvSpPr/>
            <p:nvPr/>
          </p:nvSpPr>
          <p:spPr>
            <a:xfrm flipH="1">
              <a:off x="2609373" y="1877450"/>
              <a:ext cx="466353" cy="208693"/>
            </a:xfrm>
            <a:custGeom>
              <a:rect b="b" l="l" r="r" t="t"/>
              <a:pathLst>
                <a:path extrusionOk="0" h="3857" w="8619">
                  <a:moveTo>
                    <a:pt x="911" y="1631"/>
                  </a:moveTo>
                  <a:cubicBezTo>
                    <a:pt x="611" y="1853"/>
                    <a:pt x="320" y="2105"/>
                    <a:pt x="160" y="2442"/>
                  </a:cubicBezTo>
                  <a:cubicBezTo>
                    <a:pt x="0" y="2779"/>
                    <a:pt x="6" y="3217"/>
                    <a:pt x="261" y="3489"/>
                  </a:cubicBezTo>
                  <a:cubicBezTo>
                    <a:pt x="607" y="3856"/>
                    <a:pt x="1203" y="3767"/>
                    <a:pt x="1694" y="3649"/>
                  </a:cubicBezTo>
                  <a:cubicBezTo>
                    <a:pt x="3053" y="3322"/>
                    <a:pt x="4411" y="2994"/>
                    <a:pt x="5770" y="2666"/>
                  </a:cubicBezTo>
                  <a:cubicBezTo>
                    <a:pt x="6321" y="2534"/>
                    <a:pt x="6874" y="2401"/>
                    <a:pt x="7389" y="2167"/>
                  </a:cubicBezTo>
                  <a:cubicBezTo>
                    <a:pt x="7697" y="2027"/>
                    <a:pt x="8013" y="1827"/>
                    <a:pt x="8130" y="1508"/>
                  </a:cubicBezTo>
                  <a:cubicBezTo>
                    <a:pt x="8618" y="170"/>
                    <a:pt x="6177" y="0"/>
                    <a:pt x="5368" y="7"/>
                  </a:cubicBezTo>
                  <a:cubicBezTo>
                    <a:pt x="3799" y="22"/>
                    <a:pt x="2152" y="706"/>
                    <a:pt x="911" y="1631"/>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7" name="Google Shape;847;p53"/>
            <p:cNvSpPr/>
            <p:nvPr/>
          </p:nvSpPr>
          <p:spPr>
            <a:xfrm flipH="1">
              <a:off x="1972418" y="1569144"/>
              <a:ext cx="531173" cy="388167"/>
            </a:xfrm>
            <a:custGeom>
              <a:rect b="b" l="l" r="r" t="t"/>
              <a:pathLst>
                <a:path extrusionOk="0" h="7174" w="9817">
                  <a:moveTo>
                    <a:pt x="6122" y="593"/>
                  </a:moveTo>
                  <a:cubicBezTo>
                    <a:pt x="5359" y="1012"/>
                    <a:pt x="4782" y="1695"/>
                    <a:pt x="4213" y="2356"/>
                  </a:cubicBezTo>
                  <a:cubicBezTo>
                    <a:pt x="3644" y="3016"/>
                    <a:pt x="3040" y="3682"/>
                    <a:pt x="2247" y="4044"/>
                  </a:cubicBezTo>
                  <a:cubicBezTo>
                    <a:pt x="1779" y="4257"/>
                    <a:pt x="1260" y="4355"/>
                    <a:pt x="816" y="4614"/>
                  </a:cubicBezTo>
                  <a:cubicBezTo>
                    <a:pt x="371" y="4873"/>
                    <a:pt x="0" y="5372"/>
                    <a:pt x="118" y="5871"/>
                  </a:cubicBezTo>
                  <a:cubicBezTo>
                    <a:pt x="235" y="6365"/>
                    <a:pt x="789" y="6648"/>
                    <a:pt x="1297" y="6643"/>
                  </a:cubicBezTo>
                  <a:cubicBezTo>
                    <a:pt x="1803" y="6638"/>
                    <a:pt x="2280" y="6419"/>
                    <a:pt x="2752" y="6234"/>
                  </a:cubicBezTo>
                  <a:cubicBezTo>
                    <a:pt x="3225" y="6048"/>
                    <a:pt x="3740" y="5890"/>
                    <a:pt x="4233" y="6012"/>
                  </a:cubicBezTo>
                  <a:cubicBezTo>
                    <a:pt x="4702" y="6129"/>
                    <a:pt x="5074" y="6479"/>
                    <a:pt x="5504" y="6700"/>
                  </a:cubicBezTo>
                  <a:cubicBezTo>
                    <a:pt x="6418" y="7173"/>
                    <a:pt x="7595" y="7003"/>
                    <a:pt x="8415" y="6378"/>
                  </a:cubicBezTo>
                  <a:cubicBezTo>
                    <a:pt x="9235" y="5754"/>
                    <a:pt x="9703" y="4732"/>
                    <a:pt x="9763" y="3704"/>
                  </a:cubicBezTo>
                  <a:cubicBezTo>
                    <a:pt x="9817" y="2782"/>
                    <a:pt x="9587" y="1379"/>
                    <a:pt x="8893" y="683"/>
                  </a:cubicBezTo>
                  <a:cubicBezTo>
                    <a:pt x="8207" y="0"/>
                    <a:pt x="6888" y="174"/>
                    <a:pt x="6122" y="593"/>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8" name="Google Shape;848;p53"/>
            <p:cNvSpPr/>
            <p:nvPr/>
          </p:nvSpPr>
          <p:spPr>
            <a:xfrm flipH="1">
              <a:off x="2456574" y="1424082"/>
              <a:ext cx="807338" cy="255387"/>
            </a:xfrm>
            <a:custGeom>
              <a:rect b="b" l="l" r="r" t="t"/>
              <a:pathLst>
                <a:path extrusionOk="0" h="4720" w="14921">
                  <a:moveTo>
                    <a:pt x="2183" y="1038"/>
                  </a:moveTo>
                  <a:cubicBezTo>
                    <a:pt x="1659" y="1210"/>
                    <a:pt x="1133" y="1411"/>
                    <a:pt x="714" y="1769"/>
                  </a:cubicBezTo>
                  <a:cubicBezTo>
                    <a:pt x="296" y="2127"/>
                    <a:pt x="0" y="2673"/>
                    <a:pt x="75" y="3217"/>
                  </a:cubicBezTo>
                  <a:cubicBezTo>
                    <a:pt x="160" y="3852"/>
                    <a:pt x="725" y="4339"/>
                    <a:pt x="1337" y="4530"/>
                  </a:cubicBezTo>
                  <a:cubicBezTo>
                    <a:pt x="1949" y="4720"/>
                    <a:pt x="2607" y="4672"/>
                    <a:pt x="3247" y="4622"/>
                  </a:cubicBezTo>
                  <a:cubicBezTo>
                    <a:pt x="6266" y="4388"/>
                    <a:pt x="9285" y="4154"/>
                    <a:pt x="12306" y="3920"/>
                  </a:cubicBezTo>
                  <a:cubicBezTo>
                    <a:pt x="12879" y="3876"/>
                    <a:pt x="13469" y="3826"/>
                    <a:pt x="13981" y="3569"/>
                  </a:cubicBezTo>
                  <a:cubicBezTo>
                    <a:pt x="14495" y="3311"/>
                    <a:pt x="14920" y="2789"/>
                    <a:pt x="14887" y="2215"/>
                  </a:cubicBezTo>
                  <a:cubicBezTo>
                    <a:pt x="14798" y="706"/>
                    <a:pt x="12372" y="510"/>
                    <a:pt x="11250" y="329"/>
                  </a:cubicBezTo>
                  <a:cubicBezTo>
                    <a:pt x="9296" y="18"/>
                    <a:pt x="7299" y="1"/>
                    <a:pt x="5340" y="291"/>
                  </a:cubicBezTo>
                  <a:cubicBezTo>
                    <a:pt x="4270" y="451"/>
                    <a:pt x="3211" y="700"/>
                    <a:pt x="2183" y="103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49" name="Google Shape;849;p53"/>
            <p:cNvSpPr/>
            <p:nvPr/>
          </p:nvSpPr>
          <p:spPr>
            <a:xfrm flipH="1">
              <a:off x="1417003" y="1771128"/>
              <a:ext cx="395850" cy="410027"/>
            </a:xfrm>
            <a:custGeom>
              <a:rect b="b" l="l" r="r" t="t"/>
              <a:pathLst>
                <a:path extrusionOk="0" h="7578" w="7316">
                  <a:moveTo>
                    <a:pt x="1626" y="2733"/>
                  </a:moveTo>
                  <a:cubicBezTo>
                    <a:pt x="1178" y="3742"/>
                    <a:pt x="733" y="4749"/>
                    <a:pt x="286" y="5758"/>
                  </a:cubicBezTo>
                  <a:cubicBezTo>
                    <a:pt x="145" y="6079"/>
                    <a:pt x="1" y="6432"/>
                    <a:pt x="96" y="6769"/>
                  </a:cubicBezTo>
                  <a:cubicBezTo>
                    <a:pt x="216" y="7189"/>
                    <a:pt x="688" y="7427"/>
                    <a:pt x="1125" y="7424"/>
                  </a:cubicBezTo>
                  <a:cubicBezTo>
                    <a:pt x="1563" y="7420"/>
                    <a:pt x="1973" y="7231"/>
                    <a:pt x="2370" y="7045"/>
                  </a:cubicBezTo>
                  <a:cubicBezTo>
                    <a:pt x="2766" y="6860"/>
                    <a:pt x="3180" y="6673"/>
                    <a:pt x="3617" y="6679"/>
                  </a:cubicBezTo>
                  <a:cubicBezTo>
                    <a:pt x="4161" y="6684"/>
                    <a:pt x="4653" y="6980"/>
                    <a:pt x="5148" y="7205"/>
                  </a:cubicBezTo>
                  <a:cubicBezTo>
                    <a:pt x="5644" y="7429"/>
                    <a:pt x="6245" y="7577"/>
                    <a:pt x="6715" y="7301"/>
                  </a:cubicBezTo>
                  <a:cubicBezTo>
                    <a:pt x="7077" y="7088"/>
                    <a:pt x="7270" y="6658"/>
                    <a:pt x="7294" y="6239"/>
                  </a:cubicBezTo>
                  <a:cubicBezTo>
                    <a:pt x="7315" y="5819"/>
                    <a:pt x="7189" y="5407"/>
                    <a:pt x="7034" y="5016"/>
                  </a:cubicBezTo>
                  <a:cubicBezTo>
                    <a:pt x="6490" y="3640"/>
                    <a:pt x="5506" y="2441"/>
                    <a:pt x="4549" y="1333"/>
                  </a:cubicBezTo>
                  <a:cubicBezTo>
                    <a:pt x="3398" y="1"/>
                    <a:pt x="2090" y="1682"/>
                    <a:pt x="1626" y="2733"/>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0" name="Google Shape;850;p53"/>
            <p:cNvSpPr/>
            <p:nvPr/>
          </p:nvSpPr>
          <p:spPr>
            <a:xfrm flipH="1">
              <a:off x="2900147" y="2573869"/>
              <a:ext cx="304896" cy="180124"/>
            </a:xfrm>
            <a:custGeom>
              <a:rect b="b" l="l" r="r" t="t"/>
              <a:pathLst>
                <a:path extrusionOk="0" h="3329" w="5635">
                  <a:moveTo>
                    <a:pt x="639" y="1988"/>
                  </a:moveTo>
                  <a:cubicBezTo>
                    <a:pt x="328" y="2229"/>
                    <a:pt x="1" y="2602"/>
                    <a:pt x="151" y="2965"/>
                  </a:cubicBezTo>
                  <a:cubicBezTo>
                    <a:pt x="240" y="3180"/>
                    <a:pt x="480" y="3302"/>
                    <a:pt x="713" y="3316"/>
                  </a:cubicBezTo>
                  <a:cubicBezTo>
                    <a:pt x="945" y="3329"/>
                    <a:pt x="1172" y="3255"/>
                    <a:pt x="1391" y="3176"/>
                  </a:cubicBezTo>
                  <a:cubicBezTo>
                    <a:pt x="1969" y="2969"/>
                    <a:pt x="5634" y="1620"/>
                    <a:pt x="4604" y="875"/>
                  </a:cubicBezTo>
                  <a:cubicBezTo>
                    <a:pt x="3396" y="0"/>
                    <a:pt x="1542" y="1288"/>
                    <a:pt x="639" y="1988"/>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1" name="Google Shape;851;p53"/>
            <p:cNvSpPr/>
            <p:nvPr/>
          </p:nvSpPr>
          <p:spPr>
            <a:xfrm flipH="1">
              <a:off x="1682997" y="2632143"/>
              <a:ext cx="577002" cy="359382"/>
            </a:xfrm>
            <a:custGeom>
              <a:rect b="b" l="l" r="r" t="t"/>
              <a:pathLst>
                <a:path extrusionOk="0" h="6642" w="10664">
                  <a:moveTo>
                    <a:pt x="1424" y="2360"/>
                  </a:moveTo>
                  <a:cubicBezTo>
                    <a:pt x="719" y="2836"/>
                    <a:pt x="0" y="3539"/>
                    <a:pt x="98" y="4383"/>
                  </a:cubicBezTo>
                  <a:cubicBezTo>
                    <a:pt x="194" y="5220"/>
                    <a:pt x="1047" y="5744"/>
                    <a:pt x="1844" y="6015"/>
                  </a:cubicBezTo>
                  <a:cubicBezTo>
                    <a:pt x="3675" y="6641"/>
                    <a:pt x="5721" y="6611"/>
                    <a:pt x="7531" y="5933"/>
                  </a:cubicBezTo>
                  <a:cubicBezTo>
                    <a:pt x="8386" y="5612"/>
                    <a:pt x="9206" y="5137"/>
                    <a:pt x="9784" y="4429"/>
                  </a:cubicBezTo>
                  <a:cubicBezTo>
                    <a:pt x="10359" y="3720"/>
                    <a:pt x="10664" y="2754"/>
                    <a:pt x="10433" y="1870"/>
                  </a:cubicBezTo>
                  <a:cubicBezTo>
                    <a:pt x="9946" y="1"/>
                    <a:pt x="8063" y="224"/>
                    <a:pt x="6584" y="416"/>
                  </a:cubicBezTo>
                  <a:cubicBezTo>
                    <a:pt x="4745" y="657"/>
                    <a:pt x="2962" y="1322"/>
                    <a:pt x="1424" y="2360"/>
                  </a:cubicBezTo>
                  <a:close/>
                </a:path>
              </a:pathLst>
            </a:custGeom>
            <a:solidFill>
              <a:schemeClr val="accent6"/>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2" name="Google Shape;852;p53"/>
            <p:cNvSpPr/>
            <p:nvPr/>
          </p:nvSpPr>
          <p:spPr>
            <a:xfrm flipH="1">
              <a:off x="3226146" y="2090363"/>
              <a:ext cx="596156" cy="492541"/>
            </a:xfrm>
            <a:custGeom>
              <a:rect b="b" l="l" r="r" t="t"/>
              <a:pathLst>
                <a:path extrusionOk="0" h="9103" w="11018">
                  <a:moveTo>
                    <a:pt x="8415" y="535"/>
                  </a:moveTo>
                  <a:cubicBezTo>
                    <a:pt x="7860" y="811"/>
                    <a:pt x="7392" y="1233"/>
                    <a:pt x="6932" y="1649"/>
                  </a:cubicBezTo>
                  <a:cubicBezTo>
                    <a:pt x="5337" y="3091"/>
                    <a:pt x="3744" y="4532"/>
                    <a:pt x="2150" y="5973"/>
                  </a:cubicBezTo>
                  <a:cubicBezTo>
                    <a:pt x="1488" y="6573"/>
                    <a:pt x="817" y="7182"/>
                    <a:pt x="342" y="7938"/>
                  </a:cubicBezTo>
                  <a:cubicBezTo>
                    <a:pt x="144" y="8251"/>
                    <a:pt x="0" y="8710"/>
                    <a:pt x="277" y="8956"/>
                  </a:cubicBezTo>
                  <a:cubicBezTo>
                    <a:pt x="423" y="9087"/>
                    <a:pt x="646" y="9102"/>
                    <a:pt x="832" y="9043"/>
                  </a:cubicBezTo>
                  <a:cubicBezTo>
                    <a:pt x="1020" y="8984"/>
                    <a:pt x="1180" y="8862"/>
                    <a:pt x="1333" y="8739"/>
                  </a:cubicBezTo>
                  <a:cubicBezTo>
                    <a:pt x="2923" y="7459"/>
                    <a:pt x="4255" y="5817"/>
                    <a:pt x="6078" y="4896"/>
                  </a:cubicBezTo>
                  <a:cubicBezTo>
                    <a:pt x="6795" y="4534"/>
                    <a:pt x="7567" y="4294"/>
                    <a:pt x="8302" y="3967"/>
                  </a:cubicBezTo>
                  <a:cubicBezTo>
                    <a:pt x="9037" y="3640"/>
                    <a:pt x="9752" y="3208"/>
                    <a:pt x="10222" y="2555"/>
                  </a:cubicBezTo>
                  <a:cubicBezTo>
                    <a:pt x="10581" y="2056"/>
                    <a:pt x="11017" y="954"/>
                    <a:pt x="10445" y="446"/>
                  </a:cubicBezTo>
                  <a:cubicBezTo>
                    <a:pt x="9944" y="1"/>
                    <a:pt x="8928" y="280"/>
                    <a:pt x="8415" y="53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3" name="Google Shape;853;p53"/>
            <p:cNvSpPr/>
            <p:nvPr/>
          </p:nvSpPr>
          <p:spPr>
            <a:xfrm flipH="1">
              <a:off x="2755085" y="1476458"/>
              <a:ext cx="445088" cy="175687"/>
            </a:xfrm>
            <a:custGeom>
              <a:rect b="b" l="l" r="r" t="t"/>
              <a:pathLst>
                <a:path extrusionOk="0" h="3247" w="8226">
                  <a:moveTo>
                    <a:pt x="1073" y="927"/>
                  </a:moveTo>
                  <a:cubicBezTo>
                    <a:pt x="795" y="1047"/>
                    <a:pt x="515" y="1186"/>
                    <a:pt x="312" y="1412"/>
                  </a:cubicBezTo>
                  <a:cubicBezTo>
                    <a:pt x="110" y="1637"/>
                    <a:pt x="0" y="1970"/>
                    <a:pt x="114" y="2252"/>
                  </a:cubicBezTo>
                  <a:cubicBezTo>
                    <a:pt x="256" y="2602"/>
                    <a:pt x="668" y="2747"/>
                    <a:pt x="1037" y="2830"/>
                  </a:cubicBezTo>
                  <a:cubicBezTo>
                    <a:pt x="2877" y="3246"/>
                    <a:pt x="4828" y="3155"/>
                    <a:pt x="6623" y="2567"/>
                  </a:cubicBezTo>
                  <a:cubicBezTo>
                    <a:pt x="7001" y="2442"/>
                    <a:pt x="7381" y="2293"/>
                    <a:pt x="7688" y="2040"/>
                  </a:cubicBezTo>
                  <a:cubicBezTo>
                    <a:pt x="7995" y="1786"/>
                    <a:pt x="8226" y="1413"/>
                    <a:pt x="8223" y="1013"/>
                  </a:cubicBezTo>
                  <a:cubicBezTo>
                    <a:pt x="8217" y="411"/>
                    <a:pt x="7788" y="188"/>
                    <a:pt x="7280" y="151"/>
                  </a:cubicBezTo>
                  <a:cubicBezTo>
                    <a:pt x="6580" y="102"/>
                    <a:pt x="5900" y="0"/>
                    <a:pt x="5192" y="17"/>
                  </a:cubicBezTo>
                  <a:cubicBezTo>
                    <a:pt x="3778" y="53"/>
                    <a:pt x="2370" y="360"/>
                    <a:pt x="1073" y="927"/>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4" name="Google Shape;854;p53"/>
            <p:cNvSpPr/>
            <p:nvPr/>
          </p:nvSpPr>
          <p:spPr>
            <a:xfrm flipH="1">
              <a:off x="3476285" y="1534137"/>
              <a:ext cx="344773" cy="248191"/>
            </a:xfrm>
            <a:custGeom>
              <a:rect b="b" l="l" r="r" t="t"/>
              <a:pathLst>
                <a:path extrusionOk="0" h="4587" w="6372">
                  <a:moveTo>
                    <a:pt x="650" y="2552"/>
                  </a:moveTo>
                  <a:cubicBezTo>
                    <a:pt x="296" y="2986"/>
                    <a:pt x="1" y="3604"/>
                    <a:pt x="287" y="4087"/>
                  </a:cubicBezTo>
                  <a:cubicBezTo>
                    <a:pt x="437" y="4338"/>
                    <a:pt x="719" y="4488"/>
                    <a:pt x="1006" y="4538"/>
                  </a:cubicBezTo>
                  <a:cubicBezTo>
                    <a:pt x="1293" y="4587"/>
                    <a:pt x="1588" y="4548"/>
                    <a:pt x="1874" y="4494"/>
                  </a:cubicBezTo>
                  <a:cubicBezTo>
                    <a:pt x="3199" y="4237"/>
                    <a:pt x="4452" y="3633"/>
                    <a:pt x="5480" y="2757"/>
                  </a:cubicBezTo>
                  <a:cubicBezTo>
                    <a:pt x="5932" y="2370"/>
                    <a:pt x="6372" y="1836"/>
                    <a:pt x="6266" y="1251"/>
                  </a:cubicBezTo>
                  <a:cubicBezTo>
                    <a:pt x="6039" y="0"/>
                    <a:pt x="4342" y="463"/>
                    <a:pt x="3539" y="684"/>
                  </a:cubicBezTo>
                  <a:cubicBezTo>
                    <a:pt x="2415" y="993"/>
                    <a:pt x="1388" y="1648"/>
                    <a:pt x="650" y="2552"/>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5" name="Google Shape;855;p53"/>
            <p:cNvSpPr/>
            <p:nvPr/>
          </p:nvSpPr>
          <p:spPr>
            <a:xfrm flipH="1">
              <a:off x="1682944" y="3477845"/>
              <a:ext cx="1055746" cy="354242"/>
            </a:xfrm>
            <a:custGeom>
              <a:rect b="b" l="l" r="r" t="t"/>
              <a:pathLst>
                <a:path extrusionOk="0" h="6547" w="19512">
                  <a:moveTo>
                    <a:pt x="5343" y="1485"/>
                  </a:moveTo>
                  <a:cubicBezTo>
                    <a:pt x="3956" y="1681"/>
                    <a:pt x="2552" y="1906"/>
                    <a:pt x="1278" y="2488"/>
                  </a:cubicBezTo>
                  <a:cubicBezTo>
                    <a:pt x="657" y="2772"/>
                    <a:pt x="1" y="3262"/>
                    <a:pt x="5" y="3946"/>
                  </a:cubicBezTo>
                  <a:cubicBezTo>
                    <a:pt x="7" y="4371"/>
                    <a:pt x="284" y="4758"/>
                    <a:pt x="633" y="4999"/>
                  </a:cubicBezTo>
                  <a:cubicBezTo>
                    <a:pt x="983" y="5241"/>
                    <a:pt x="1401" y="5362"/>
                    <a:pt x="1811" y="5468"/>
                  </a:cubicBezTo>
                  <a:cubicBezTo>
                    <a:pt x="5544" y="6431"/>
                    <a:pt x="9492" y="6546"/>
                    <a:pt x="13276" y="5803"/>
                  </a:cubicBezTo>
                  <a:cubicBezTo>
                    <a:pt x="14346" y="5593"/>
                    <a:pt x="15410" y="5312"/>
                    <a:pt x="16384" y="4827"/>
                  </a:cubicBezTo>
                  <a:cubicBezTo>
                    <a:pt x="17360" y="4340"/>
                    <a:pt x="18246" y="3637"/>
                    <a:pt x="18823" y="2713"/>
                  </a:cubicBezTo>
                  <a:cubicBezTo>
                    <a:pt x="19254" y="2021"/>
                    <a:pt x="19512" y="845"/>
                    <a:pt x="18657" y="329"/>
                  </a:cubicBezTo>
                  <a:cubicBezTo>
                    <a:pt x="18114" y="0"/>
                    <a:pt x="17187" y="319"/>
                    <a:pt x="16597" y="357"/>
                  </a:cubicBezTo>
                  <a:cubicBezTo>
                    <a:pt x="14182" y="510"/>
                    <a:pt x="11772" y="706"/>
                    <a:pt x="9368" y="975"/>
                  </a:cubicBezTo>
                  <a:cubicBezTo>
                    <a:pt x="8025" y="1125"/>
                    <a:pt x="6683" y="1296"/>
                    <a:pt x="5343" y="148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6" name="Google Shape;856;p53"/>
            <p:cNvSpPr/>
            <p:nvPr/>
          </p:nvSpPr>
          <p:spPr>
            <a:xfrm flipH="1">
              <a:off x="2267683" y="3818614"/>
              <a:ext cx="409377" cy="460942"/>
            </a:xfrm>
            <a:custGeom>
              <a:rect b="b" l="l" r="r" t="t"/>
              <a:pathLst>
                <a:path extrusionOk="0" h="8519" w="7566">
                  <a:moveTo>
                    <a:pt x="3193" y="1075"/>
                  </a:moveTo>
                  <a:cubicBezTo>
                    <a:pt x="2597" y="553"/>
                    <a:pt x="1904" y="68"/>
                    <a:pt x="1112" y="25"/>
                  </a:cubicBezTo>
                  <a:cubicBezTo>
                    <a:pt x="689" y="0"/>
                    <a:pt x="193" y="172"/>
                    <a:pt x="77" y="580"/>
                  </a:cubicBezTo>
                  <a:cubicBezTo>
                    <a:pt x="1" y="852"/>
                    <a:pt x="122" y="1145"/>
                    <a:pt x="311" y="1353"/>
                  </a:cubicBezTo>
                  <a:cubicBezTo>
                    <a:pt x="500" y="1561"/>
                    <a:pt x="748" y="1703"/>
                    <a:pt x="984" y="1856"/>
                  </a:cubicBezTo>
                  <a:cubicBezTo>
                    <a:pt x="2378" y="2758"/>
                    <a:pt x="3453" y="4144"/>
                    <a:pt x="3980" y="5718"/>
                  </a:cubicBezTo>
                  <a:cubicBezTo>
                    <a:pt x="4132" y="6172"/>
                    <a:pt x="4241" y="6641"/>
                    <a:pt x="4425" y="7083"/>
                  </a:cubicBezTo>
                  <a:cubicBezTo>
                    <a:pt x="4611" y="7524"/>
                    <a:pt x="4884" y="7945"/>
                    <a:pt x="5287" y="8203"/>
                  </a:cubicBezTo>
                  <a:cubicBezTo>
                    <a:pt x="5691" y="8459"/>
                    <a:pt x="6244" y="8518"/>
                    <a:pt x="6644" y="8256"/>
                  </a:cubicBezTo>
                  <a:cubicBezTo>
                    <a:pt x="7565" y="7655"/>
                    <a:pt x="6769" y="6135"/>
                    <a:pt x="6438" y="5422"/>
                  </a:cubicBezTo>
                  <a:cubicBezTo>
                    <a:pt x="5949" y="4363"/>
                    <a:pt x="5315" y="3369"/>
                    <a:pt x="4564" y="2475"/>
                  </a:cubicBezTo>
                  <a:cubicBezTo>
                    <a:pt x="4143" y="1973"/>
                    <a:pt x="3686" y="1504"/>
                    <a:pt x="3193" y="107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7" name="Google Shape;857;p53"/>
            <p:cNvSpPr/>
            <p:nvPr/>
          </p:nvSpPr>
          <p:spPr>
            <a:xfrm flipH="1">
              <a:off x="1861227" y="3545804"/>
              <a:ext cx="628459" cy="207502"/>
            </a:xfrm>
            <a:custGeom>
              <a:rect b="b" l="l" r="r" t="t"/>
              <a:pathLst>
                <a:path extrusionOk="0" h="3835" w="11615">
                  <a:moveTo>
                    <a:pt x="1600" y="1015"/>
                  </a:moveTo>
                  <a:cubicBezTo>
                    <a:pt x="1313" y="1075"/>
                    <a:pt x="1025" y="1139"/>
                    <a:pt x="763" y="1273"/>
                  </a:cubicBezTo>
                  <a:cubicBezTo>
                    <a:pt x="503" y="1407"/>
                    <a:pt x="269" y="1618"/>
                    <a:pt x="171" y="1895"/>
                  </a:cubicBezTo>
                  <a:cubicBezTo>
                    <a:pt x="1" y="2373"/>
                    <a:pt x="287" y="2918"/>
                    <a:pt x="707" y="3200"/>
                  </a:cubicBezTo>
                  <a:cubicBezTo>
                    <a:pt x="1127" y="3482"/>
                    <a:pt x="1651" y="3559"/>
                    <a:pt x="2154" y="3604"/>
                  </a:cubicBezTo>
                  <a:cubicBezTo>
                    <a:pt x="4692" y="3835"/>
                    <a:pt x="7280" y="3486"/>
                    <a:pt x="9665" y="2591"/>
                  </a:cubicBezTo>
                  <a:cubicBezTo>
                    <a:pt x="10240" y="2375"/>
                    <a:pt x="10825" y="2113"/>
                    <a:pt x="11228" y="1648"/>
                  </a:cubicBezTo>
                  <a:cubicBezTo>
                    <a:pt x="11452" y="1389"/>
                    <a:pt x="11614" y="1059"/>
                    <a:pt x="11589" y="717"/>
                  </a:cubicBezTo>
                  <a:cubicBezTo>
                    <a:pt x="11538" y="16"/>
                    <a:pt x="10935" y="0"/>
                    <a:pt x="10393" y="11"/>
                  </a:cubicBezTo>
                  <a:cubicBezTo>
                    <a:pt x="9671" y="24"/>
                    <a:pt x="8951" y="55"/>
                    <a:pt x="8230" y="101"/>
                  </a:cubicBezTo>
                  <a:cubicBezTo>
                    <a:pt x="6807" y="195"/>
                    <a:pt x="5388" y="352"/>
                    <a:pt x="3979" y="576"/>
                  </a:cubicBezTo>
                  <a:cubicBezTo>
                    <a:pt x="3186" y="701"/>
                    <a:pt x="2391" y="848"/>
                    <a:pt x="1600" y="101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8" name="Google Shape;858;p53"/>
            <p:cNvSpPr/>
            <p:nvPr/>
          </p:nvSpPr>
          <p:spPr>
            <a:xfrm flipH="1">
              <a:off x="1513585" y="1870686"/>
              <a:ext cx="217025" cy="226602"/>
            </a:xfrm>
            <a:custGeom>
              <a:rect b="b" l="l" r="r" t="t"/>
              <a:pathLst>
                <a:path extrusionOk="0" h="4188" w="4011">
                  <a:moveTo>
                    <a:pt x="139" y="2865"/>
                  </a:moveTo>
                  <a:cubicBezTo>
                    <a:pt x="64" y="3105"/>
                    <a:pt x="1" y="3357"/>
                    <a:pt x="43" y="3605"/>
                  </a:cubicBezTo>
                  <a:cubicBezTo>
                    <a:pt x="84" y="3854"/>
                    <a:pt x="257" y="4096"/>
                    <a:pt x="503" y="4145"/>
                  </a:cubicBezTo>
                  <a:cubicBezTo>
                    <a:pt x="712" y="4187"/>
                    <a:pt x="923" y="4087"/>
                    <a:pt x="1097" y="3965"/>
                  </a:cubicBezTo>
                  <a:cubicBezTo>
                    <a:pt x="1272" y="3844"/>
                    <a:pt x="1433" y="3696"/>
                    <a:pt x="1631" y="3618"/>
                  </a:cubicBezTo>
                  <a:cubicBezTo>
                    <a:pt x="1972" y="3486"/>
                    <a:pt x="2352" y="3587"/>
                    <a:pt x="2712" y="3647"/>
                  </a:cubicBezTo>
                  <a:cubicBezTo>
                    <a:pt x="3074" y="3707"/>
                    <a:pt x="3496" y="3704"/>
                    <a:pt x="3740" y="3430"/>
                  </a:cubicBezTo>
                  <a:cubicBezTo>
                    <a:pt x="4010" y="3125"/>
                    <a:pt x="3918" y="2652"/>
                    <a:pt x="3791" y="2263"/>
                  </a:cubicBezTo>
                  <a:cubicBezTo>
                    <a:pt x="3627" y="1754"/>
                    <a:pt x="3429" y="1247"/>
                    <a:pt x="3102" y="824"/>
                  </a:cubicBezTo>
                  <a:cubicBezTo>
                    <a:pt x="2865" y="518"/>
                    <a:pt x="2550" y="256"/>
                    <a:pt x="2185" y="117"/>
                  </a:cubicBezTo>
                  <a:cubicBezTo>
                    <a:pt x="1996" y="45"/>
                    <a:pt x="1884" y="1"/>
                    <a:pt x="1728" y="106"/>
                  </a:cubicBezTo>
                  <a:cubicBezTo>
                    <a:pt x="1571" y="212"/>
                    <a:pt x="1437" y="441"/>
                    <a:pt x="1321" y="589"/>
                  </a:cubicBezTo>
                  <a:cubicBezTo>
                    <a:pt x="798" y="1273"/>
                    <a:pt x="394" y="2046"/>
                    <a:pt x="139" y="2865"/>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sp>
          <p:nvSpPr>
            <p:cNvPr id="859" name="Google Shape;859;p53"/>
            <p:cNvSpPr/>
            <p:nvPr/>
          </p:nvSpPr>
          <p:spPr>
            <a:xfrm flipH="1">
              <a:off x="1567368" y="1951144"/>
              <a:ext cx="97935" cy="54162"/>
            </a:xfrm>
            <a:custGeom>
              <a:rect b="b" l="l" r="r" t="t"/>
              <a:pathLst>
                <a:path extrusionOk="0" h="1001" w="1810">
                  <a:moveTo>
                    <a:pt x="671" y="999"/>
                  </a:moveTo>
                  <a:cubicBezTo>
                    <a:pt x="1326" y="993"/>
                    <a:pt x="1809" y="245"/>
                    <a:pt x="995" y="54"/>
                  </a:cubicBezTo>
                  <a:cubicBezTo>
                    <a:pt x="772" y="0"/>
                    <a:pt x="484" y="9"/>
                    <a:pt x="313" y="185"/>
                  </a:cubicBezTo>
                  <a:cubicBezTo>
                    <a:pt x="0" y="506"/>
                    <a:pt x="239" y="1001"/>
                    <a:pt x="671" y="999"/>
                  </a:cubicBezTo>
                  <a:close/>
                </a:path>
              </a:pathLst>
            </a:custGeom>
            <a:solidFill>
              <a:srgbClr val="00FFFD">
                <a:alpha val="19620"/>
              </a:srgbClr>
            </a:solidFill>
            <a:ln>
              <a:noFill/>
            </a:ln>
          </p:spPr>
          <p:txBody>
            <a:bodyPr anchorCtr="0" anchor="ctr" bIns="60450" lIns="60450" spcFirstLastPara="1" rIns="60450" wrap="square" tIns="60450">
              <a:noAutofit/>
            </a:bodyPr>
            <a:lstStyle/>
            <a:p>
              <a:pPr indent="0" lvl="0" marL="0" rtl="0" algn="l">
                <a:spcBef>
                  <a:spcPts val="0"/>
                </a:spcBef>
                <a:spcAft>
                  <a:spcPts val="0"/>
                </a:spcAft>
                <a:buNone/>
              </a:pPr>
              <a:r>
                <a:t/>
              </a:r>
              <a:endParaRPr/>
            </a:p>
          </p:txBody>
        </p:sp>
      </p:grpSp>
      <p:sp>
        <p:nvSpPr>
          <p:cNvPr id="860" name="Google Shape;860;p53"/>
          <p:cNvSpPr/>
          <p:nvPr/>
        </p:nvSpPr>
        <p:spPr>
          <a:xfrm>
            <a:off x="7623000" y="834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3"/>
          <p:cNvSpPr/>
          <p:nvPr/>
        </p:nvSpPr>
        <p:spPr>
          <a:xfrm>
            <a:off x="8723275" y="5982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53"/>
          <p:cNvSpPr/>
          <p:nvPr/>
        </p:nvSpPr>
        <p:spPr>
          <a:xfrm>
            <a:off x="8723275" y="20822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3" name="Google Shape;863;p53"/>
          <p:cNvCxnSpPr>
            <a:stCxn id="860" idx="5"/>
            <a:endCxn id="862" idx="1"/>
          </p:cNvCxnSpPr>
          <p:nvPr/>
        </p:nvCxnSpPr>
        <p:spPr>
          <a:xfrm>
            <a:off x="7726707" y="937757"/>
            <a:ext cx="1006500" cy="1154400"/>
          </a:xfrm>
          <a:prstGeom prst="straightConnector1">
            <a:avLst/>
          </a:prstGeom>
          <a:noFill/>
          <a:ln cap="flat" cmpd="sng" w="9525">
            <a:solidFill>
              <a:schemeClr val="accent1"/>
            </a:solidFill>
            <a:prstDash val="solid"/>
            <a:round/>
            <a:headEnd len="med" w="med" type="none"/>
            <a:tailEnd len="med" w="med" type="none"/>
          </a:ln>
        </p:spPr>
      </p:cxnSp>
      <p:sp>
        <p:nvSpPr>
          <p:cNvPr id="864" name="Google Shape;864;p53"/>
          <p:cNvSpPr/>
          <p:nvPr/>
        </p:nvSpPr>
        <p:spPr>
          <a:xfrm>
            <a:off x="4946850" y="39696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53"/>
          <p:cNvSpPr/>
          <p:nvPr/>
        </p:nvSpPr>
        <p:spPr>
          <a:xfrm>
            <a:off x="4129950" y="426978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66" name="Google Shape;866;p53"/>
          <p:cNvCxnSpPr>
            <a:stCxn id="860" idx="6"/>
            <a:endCxn id="861" idx="2"/>
          </p:cNvCxnSpPr>
          <p:nvPr/>
        </p:nvCxnSpPr>
        <p:spPr>
          <a:xfrm flipH="1" rot="10800000">
            <a:off x="7744500" y="631700"/>
            <a:ext cx="978900" cy="263100"/>
          </a:xfrm>
          <a:prstGeom prst="straightConnector1">
            <a:avLst/>
          </a:prstGeom>
          <a:noFill/>
          <a:ln cap="flat" cmpd="sng" w="9525">
            <a:solidFill>
              <a:schemeClr val="accent1"/>
            </a:solidFill>
            <a:prstDash val="solid"/>
            <a:round/>
            <a:headEnd len="med" w="med" type="none"/>
            <a:tailEnd len="med" w="med" type="none"/>
          </a:ln>
        </p:spPr>
      </p:cxnSp>
      <p:sp>
        <p:nvSpPr>
          <p:cNvPr id="867" name="Google Shape;867;p53"/>
          <p:cNvSpPr/>
          <p:nvPr/>
        </p:nvSpPr>
        <p:spPr>
          <a:xfrm>
            <a:off x="5888725" y="729638"/>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53"/>
          <p:cNvSpPr/>
          <p:nvPr/>
        </p:nvSpPr>
        <p:spPr>
          <a:xfrm>
            <a:off x="4635075" y="57105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53"/>
          <p:cNvSpPr txBox="1"/>
          <p:nvPr/>
        </p:nvSpPr>
        <p:spPr>
          <a:xfrm>
            <a:off x="425450" y="1277300"/>
            <a:ext cx="6385500" cy="359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600">
                <a:solidFill>
                  <a:schemeClr val="dk1"/>
                </a:solidFill>
              </a:rPr>
              <a:t>Instructor:</a:t>
            </a:r>
            <a:r>
              <a:rPr lang="en" sz="1600">
                <a:solidFill>
                  <a:schemeClr val="dk1"/>
                </a:solidFill>
              </a:rPr>
              <a:t> </a:t>
            </a:r>
            <a:r>
              <a:rPr lang="en" sz="1600">
                <a:solidFill>
                  <a:schemeClr val="dk1"/>
                </a:solidFill>
              </a:rPr>
              <a:t>Karl Jaehnig, for their guidance and support throughout this project</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Mentor:</a:t>
            </a:r>
            <a:r>
              <a:rPr lang="en" sz="1600">
                <a:solidFill>
                  <a:schemeClr val="dk1"/>
                </a:solidFill>
              </a:rPr>
              <a:t> Mohammed Amine Gharsallaoui, for his expertise and invaluable feedback on model development</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Facilitator:</a:t>
            </a:r>
            <a:r>
              <a:rPr lang="en" sz="1600">
                <a:solidFill>
                  <a:schemeClr val="dk1"/>
                </a:solidFill>
              </a:rPr>
              <a:t> Padina Nasiri Toussi, for her dedication and assistance during the AI4ALL Ignite Program</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AI4ALL Program</a:t>
            </a:r>
            <a:r>
              <a:rPr lang="en" sz="1600">
                <a:solidFill>
                  <a:schemeClr val="dk1"/>
                </a:solidFill>
              </a:rPr>
              <a:t> For providing this incredible learning opportunity</a:t>
            </a:r>
            <a:endParaRPr sz="1600">
              <a:solidFill>
                <a:schemeClr val="dk1"/>
              </a:solidFill>
            </a:endParaRPr>
          </a:p>
          <a:p>
            <a:pPr indent="0" lvl="0" marL="0" rtl="0" algn="l">
              <a:lnSpc>
                <a:spcPct val="115000"/>
              </a:lnSpc>
              <a:spcBef>
                <a:spcPts val="1200"/>
              </a:spcBef>
              <a:spcAft>
                <a:spcPts val="0"/>
              </a:spcAft>
              <a:buNone/>
            </a:pPr>
            <a:r>
              <a:rPr b="1" lang="en" sz="1600">
                <a:solidFill>
                  <a:schemeClr val="dk1"/>
                </a:solidFill>
              </a:rPr>
              <a:t>Our Team</a:t>
            </a:r>
            <a:r>
              <a:rPr lang="en" sz="1600">
                <a:solidFill>
                  <a:schemeClr val="dk1"/>
                </a:solidFill>
              </a:rPr>
              <a:t> For collaboration, hard work, and dedication to this project</a:t>
            </a:r>
            <a:endParaRPr sz="1600">
              <a:solidFill>
                <a:schemeClr val="dk1"/>
              </a:solidFill>
            </a:endParaRPr>
          </a:p>
          <a:p>
            <a:pPr indent="0" lvl="0" marL="0" rtl="0" algn="l">
              <a:spcBef>
                <a:spcPts val="1200"/>
              </a:spcBef>
              <a:spcAft>
                <a:spcPts val="0"/>
              </a:spcAft>
              <a:buNone/>
            </a:pPr>
            <a:r>
              <a:t/>
            </a:r>
            <a:endParaRPr sz="1600">
              <a:solidFill>
                <a:schemeClr val="dk1"/>
              </a:solidFill>
              <a:latin typeface="Vidaloka"/>
              <a:ea typeface="Vidaloka"/>
              <a:cs typeface="Vidaloka"/>
              <a:sym typeface="Vidalok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54"/>
          <p:cNvSpPr txBox="1"/>
          <p:nvPr>
            <p:ph type="title"/>
          </p:nvPr>
        </p:nvSpPr>
        <p:spPr>
          <a:xfrm>
            <a:off x="720000" y="54000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000"/>
              <a:t>Resources</a:t>
            </a:r>
            <a:endParaRPr sz="4000"/>
          </a:p>
        </p:txBody>
      </p:sp>
      <p:sp>
        <p:nvSpPr>
          <p:cNvPr id="875" name="Google Shape;875;p54"/>
          <p:cNvSpPr txBox="1"/>
          <p:nvPr>
            <p:ph idx="1" type="body"/>
          </p:nvPr>
        </p:nvSpPr>
        <p:spPr>
          <a:xfrm>
            <a:off x="720000" y="1370108"/>
            <a:ext cx="7704000" cy="33663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accent6"/>
              </a:buClr>
              <a:buSzPts val="1000"/>
              <a:buChar char="●"/>
            </a:pPr>
            <a:r>
              <a:rPr lang="en" sz="1000"/>
              <a:t>Xi Yang, Ding Xia, et al., “Intra: 3d intracranial aneurysm dataset for deep learning,” inProceedings of the IEEE/CVF Conference on Computer Vision and Pattern Recognition (CVPR), June 2020.</a:t>
            </a:r>
            <a:endParaRPr sz="1000"/>
          </a:p>
          <a:p>
            <a:pPr indent="-292100" lvl="0" marL="457200" rtl="0" algn="l">
              <a:spcBef>
                <a:spcPts val="0"/>
              </a:spcBef>
              <a:spcAft>
                <a:spcPts val="0"/>
              </a:spcAft>
              <a:buClr>
                <a:schemeClr val="accent6"/>
              </a:buClr>
              <a:buSzPts val="1000"/>
              <a:buChar char="●"/>
            </a:pPr>
            <a:r>
              <a:rPr lang="en" sz="1000"/>
              <a:t>Jiancheng Yang, Rui Shi, Donglai Wei, Zequan Liu, Lin Zhao, Bilian Ke, Hanspeter Pfister, Bingbing Ni. Yang, Jiancheng, et al. "MedMNIST v2-A large-scale lightweight benchmark for 2D and 3D biomedical image classification." Scientific Data, 2023.</a:t>
            </a:r>
            <a:endParaRPr sz="1000"/>
          </a:p>
          <a:p>
            <a:pPr indent="-292100" lvl="0" marL="457200" rtl="0" algn="l">
              <a:spcBef>
                <a:spcPts val="0"/>
              </a:spcBef>
              <a:spcAft>
                <a:spcPts val="0"/>
              </a:spcAft>
              <a:buClr>
                <a:schemeClr val="accent6"/>
              </a:buClr>
              <a:buSzPts val="1000"/>
              <a:buChar char="●"/>
            </a:pPr>
            <a:r>
              <a:rPr lang="en" sz="1000"/>
              <a:t>Yang, J., Shi, R., Wei, D., Liu, Z., Zhao, L., Ke, B., … Ni, B. (2023). MedMNIST v2 - a large-scale lightweight benchmark for 2D and 3D Biomedical Image Classification. Scientific Data, 10(1). doi:10.1038/s41597-022-01721-8 </a:t>
            </a:r>
            <a:endParaRPr sz="1000"/>
          </a:p>
          <a:p>
            <a:pPr indent="-292100" lvl="0" marL="457200" rtl="0" algn="l">
              <a:spcBef>
                <a:spcPts val="0"/>
              </a:spcBef>
              <a:spcAft>
                <a:spcPts val="0"/>
              </a:spcAft>
              <a:buClr>
                <a:schemeClr val="accent6"/>
              </a:buClr>
              <a:buSzPts val="1000"/>
              <a:buChar char="●"/>
            </a:pPr>
            <a:r>
              <a:rPr lang="en" sz="1000"/>
              <a:t>Deng, Zhiwei, et al. “Shape-Aware 3D Small Vessel Segmentation with Local Contrast Guided Attention.” Lecture Notes in Computer Science, 1 Jan. 2023, pp. 354–363, pmc.ncbi.nlm.nih.gov/articles/PMC10948105/, https://doi.org/10.1007/978-3-031-43901-8_34. Accessed 15 Oct. 2025.</a:t>
            </a:r>
            <a:endParaRPr sz="1000"/>
          </a:p>
          <a:p>
            <a:pPr indent="-292100" lvl="0" marL="457200" rtl="0" algn="l">
              <a:spcBef>
                <a:spcPts val="0"/>
              </a:spcBef>
              <a:spcAft>
                <a:spcPts val="0"/>
              </a:spcAft>
              <a:buClr>
                <a:schemeClr val="accent6"/>
              </a:buClr>
              <a:buSzPts val="1000"/>
              <a:buChar char="●"/>
            </a:pPr>
            <a:r>
              <a:rPr lang="en" sz="1000"/>
              <a:t>Hanna, T. N., et al. (2018). Effect of shift, schedule, and volume on interpretive accuracy: A retrospective analysis of 2.9 million radiologic examinations. Radiology, 287(1), 205-212. https://pubs.rsna.org/doi/abs/10.1148/radiol.2017170555</a:t>
            </a:r>
            <a:endParaRPr sz="1000"/>
          </a:p>
          <a:p>
            <a:pPr indent="-292100" lvl="0" marL="457200" rtl="0" algn="l">
              <a:spcBef>
                <a:spcPts val="0"/>
              </a:spcBef>
              <a:spcAft>
                <a:spcPts val="0"/>
              </a:spcAft>
              <a:buClr>
                <a:schemeClr val="accent6"/>
              </a:buClr>
              <a:buSzPts val="1000"/>
              <a:buChar char="●"/>
            </a:pPr>
            <a:r>
              <a:rPr lang="en" sz="1000"/>
              <a:t>Ivanovic, V., et al. (2024). Shift volume directly impacts neuroradiology error rate at a large academic medical center: The case for volume limits. American Journal of Neuroradiology, 45(4), 374-378. https://pmc.ncbi.nlm.nih.gov/articles/PMC11288559/</a:t>
            </a:r>
            <a:endParaRPr sz="1000"/>
          </a:p>
          <a:p>
            <a:pPr indent="-292100" lvl="0" marL="457200" rtl="0" algn="l">
              <a:spcBef>
                <a:spcPts val="0"/>
              </a:spcBef>
              <a:spcAft>
                <a:spcPts val="0"/>
              </a:spcAft>
              <a:buClr>
                <a:schemeClr val="accent6"/>
              </a:buClr>
              <a:buSzPts val="1000"/>
              <a:buChar char="●"/>
            </a:pPr>
            <a:r>
              <a:rPr lang="en" sz="1000"/>
              <a:t>Cooley, C. Z., et al. (2021). A portable scanner for magnetic resonance imaging of the brain. Nature Biomedical Engineering, 5, 229-239. https://www.nature.com/articles/s41551-020-00641-5</a:t>
            </a:r>
            <a:endParaRPr sz="1000"/>
          </a:p>
          <a:p>
            <a:pPr indent="-292100" lvl="0" marL="457200" rtl="0" algn="l">
              <a:spcBef>
                <a:spcPts val="0"/>
              </a:spcBef>
              <a:spcAft>
                <a:spcPts val="0"/>
              </a:spcAft>
              <a:buClr>
                <a:schemeClr val="accent6"/>
              </a:buClr>
              <a:buSzPts val="1000"/>
              <a:buChar char="●"/>
            </a:pPr>
            <a:r>
              <a:rPr lang="en" sz="1000"/>
              <a:t>Ouma, J., et al. (2012). Imaging in sub-Saharan Africa: Current challenges and opportunities. Journal of Clinical Imaging Science, 2, 44. https://pmc.ncbi.nlm.nih.gov/articles/PMC3424787/</a:t>
            </a:r>
            <a:endParaRPr sz="1000"/>
          </a:p>
          <a:p>
            <a:pPr indent="0" lvl="0" marL="0" rtl="0" algn="l">
              <a:spcBef>
                <a:spcPts val="0"/>
              </a:spcBef>
              <a:spcAft>
                <a:spcPts val="0"/>
              </a:spcAft>
              <a:buNone/>
            </a:pPr>
            <a:r>
              <a:t/>
            </a:r>
            <a:endParaRPr sz="1000"/>
          </a:p>
        </p:txBody>
      </p:sp>
      <p:sp>
        <p:nvSpPr>
          <p:cNvPr id="876" name="Google Shape;876;p54"/>
          <p:cNvSpPr/>
          <p:nvPr/>
        </p:nvSpPr>
        <p:spPr>
          <a:xfrm flipH="1">
            <a:off x="5552625" y="4137775"/>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4"/>
          <p:cNvSpPr/>
          <p:nvPr/>
        </p:nvSpPr>
        <p:spPr>
          <a:xfrm flipH="1" rot="1358497">
            <a:off x="7854881" y="133924"/>
            <a:ext cx="121569" cy="121569"/>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4"/>
          <p:cNvSpPr/>
          <p:nvPr/>
        </p:nvSpPr>
        <p:spPr>
          <a:xfrm flipH="1">
            <a:off x="7330300" y="2690600"/>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4"/>
          <p:cNvSpPr/>
          <p:nvPr/>
        </p:nvSpPr>
        <p:spPr>
          <a:xfrm flipH="1">
            <a:off x="7443750" y="123707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0" name="Google Shape;880;p54"/>
          <p:cNvGrpSpPr/>
          <p:nvPr/>
        </p:nvGrpSpPr>
        <p:grpSpPr>
          <a:xfrm flipH="1" rot="-3969266">
            <a:off x="7089139" y="3388642"/>
            <a:ext cx="2200923" cy="1261226"/>
            <a:chOff x="4262550" y="385984"/>
            <a:chExt cx="2200775" cy="1261141"/>
          </a:xfrm>
        </p:grpSpPr>
        <p:sp>
          <p:nvSpPr>
            <p:cNvPr id="881" name="Google Shape;881;p54"/>
            <p:cNvSpPr/>
            <p:nvPr/>
          </p:nvSpPr>
          <p:spPr>
            <a:xfrm>
              <a:off x="5631775" y="15334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54"/>
            <p:cNvSpPr/>
            <p:nvPr/>
          </p:nvSpPr>
          <p:spPr>
            <a:xfrm>
              <a:off x="6396125" y="419225"/>
              <a:ext cx="67200" cy="67200"/>
            </a:xfrm>
            <a:prstGeom prst="ellipse">
              <a:avLst/>
            </a:prstGeom>
            <a:solidFill>
              <a:srgbClr val="00FFFD">
                <a:alpha val="19620"/>
              </a:srgbClr>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54"/>
            <p:cNvSpPr/>
            <p:nvPr/>
          </p:nvSpPr>
          <p:spPr>
            <a:xfrm>
              <a:off x="4262550" y="1050500"/>
              <a:ext cx="121500" cy="121500"/>
            </a:xfrm>
            <a:prstGeom prst="ellipse">
              <a:avLst/>
            </a:prstGeom>
            <a:solidFill>
              <a:schemeClr val="dk1"/>
            </a:solidFill>
            <a:ln>
              <a:noFill/>
            </a:ln>
            <a:effectLst>
              <a:outerShdw blurRad="114300" rotWithShape="0" algn="bl">
                <a:schemeClr val="accent3"/>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4" name="Google Shape;884;p54"/>
            <p:cNvCxnSpPr>
              <a:stCxn id="881" idx="2"/>
              <a:endCxn id="883" idx="6"/>
            </p:cNvCxnSpPr>
            <p:nvPr/>
          </p:nvCxnSpPr>
          <p:spPr>
            <a:xfrm rot="6830575">
              <a:off x="4964138" y="676462"/>
              <a:ext cx="87574" cy="1325426"/>
            </a:xfrm>
            <a:prstGeom prst="straightConnector1">
              <a:avLst/>
            </a:prstGeom>
            <a:noFill/>
            <a:ln cap="flat" cmpd="sng" w="9525">
              <a:solidFill>
                <a:schemeClr val="accent1"/>
              </a:solidFill>
              <a:prstDash val="solid"/>
              <a:round/>
              <a:headEnd len="med" w="med" type="none"/>
              <a:tailEnd len="med" w="med" type="none"/>
            </a:ln>
          </p:spPr>
        </p:cxnSp>
        <p:cxnSp>
          <p:nvCxnSpPr>
            <p:cNvPr id="885" name="Google Shape;885;p54"/>
            <p:cNvCxnSpPr>
              <a:stCxn id="882" idx="3"/>
              <a:endCxn id="881" idx="7"/>
            </p:cNvCxnSpPr>
            <p:nvPr/>
          </p:nvCxnSpPr>
          <p:spPr>
            <a:xfrm rot="6830550">
              <a:off x="5414922" y="897828"/>
              <a:ext cx="1265388" cy="224311"/>
            </a:xfrm>
            <a:prstGeom prst="straightConnector1">
              <a:avLst/>
            </a:prstGeom>
            <a:noFill/>
            <a:ln cap="flat" cmpd="sng" w="9525">
              <a:solidFill>
                <a:schemeClr val="accent1"/>
              </a:solidFill>
              <a:prstDash val="solid"/>
              <a:round/>
              <a:headEnd len="med" w="med" type="none"/>
              <a:tailEnd len="med" w="med" type="none"/>
            </a:ln>
          </p:spPr>
        </p:cxnSp>
      </p:grpSp>
      <p:sp>
        <p:nvSpPr>
          <p:cNvPr id="886" name="Google Shape;886;p54"/>
          <p:cNvSpPr/>
          <p:nvPr/>
        </p:nvSpPr>
        <p:spPr>
          <a:xfrm flipH="1">
            <a:off x="8906400" y="2328325"/>
            <a:ext cx="67200" cy="67200"/>
          </a:xfrm>
          <a:prstGeom prst="ellipse">
            <a:avLst/>
          </a:prstGeom>
          <a:solidFill>
            <a:srgbClr val="FF003A">
              <a:alpha val="48100"/>
            </a:srgbClr>
          </a:solidFill>
          <a:ln>
            <a:noFill/>
          </a:ln>
          <a:effectLst>
            <a:outerShdw blurRad="114300" rotWithShape="0" algn="bl">
              <a:schemeClr val="accent6"/>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7" name="Google Shape;887;p54"/>
          <p:cNvCxnSpPr/>
          <p:nvPr/>
        </p:nvCxnSpPr>
        <p:spPr>
          <a:xfrm>
            <a:off x="7941600" y="213025"/>
            <a:ext cx="964800" cy="211530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ain Tumor Disease by Slidesgo">
  <a:themeElements>
    <a:clrScheme name="Simple Light">
      <a:dk1>
        <a:srgbClr val="FFFFFF"/>
      </a:dk1>
      <a:lt1>
        <a:srgbClr val="170C25"/>
      </a:lt1>
      <a:dk2>
        <a:srgbClr val="1F0065"/>
      </a:dk2>
      <a:lt2>
        <a:srgbClr val="0201BD"/>
      </a:lt2>
      <a:accent1>
        <a:srgbClr val="007FCA"/>
      </a:accent1>
      <a:accent2>
        <a:srgbClr val="00DBF6"/>
      </a:accent2>
      <a:accent3>
        <a:srgbClr val="00FFFD"/>
      </a:accent3>
      <a:accent4>
        <a:srgbClr val="51E0FF"/>
      </a:accent4>
      <a:accent5>
        <a:srgbClr val="DE002B"/>
      </a:accent5>
      <a:accent6>
        <a:srgbClr val="FF2758"/>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